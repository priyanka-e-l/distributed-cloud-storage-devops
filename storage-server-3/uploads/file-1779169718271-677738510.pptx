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85" r:id="rId11"/>
    <p:sldId id="286" r:id="rId12"/>
    <p:sldId id="287" r:id="rId13"/>
    <p:sldId id="284" r:id="rId14"/>
    <p:sldId id="265" r:id="rId15"/>
    <p:sldId id="266" r:id="rId16"/>
    <p:sldId id="268" r:id="rId17"/>
    <p:sldId id="269" r:id="rId18"/>
    <p:sldId id="270" r:id="rId19"/>
    <p:sldId id="271" r:id="rId20"/>
    <p:sldId id="272" r:id="rId21"/>
    <p:sldId id="273" r:id="rId22"/>
    <p:sldId id="274" r:id="rId23"/>
    <p:sldId id="275" r:id="rId24"/>
    <p:sldId id="288" r:id="rId25"/>
    <p:sldId id="279" r:id="rId26"/>
    <p:sldId id="289" r:id="rId27"/>
    <p:sldId id="290" r:id="rId28"/>
    <p:sldId id="291" r:id="rId29"/>
    <p:sldId id="292" r:id="rId30"/>
    <p:sldId id="293" r:id="rId31"/>
    <p:sldId id="294" r:id="rId32"/>
    <p:sldId id="280" r:id="rId33"/>
    <p:sldId id="282" r:id="rId34"/>
    <p:sldId id="295" r:id="rId35"/>
    <p:sldId id="283"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21" d="100"/>
          <a:sy n="121" d="100"/>
        </p:scale>
        <p:origin x="1904" y="1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Holder 5"/>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lnSpc>
                <a:spcPts val="1425"/>
              </a:lnSpc>
            </a:pPr>
            <a:r>
              <a:rPr dirty="0"/>
              <a:t>Dan</a:t>
            </a:r>
            <a:r>
              <a:rPr spc="-25" dirty="0"/>
              <a:t> </a:t>
            </a:r>
            <a:r>
              <a:rPr dirty="0"/>
              <a:t>C.</a:t>
            </a:r>
            <a:r>
              <a:rPr spc="5" dirty="0"/>
              <a:t> </a:t>
            </a:r>
            <a:r>
              <a:rPr spc="-10" dirty="0"/>
              <a:t>Marinescu</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Black"/>
                <a:cs typeface="Arial Black"/>
              </a:defRPr>
            </a:lvl1pPr>
          </a:lstStyle>
          <a:p>
            <a:pPr marL="12700">
              <a:lnSpc>
                <a:spcPct val="100000"/>
              </a:lnSpc>
              <a:spcBef>
                <a:spcPts val="22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Holder 5"/>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lnSpc>
                <a:spcPts val="1425"/>
              </a:lnSpc>
            </a:pPr>
            <a:r>
              <a:rPr dirty="0"/>
              <a:t>Dan</a:t>
            </a:r>
            <a:r>
              <a:rPr spc="-25" dirty="0"/>
              <a:t> </a:t>
            </a:r>
            <a:r>
              <a:rPr dirty="0"/>
              <a:t>C.</a:t>
            </a:r>
            <a:r>
              <a:rPr spc="5" dirty="0"/>
              <a:t> </a:t>
            </a:r>
            <a:r>
              <a:rPr spc="-10" dirty="0"/>
              <a:t>Marinescu</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Black"/>
                <a:cs typeface="Arial Black"/>
              </a:defRPr>
            </a:lvl1pPr>
          </a:lstStyle>
          <a:p>
            <a:pPr marL="12700">
              <a:lnSpc>
                <a:spcPct val="100000"/>
              </a:lnSpc>
              <a:spcBef>
                <a:spcPts val="22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6" name="Holder 6"/>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lnSpc>
                <a:spcPts val="1425"/>
              </a:lnSpc>
            </a:pPr>
            <a:r>
              <a:rPr dirty="0"/>
              <a:t>Dan</a:t>
            </a:r>
            <a:r>
              <a:rPr spc="-25" dirty="0"/>
              <a:t> </a:t>
            </a:r>
            <a:r>
              <a:rPr dirty="0"/>
              <a:t>C.</a:t>
            </a:r>
            <a:r>
              <a:rPr spc="5" dirty="0"/>
              <a:t> </a:t>
            </a:r>
            <a:r>
              <a:rPr spc="-10" dirty="0"/>
              <a:t>Marinescu</a:t>
            </a:r>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Black"/>
                <a:cs typeface="Arial Black"/>
              </a:defRPr>
            </a:lvl1pPr>
          </a:lstStyle>
          <a:p>
            <a:pPr marL="12700">
              <a:lnSpc>
                <a:spcPct val="100000"/>
              </a:lnSpc>
              <a:spcBef>
                <a:spcPts val="22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3505200" cy="6858000"/>
          </a:xfrm>
          <a:prstGeom prst="rect">
            <a:avLst/>
          </a:prstGeom>
        </p:spPr>
      </p:pic>
      <p:sp>
        <p:nvSpPr>
          <p:cNvPr id="17" name="bg object 17"/>
          <p:cNvSpPr/>
          <p:nvPr/>
        </p:nvSpPr>
        <p:spPr>
          <a:xfrm>
            <a:off x="1716151" y="1690624"/>
            <a:ext cx="7428230" cy="2533650"/>
          </a:xfrm>
          <a:custGeom>
            <a:avLst/>
            <a:gdLst/>
            <a:ahLst/>
            <a:cxnLst/>
            <a:rect l="l" t="t" r="r" b="b"/>
            <a:pathLst>
              <a:path w="7428230" h="2533650">
                <a:moveTo>
                  <a:pt x="7427976" y="0"/>
                </a:moveTo>
                <a:lnTo>
                  <a:pt x="0" y="0"/>
                </a:lnTo>
                <a:lnTo>
                  <a:pt x="0" y="2533650"/>
                </a:lnTo>
                <a:lnTo>
                  <a:pt x="7427976" y="2533650"/>
                </a:lnTo>
                <a:lnTo>
                  <a:pt x="7427976" y="0"/>
                </a:lnTo>
                <a:close/>
              </a:path>
            </a:pathLst>
          </a:custGeom>
          <a:solidFill>
            <a:srgbClr val="00007C"/>
          </a:solidFill>
        </p:spPr>
        <p:txBody>
          <a:bodyPr wrap="square" lIns="0" tIns="0" rIns="0" bIns="0" rtlCol="0"/>
          <a:lstStyle/>
          <a:p>
            <a:endParaRPr/>
          </a:p>
        </p:txBody>
      </p:sp>
      <p:sp>
        <p:nvSpPr>
          <p:cNvPr id="18" name="bg object 18"/>
          <p:cNvSpPr/>
          <p:nvPr/>
        </p:nvSpPr>
        <p:spPr>
          <a:xfrm>
            <a:off x="573087" y="3592575"/>
            <a:ext cx="568325" cy="631825"/>
          </a:xfrm>
          <a:custGeom>
            <a:avLst/>
            <a:gdLst/>
            <a:ahLst/>
            <a:cxnLst/>
            <a:rect l="l" t="t" r="r" b="b"/>
            <a:pathLst>
              <a:path w="568325" h="631825">
                <a:moveTo>
                  <a:pt x="0" y="631825"/>
                </a:moveTo>
                <a:lnTo>
                  <a:pt x="568325" y="631825"/>
                </a:lnTo>
                <a:lnTo>
                  <a:pt x="568325" y="0"/>
                </a:lnTo>
                <a:lnTo>
                  <a:pt x="0" y="0"/>
                </a:lnTo>
                <a:lnTo>
                  <a:pt x="0" y="631825"/>
                </a:lnTo>
                <a:close/>
              </a:path>
            </a:pathLst>
          </a:custGeom>
          <a:solidFill>
            <a:srgbClr val="9999CC"/>
          </a:solidFill>
        </p:spPr>
        <p:txBody>
          <a:bodyPr wrap="square" lIns="0" tIns="0" rIns="0" bIns="0" rtlCol="0"/>
          <a:lstStyle/>
          <a:p>
            <a:endParaRPr/>
          </a:p>
        </p:txBody>
      </p:sp>
      <p:sp>
        <p:nvSpPr>
          <p:cNvPr id="19" name="bg object 19"/>
          <p:cNvSpPr/>
          <p:nvPr/>
        </p:nvSpPr>
        <p:spPr>
          <a:xfrm>
            <a:off x="1716151" y="1066799"/>
            <a:ext cx="1151255" cy="1257935"/>
          </a:xfrm>
          <a:custGeom>
            <a:avLst/>
            <a:gdLst/>
            <a:ahLst/>
            <a:cxnLst/>
            <a:rect l="l" t="t" r="r" b="b"/>
            <a:pathLst>
              <a:path w="1151255" h="1257935">
                <a:moveTo>
                  <a:pt x="565150" y="623887"/>
                </a:moveTo>
                <a:lnTo>
                  <a:pt x="0" y="623887"/>
                </a:lnTo>
                <a:lnTo>
                  <a:pt x="0" y="1257363"/>
                </a:lnTo>
                <a:lnTo>
                  <a:pt x="565150" y="1257363"/>
                </a:lnTo>
                <a:lnTo>
                  <a:pt x="565150" y="623887"/>
                </a:lnTo>
                <a:close/>
              </a:path>
              <a:path w="1151255" h="1257935">
                <a:moveTo>
                  <a:pt x="1150937" y="0"/>
                </a:moveTo>
                <a:lnTo>
                  <a:pt x="565150" y="0"/>
                </a:lnTo>
                <a:lnTo>
                  <a:pt x="565150" y="623887"/>
                </a:lnTo>
                <a:lnTo>
                  <a:pt x="1150937" y="623887"/>
                </a:lnTo>
                <a:lnTo>
                  <a:pt x="1150937" y="0"/>
                </a:lnTo>
                <a:close/>
              </a:path>
            </a:pathLst>
          </a:custGeom>
          <a:solidFill>
            <a:srgbClr val="CCCCE6"/>
          </a:solidFill>
        </p:spPr>
        <p:txBody>
          <a:bodyPr wrap="square" lIns="0" tIns="0" rIns="0" bIns="0" rtlCol="0"/>
          <a:lstStyle/>
          <a:p>
            <a:endParaRPr/>
          </a:p>
        </p:txBody>
      </p:sp>
      <p:sp>
        <p:nvSpPr>
          <p:cNvPr id="20" name="bg object 20"/>
          <p:cNvSpPr/>
          <p:nvPr/>
        </p:nvSpPr>
        <p:spPr>
          <a:xfrm>
            <a:off x="1141412" y="3592575"/>
            <a:ext cx="584200" cy="631825"/>
          </a:xfrm>
          <a:custGeom>
            <a:avLst/>
            <a:gdLst/>
            <a:ahLst/>
            <a:cxnLst/>
            <a:rect l="l" t="t" r="r" b="b"/>
            <a:pathLst>
              <a:path w="584200" h="631825">
                <a:moveTo>
                  <a:pt x="0" y="631825"/>
                </a:moveTo>
                <a:lnTo>
                  <a:pt x="584200" y="631825"/>
                </a:lnTo>
                <a:lnTo>
                  <a:pt x="584200" y="0"/>
                </a:lnTo>
                <a:lnTo>
                  <a:pt x="0" y="0"/>
                </a:lnTo>
                <a:lnTo>
                  <a:pt x="0" y="631825"/>
                </a:lnTo>
                <a:close/>
              </a:path>
            </a:pathLst>
          </a:custGeom>
          <a:solidFill>
            <a:srgbClr val="00007C"/>
          </a:solidFill>
        </p:spPr>
        <p:txBody>
          <a:bodyPr wrap="square" lIns="0" tIns="0" rIns="0" bIns="0" rtlCol="0"/>
          <a:lstStyle/>
          <a:p>
            <a:endParaRPr/>
          </a:p>
        </p:txBody>
      </p:sp>
      <p:sp>
        <p:nvSpPr>
          <p:cNvPr id="21" name="bg object 21"/>
          <p:cNvSpPr/>
          <p:nvPr/>
        </p:nvSpPr>
        <p:spPr>
          <a:xfrm>
            <a:off x="2281301" y="1690687"/>
            <a:ext cx="586105" cy="643255"/>
          </a:xfrm>
          <a:custGeom>
            <a:avLst/>
            <a:gdLst/>
            <a:ahLst/>
            <a:cxnLst/>
            <a:rect l="l" t="t" r="r" b="b"/>
            <a:pathLst>
              <a:path w="586105" h="643255">
                <a:moveTo>
                  <a:pt x="585787" y="0"/>
                </a:moveTo>
                <a:lnTo>
                  <a:pt x="0" y="0"/>
                </a:lnTo>
                <a:lnTo>
                  <a:pt x="0" y="642937"/>
                </a:lnTo>
                <a:lnTo>
                  <a:pt x="585787" y="642937"/>
                </a:lnTo>
                <a:lnTo>
                  <a:pt x="585787" y="0"/>
                </a:lnTo>
                <a:close/>
              </a:path>
            </a:pathLst>
          </a:custGeom>
          <a:solidFill>
            <a:srgbClr val="9999CC"/>
          </a:solidFill>
        </p:spPr>
        <p:txBody>
          <a:bodyPr wrap="square" lIns="0" tIns="0" rIns="0" bIns="0" rtlCol="0"/>
          <a:lstStyle/>
          <a:p>
            <a:endParaRPr/>
          </a:p>
        </p:txBody>
      </p:sp>
      <p:sp>
        <p:nvSpPr>
          <p:cNvPr id="22" name="bg object 22"/>
          <p:cNvSpPr/>
          <p:nvPr/>
        </p:nvSpPr>
        <p:spPr>
          <a:xfrm>
            <a:off x="1141412" y="2324163"/>
            <a:ext cx="575310" cy="624205"/>
          </a:xfrm>
          <a:custGeom>
            <a:avLst/>
            <a:gdLst/>
            <a:ahLst/>
            <a:cxnLst/>
            <a:rect l="l" t="t" r="r" b="b"/>
            <a:pathLst>
              <a:path w="575310" h="624205">
                <a:moveTo>
                  <a:pt x="0" y="623887"/>
                </a:moveTo>
                <a:lnTo>
                  <a:pt x="574738" y="623887"/>
                </a:lnTo>
                <a:lnTo>
                  <a:pt x="574738" y="0"/>
                </a:lnTo>
                <a:lnTo>
                  <a:pt x="0" y="0"/>
                </a:lnTo>
                <a:lnTo>
                  <a:pt x="0" y="623887"/>
                </a:lnTo>
                <a:close/>
              </a:path>
            </a:pathLst>
          </a:custGeom>
          <a:solidFill>
            <a:srgbClr val="CCCCE6"/>
          </a:solidFill>
        </p:spPr>
        <p:txBody>
          <a:bodyPr wrap="square" lIns="0" tIns="0" rIns="0" bIns="0" rtlCol="0"/>
          <a:lstStyle/>
          <a:p>
            <a:endParaRPr/>
          </a:p>
        </p:txBody>
      </p:sp>
      <p:sp>
        <p:nvSpPr>
          <p:cNvPr id="23" name="bg object 23"/>
          <p:cNvSpPr/>
          <p:nvPr/>
        </p:nvSpPr>
        <p:spPr>
          <a:xfrm>
            <a:off x="0" y="2324163"/>
            <a:ext cx="582930" cy="633730"/>
          </a:xfrm>
          <a:custGeom>
            <a:avLst/>
            <a:gdLst/>
            <a:ahLst/>
            <a:cxnLst/>
            <a:rect l="l" t="t" r="r" b="b"/>
            <a:pathLst>
              <a:path w="582930" h="633730">
                <a:moveTo>
                  <a:pt x="582612" y="0"/>
                </a:moveTo>
                <a:lnTo>
                  <a:pt x="0" y="0"/>
                </a:lnTo>
                <a:lnTo>
                  <a:pt x="0" y="633412"/>
                </a:lnTo>
                <a:lnTo>
                  <a:pt x="582612" y="633412"/>
                </a:lnTo>
                <a:lnTo>
                  <a:pt x="582612" y="0"/>
                </a:lnTo>
                <a:close/>
              </a:path>
            </a:pathLst>
          </a:custGeom>
          <a:solidFill>
            <a:srgbClr val="00007C"/>
          </a:solidFill>
        </p:spPr>
        <p:txBody>
          <a:bodyPr wrap="square" lIns="0" tIns="0" rIns="0" bIns="0" rtlCol="0"/>
          <a:lstStyle/>
          <a:p>
            <a:endParaRPr/>
          </a:p>
        </p:txBody>
      </p:sp>
      <p:sp>
        <p:nvSpPr>
          <p:cNvPr id="24" name="bg object 24"/>
          <p:cNvSpPr/>
          <p:nvPr/>
        </p:nvSpPr>
        <p:spPr>
          <a:xfrm>
            <a:off x="1716151" y="2324163"/>
            <a:ext cx="574675" cy="633730"/>
          </a:xfrm>
          <a:custGeom>
            <a:avLst/>
            <a:gdLst/>
            <a:ahLst/>
            <a:cxnLst/>
            <a:rect l="l" t="t" r="r" b="b"/>
            <a:pathLst>
              <a:path w="574675" h="633730">
                <a:moveTo>
                  <a:pt x="574675" y="0"/>
                </a:moveTo>
                <a:lnTo>
                  <a:pt x="0" y="0"/>
                </a:lnTo>
                <a:lnTo>
                  <a:pt x="0" y="633412"/>
                </a:lnTo>
                <a:lnTo>
                  <a:pt x="574675" y="633412"/>
                </a:lnTo>
                <a:lnTo>
                  <a:pt x="574675" y="0"/>
                </a:lnTo>
                <a:close/>
              </a:path>
            </a:pathLst>
          </a:custGeom>
          <a:solidFill>
            <a:srgbClr val="9999CC"/>
          </a:solidFill>
        </p:spPr>
        <p:txBody>
          <a:bodyPr wrap="square" lIns="0" tIns="0" rIns="0" bIns="0" rtlCol="0"/>
          <a:lstStyle/>
          <a:p>
            <a:endParaRPr/>
          </a:p>
        </p:txBody>
      </p:sp>
      <p:sp>
        <p:nvSpPr>
          <p:cNvPr id="25" name="bg object 25"/>
          <p:cNvSpPr/>
          <p:nvPr/>
        </p:nvSpPr>
        <p:spPr>
          <a:xfrm>
            <a:off x="573087" y="2948050"/>
            <a:ext cx="568325" cy="644525"/>
          </a:xfrm>
          <a:custGeom>
            <a:avLst/>
            <a:gdLst/>
            <a:ahLst/>
            <a:cxnLst/>
            <a:rect l="l" t="t" r="r" b="b"/>
            <a:pathLst>
              <a:path w="568325" h="644525">
                <a:moveTo>
                  <a:pt x="0" y="644525"/>
                </a:moveTo>
                <a:lnTo>
                  <a:pt x="568325" y="644525"/>
                </a:lnTo>
                <a:lnTo>
                  <a:pt x="568325" y="0"/>
                </a:lnTo>
                <a:lnTo>
                  <a:pt x="0" y="0"/>
                </a:lnTo>
                <a:lnTo>
                  <a:pt x="0" y="644525"/>
                </a:lnTo>
                <a:close/>
              </a:path>
            </a:pathLst>
          </a:custGeom>
          <a:solidFill>
            <a:srgbClr val="CCCCE6"/>
          </a:solidFill>
        </p:spPr>
        <p:txBody>
          <a:bodyPr wrap="square" lIns="0" tIns="0" rIns="0" bIns="0" rtlCol="0"/>
          <a:lstStyle/>
          <a:p>
            <a:endParaRPr/>
          </a:p>
        </p:txBody>
      </p:sp>
      <p:sp>
        <p:nvSpPr>
          <p:cNvPr id="26" name="bg object 26"/>
          <p:cNvSpPr/>
          <p:nvPr/>
        </p:nvSpPr>
        <p:spPr>
          <a:xfrm>
            <a:off x="1141412" y="2948050"/>
            <a:ext cx="584200" cy="644525"/>
          </a:xfrm>
          <a:custGeom>
            <a:avLst/>
            <a:gdLst/>
            <a:ahLst/>
            <a:cxnLst/>
            <a:rect l="l" t="t" r="r" b="b"/>
            <a:pathLst>
              <a:path w="584200" h="644525">
                <a:moveTo>
                  <a:pt x="584200" y="0"/>
                </a:moveTo>
                <a:lnTo>
                  <a:pt x="0" y="0"/>
                </a:lnTo>
                <a:lnTo>
                  <a:pt x="0" y="644525"/>
                </a:lnTo>
                <a:lnTo>
                  <a:pt x="584200" y="644525"/>
                </a:lnTo>
                <a:lnTo>
                  <a:pt x="584200" y="0"/>
                </a:lnTo>
                <a:close/>
              </a:path>
            </a:pathLst>
          </a:custGeom>
          <a:solidFill>
            <a:srgbClr val="9999CC"/>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4" name="Holder 4"/>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lnSpc>
                <a:spcPts val="1425"/>
              </a:lnSpc>
            </a:pPr>
            <a:r>
              <a:rPr dirty="0"/>
              <a:t>Dan</a:t>
            </a:r>
            <a:r>
              <a:rPr spc="-25" dirty="0"/>
              <a:t> </a:t>
            </a:r>
            <a:r>
              <a:rPr dirty="0"/>
              <a:t>C.</a:t>
            </a:r>
            <a:r>
              <a:rPr spc="5" dirty="0"/>
              <a:t> </a:t>
            </a:r>
            <a:r>
              <a:rPr spc="-10" dirty="0"/>
              <a:t>Marinescu</a:t>
            </a:r>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Black"/>
                <a:cs typeface="Arial Black"/>
              </a:defRPr>
            </a:lvl1pPr>
          </a:lstStyle>
          <a:p>
            <a:pPr marL="12700">
              <a:lnSpc>
                <a:spcPct val="100000"/>
              </a:lnSpc>
              <a:spcBef>
                <a:spcPts val="22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3" name="Holder 3"/>
          <p:cNvSpPr>
            <a:spLocks noGrp="1"/>
          </p:cNvSpPr>
          <p:nvPr>
            <p:ph type="dt" sz="half" idx="6"/>
          </p:nvPr>
        </p:nvSpPr>
        <p:spPr/>
        <p:txBody>
          <a:bodyPr lIns="0" tIns="0" rIns="0" bIns="0"/>
          <a:lstStyle>
            <a:lvl1pPr>
              <a:defRPr sz="1200" b="0" i="0">
                <a:solidFill>
                  <a:schemeClr val="tx1"/>
                </a:solidFill>
                <a:latin typeface="Arial"/>
                <a:cs typeface="Arial"/>
              </a:defRPr>
            </a:lvl1pPr>
          </a:lstStyle>
          <a:p>
            <a:pPr marL="12700">
              <a:lnSpc>
                <a:spcPts val="1425"/>
              </a:lnSpc>
            </a:pPr>
            <a:r>
              <a:rPr dirty="0"/>
              <a:t>Dan</a:t>
            </a:r>
            <a:r>
              <a:rPr spc="-25" dirty="0"/>
              <a:t> </a:t>
            </a:r>
            <a:r>
              <a:rPr dirty="0"/>
              <a:t>C.</a:t>
            </a:r>
            <a:r>
              <a:rPr spc="5" dirty="0"/>
              <a:t> </a:t>
            </a:r>
            <a:r>
              <a:rPr spc="-10" dirty="0"/>
              <a:t>Marinescu</a:t>
            </a:r>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Black"/>
                <a:cs typeface="Arial Black"/>
              </a:defRPr>
            </a:lvl1pPr>
          </a:lstStyle>
          <a:p>
            <a:pPr marL="12700">
              <a:lnSpc>
                <a:spcPct val="100000"/>
              </a:lnSpc>
              <a:spcBef>
                <a:spcPts val="22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285750" cy="533400"/>
          </a:xfrm>
          <a:prstGeom prst="rect">
            <a:avLst/>
          </a:prstGeom>
        </p:spPr>
      </p:pic>
      <p:pic>
        <p:nvPicPr>
          <p:cNvPr id="17" name="bg object 17"/>
          <p:cNvPicPr/>
          <p:nvPr/>
        </p:nvPicPr>
        <p:blipFill>
          <a:blip r:embed="rId8" cstate="print"/>
          <a:stretch>
            <a:fillRect/>
          </a:stretch>
        </p:blipFill>
        <p:spPr>
          <a:xfrm>
            <a:off x="412750" y="134937"/>
            <a:ext cx="8731250" cy="274637"/>
          </a:xfrm>
          <a:prstGeom prst="rect">
            <a:avLst/>
          </a:prstGeom>
        </p:spPr>
      </p:pic>
      <p:sp>
        <p:nvSpPr>
          <p:cNvPr id="18" name="bg object 18"/>
          <p:cNvSpPr/>
          <p:nvPr/>
        </p:nvSpPr>
        <p:spPr>
          <a:xfrm>
            <a:off x="409575" y="63"/>
            <a:ext cx="278130" cy="271780"/>
          </a:xfrm>
          <a:custGeom>
            <a:avLst/>
            <a:gdLst/>
            <a:ahLst/>
            <a:cxnLst/>
            <a:rect l="l" t="t" r="r" b="b"/>
            <a:pathLst>
              <a:path w="278130" h="271780">
                <a:moveTo>
                  <a:pt x="138112" y="134874"/>
                </a:moveTo>
                <a:lnTo>
                  <a:pt x="0" y="134874"/>
                </a:lnTo>
                <a:lnTo>
                  <a:pt x="0" y="271399"/>
                </a:lnTo>
                <a:lnTo>
                  <a:pt x="138112" y="271399"/>
                </a:lnTo>
                <a:lnTo>
                  <a:pt x="138112" y="134874"/>
                </a:lnTo>
                <a:close/>
              </a:path>
              <a:path w="278130" h="271780">
                <a:moveTo>
                  <a:pt x="277812" y="0"/>
                </a:moveTo>
                <a:lnTo>
                  <a:pt x="138112" y="0"/>
                </a:lnTo>
                <a:lnTo>
                  <a:pt x="138112" y="134874"/>
                </a:lnTo>
                <a:lnTo>
                  <a:pt x="277812" y="134874"/>
                </a:lnTo>
                <a:lnTo>
                  <a:pt x="277812" y="0"/>
                </a:lnTo>
                <a:close/>
              </a:path>
            </a:pathLst>
          </a:custGeom>
          <a:solidFill>
            <a:srgbClr val="CCCCE6"/>
          </a:solidFill>
        </p:spPr>
        <p:txBody>
          <a:bodyPr wrap="square" lIns="0" tIns="0" rIns="0" bIns="0" rtlCol="0"/>
          <a:lstStyle/>
          <a:p>
            <a:endParaRPr/>
          </a:p>
        </p:txBody>
      </p:sp>
      <p:sp>
        <p:nvSpPr>
          <p:cNvPr id="19" name="bg object 19"/>
          <p:cNvSpPr/>
          <p:nvPr/>
        </p:nvSpPr>
        <p:spPr>
          <a:xfrm>
            <a:off x="547687" y="134937"/>
            <a:ext cx="139700" cy="141605"/>
          </a:xfrm>
          <a:custGeom>
            <a:avLst/>
            <a:gdLst/>
            <a:ahLst/>
            <a:cxnLst/>
            <a:rect l="l" t="t" r="r" b="b"/>
            <a:pathLst>
              <a:path w="139700" h="141604">
                <a:moveTo>
                  <a:pt x="139700" y="0"/>
                </a:moveTo>
                <a:lnTo>
                  <a:pt x="0" y="0"/>
                </a:lnTo>
                <a:lnTo>
                  <a:pt x="0" y="141287"/>
                </a:lnTo>
                <a:lnTo>
                  <a:pt x="139700" y="141287"/>
                </a:lnTo>
                <a:lnTo>
                  <a:pt x="139700" y="0"/>
                </a:lnTo>
                <a:close/>
              </a:path>
            </a:pathLst>
          </a:custGeom>
          <a:solidFill>
            <a:srgbClr val="9999CC"/>
          </a:solidFill>
        </p:spPr>
        <p:txBody>
          <a:bodyPr wrap="square" lIns="0" tIns="0" rIns="0" bIns="0" rtlCol="0"/>
          <a:lstStyle/>
          <a:p>
            <a:endParaRPr/>
          </a:p>
        </p:txBody>
      </p:sp>
      <p:sp>
        <p:nvSpPr>
          <p:cNvPr id="20" name="bg object 20"/>
          <p:cNvSpPr/>
          <p:nvPr/>
        </p:nvSpPr>
        <p:spPr>
          <a:xfrm>
            <a:off x="274637" y="274637"/>
            <a:ext cx="136525" cy="135255"/>
          </a:xfrm>
          <a:custGeom>
            <a:avLst/>
            <a:gdLst/>
            <a:ahLst/>
            <a:cxnLst/>
            <a:rect l="l" t="t" r="r" b="b"/>
            <a:pathLst>
              <a:path w="136525" h="135254">
                <a:moveTo>
                  <a:pt x="0" y="134937"/>
                </a:moveTo>
                <a:lnTo>
                  <a:pt x="136525" y="134937"/>
                </a:lnTo>
                <a:lnTo>
                  <a:pt x="136525" y="0"/>
                </a:lnTo>
                <a:lnTo>
                  <a:pt x="0" y="0"/>
                </a:lnTo>
                <a:lnTo>
                  <a:pt x="0" y="134937"/>
                </a:lnTo>
                <a:close/>
              </a:path>
            </a:pathLst>
          </a:custGeom>
          <a:solidFill>
            <a:srgbClr val="CCCCE6"/>
          </a:solidFill>
        </p:spPr>
        <p:txBody>
          <a:bodyPr wrap="square" lIns="0" tIns="0" rIns="0" bIns="0" rtlCol="0"/>
          <a:lstStyle/>
          <a:p>
            <a:endParaRPr/>
          </a:p>
        </p:txBody>
      </p:sp>
      <p:sp>
        <p:nvSpPr>
          <p:cNvPr id="21" name="bg object 21"/>
          <p:cNvSpPr/>
          <p:nvPr/>
        </p:nvSpPr>
        <p:spPr>
          <a:xfrm>
            <a:off x="131762" y="136588"/>
            <a:ext cx="141605" cy="138430"/>
          </a:xfrm>
          <a:custGeom>
            <a:avLst/>
            <a:gdLst/>
            <a:ahLst/>
            <a:cxnLst/>
            <a:rect l="l" t="t" r="r" b="b"/>
            <a:pathLst>
              <a:path w="141604" h="138429">
                <a:moveTo>
                  <a:pt x="141287" y="0"/>
                </a:moveTo>
                <a:lnTo>
                  <a:pt x="0" y="0"/>
                </a:lnTo>
                <a:lnTo>
                  <a:pt x="0" y="138112"/>
                </a:lnTo>
                <a:lnTo>
                  <a:pt x="141287" y="138112"/>
                </a:lnTo>
                <a:lnTo>
                  <a:pt x="141287" y="0"/>
                </a:lnTo>
                <a:close/>
              </a:path>
            </a:pathLst>
          </a:custGeom>
          <a:solidFill>
            <a:srgbClr val="00007C"/>
          </a:solidFill>
        </p:spPr>
        <p:txBody>
          <a:bodyPr wrap="square" lIns="0" tIns="0" rIns="0" bIns="0" rtlCol="0"/>
          <a:lstStyle/>
          <a:p>
            <a:endParaRPr/>
          </a:p>
        </p:txBody>
      </p:sp>
      <p:sp>
        <p:nvSpPr>
          <p:cNvPr id="22" name="bg object 22"/>
          <p:cNvSpPr/>
          <p:nvPr/>
        </p:nvSpPr>
        <p:spPr>
          <a:xfrm>
            <a:off x="274637" y="271462"/>
            <a:ext cx="273050" cy="274955"/>
          </a:xfrm>
          <a:custGeom>
            <a:avLst/>
            <a:gdLst/>
            <a:ahLst/>
            <a:cxnLst/>
            <a:rect l="l" t="t" r="r" b="b"/>
            <a:pathLst>
              <a:path w="273050" h="274955">
                <a:moveTo>
                  <a:pt x="273050" y="0"/>
                </a:moveTo>
                <a:lnTo>
                  <a:pt x="134937" y="0"/>
                </a:lnTo>
                <a:lnTo>
                  <a:pt x="134937" y="138112"/>
                </a:lnTo>
                <a:lnTo>
                  <a:pt x="0" y="138112"/>
                </a:lnTo>
                <a:lnTo>
                  <a:pt x="0" y="274637"/>
                </a:lnTo>
                <a:lnTo>
                  <a:pt x="136525" y="274637"/>
                </a:lnTo>
                <a:lnTo>
                  <a:pt x="136525" y="138112"/>
                </a:lnTo>
                <a:lnTo>
                  <a:pt x="273050" y="138112"/>
                </a:lnTo>
                <a:lnTo>
                  <a:pt x="273050" y="0"/>
                </a:lnTo>
                <a:close/>
              </a:path>
            </a:pathLst>
          </a:custGeom>
          <a:solidFill>
            <a:srgbClr val="9999CC"/>
          </a:solidFill>
        </p:spPr>
        <p:txBody>
          <a:bodyPr wrap="square" lIns="0" tIns="0" rIns="0" bIns="0" rtlCol="0"/>
          <a:lstStyle/>
          <a:p>
            <a:endParaRPr/>
          </a:p>
        </p:txBody>
      </p:sp>
      <p:sp>
        <p:nvSpPr>
          <p:cNvPr id="2" name="Holder 2"/>
          <p:cNvSpPr>
            <a:spLocks noGrp="1"/>
          </p:cNvSpPr>
          <p:nvPr>
            <p:ph type="title"/>
          </p:nvPr>
        </p:nvSpPr>
        <p:spPr>
          <a:xfrm>
            <a:off x="535940" y="621868"/>
            <a:ext cx="8072119" cy="51435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574040" y="1502156"/>
            <a:ext cx="8055609" cy="4142740"/>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228594" y="6292808"/>
            <a:ext cx="2683510" cy="379095"/>
          </a:xfrm>
          <a:prstGeom prst="rect">
            <a:avLst/>
          </a:prstGeom>
        </p:spPr>
        <p:txBody>
          <a:bodyPr wrap="square" lIns="0" tIns="0" rIns="0" bIns="0">
            <a:spAutoFit/>
          </a:bodyPr>
          <a:lstStyle>
            <a:lvl1pPr>
              <a:defRPr sz="1200" b="0" i="0">
                <a:solidFill>
                  <a:schemeClr val="tx1"/>
                </a:solidFill>
                <a:latin typeface="Arial"/>
                <a:cs typeface="Arial"/>
              </a:defRPr>
            </a:lvl1p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Holder 5"/>
          <p:cNvSpPr>
            <a:spLocks noGrp="1"/>
          </p:cNvSpPr>
          <p:nvPr>
            <p:ph type="dt" sz="half" idx="6"/>
          </p:nvPr>
        </p:nvSpPr>
        <p:spPr>
          <a:xfrm>
            <a:off x="535940" y="6475688"/>
            <a:ext cx="1245235" cy="212064"/>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ts val="1425"/>
              </a:lnSpc>
            </a:pPr>
            <a:r>
              <a:rPr dirty="0"/>
              <a:t>Dan</a:t>
            </a:r>
            <a:r>
              <a:rPr spc="-25" dirty="0"/>
              <a:t> </a:t>
            </a:r>
            <a:r>
              <a:rPr dirty="0"/>
              <a:t>C.</a:t>
            </a:r>
            <a:r>
              <a:rPr spc="5" dirty="0"/>
              <a:t> </a:t>
            </a:r>
            <a:r>
              <a:rPr spc="-10" dirty="0"/>
              <a:t>Marinescu</a:t>
            </a:r>
          </a:p>
        </p:txBody>
      </p:sp>
      <p:sp>
        <p:nvSpPr>
          <p:cNvPr id="6" name="Holder 6"/>
          <p:cNvSpPr>
            <a:spLocks noGrp="1"/>
          </p:cNvSpPr>
          <p:nvPr>
            <p:ph type="sldNum" sz="quarter" idx="7"/>
          </p:nvPr>
        </p:nvSpPr>
        <p:spPr>
          <a:xfrm>
            <a:off x="8378443" y="6441350"/>
            <a:ext cx="267970" cy="240665"/>
          </a:xfrm>
          <a:prstGeom prst="rect">
            <a:avLst/>
          </a:prstGeom>
        </p:spPr>
        <p:txBody>
          <a:bodyPr wrap="square" lIns="0" tIns="0" rIns="0" bIns="0">
            <a:spAutoFit/>
          </a:bodyPr>
          <a:lstStyle>
            <a:lvl1pPr>
              <a:defRPr sz="1200" b="0" i="0">
                <a:solidFill>
                  <a:schemeClr val="tx1"/>
                </a:solidFill>
                <a:latin typeface="Arial Black"/>
                <a:cs typeface="Arial Black"/>
              </a:defRPr>
            </a:lvl1pPr>
          </a:lstStyle>
          <a:p>
            <a:pPr marL="12700">
              <a:lnSpc>
                <a:spcPct val="100000"/>
              </a:lnSpc>
              <a:spcBef>
                <a:spcPts val="220"/>
              </a:spcBef>
            </a:pPr>
            <a:fld id="{81D60167-4931-47E6-BA6A-407CBD079E47}" type="slidenum">
              <a:rPr spc="-25" dirty="0"/>
              <a:t>‹#›</a:t>
            </a:fld>
            <a:endParaRPr spc="-25" dirty="0"/>
          </a:p>
        </p:txBody>
      </p:sp>
      <p:sp>
        <p:nvSpPr>
          <p:cNvPr id="8" name="TextBox 7">
            <a:extLst>
              <a:ext uri="{FF2B5EF4-FFF2-40B4-BE49-F238E27FC236}">
                <a16:creationId xmlns:a16="http://schemas.microsoft.com/office/drawing/2014/main" id="{2D23246A-CD80-EB8A-1BFC-C62FBB519212}"/>
              </a:ext>
            </a:extLst>
          </p:cNvPr>
          <p:cNvSpPr txBox="1"/>
          <p:nvPr userDrawn="1">
            <p:extLst>
              <p:ext uri="{1162E1C5-73C7-4A58-AE30-91384D911F3F}">
                <p184:classification xmlns:p184="http://schemas.microsoft.com/office/powerpoint/2018/4/main" val="ftr"/>
              </p:ext>
            </p:extLst>
          </p:nvPr>
        </p:nvSpPr>
        <p:spPr>
          <a:xfrm>
            <a:off x="8267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7825" y="2107818"/>
            <a:ext cx="5476875"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FFFFFF"/>
                </a:solidFill>
              </a:rPr>
              <a:t>Chapter</a:t>
            </a:r>
            <a:r>
              <a:rPr sz="4000" spc="-50" dirty="0">
                <a:solidFill>
                  <a:srgbClr val="FFFFFF"/>
                </a:solidFill>
              </a:rPr>
              <a:t> </a:t>
            </a:r>
            <a:r>
              <a:rPr sz="4000" dirty="0">
                <a:solidFill>
                  <a:srgbClr val="FFFFFF"/>
                </a:solidFill>
              </a:rPr>
              <a:t>1</a:t>
            </a:r>
            <a:r>
              <a:rPr sz="4000" spc="-55" dirty="0">
                <a:solidFill>
                  <a:srgbClr val="FFFFFF"/>
                </a:solidFill>
              </a:rPr>
              <a:t> </a:t>
            </a:r>
            <a:r>
              <a:rPr sz="4000" dirty="0">
                <a:solidFill>
                  <a:srgbClr val="FFFFFF"/>
                </a:solidFill>
              </a:rPr>
              <a:t>–</a:t>
            </a:r>
            <a:r>
              <a:rPr sz="4000" spc="-65" dirty="0">
                <a:solidFill>
                  <a:srgbClr val="FFFFFF"/>
                </a:solidFill>
              </a:rPr>
              <a:t> </a:t>
            </a:r>
            <a:r>
              <a:rPr sz="4000" spc="-10" dirty="0">
                <a:solidFill>
                  <a:srgbClr val="FFFFFF"/>
                </a:solidFill>
              </a:rPr>
              <a:t>Introduction</a:t>
            </a:r>
            <a:endParaRPr sz="400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4" name="object 4"/>
          <p:cNvSpPr txBox="1"/>
          <p:nvPr/>
        </p:nvSpPr>
        <p:spPr>
          <a:xfrm>
            <a:off x="8480552" y="6441350"/>
            <a:ext cx="127635" cy="240665"/>
          </a:xfrm>
          <a:prstGeom prst="rect">
            <a:avLst/>
          </a:prstGeom>
        </p:spPr>
        <p:txBody>
          <a:bodyPr vert="horz" wrap="square" lIns="0" tIns="27940" rIns="0" bIns="0" rtlCol="0">
            <a:spAutoFit/>
          </a:bodyPr>
          <a:lstStyle/>
          <a:p>
            <a:pPr marL="12700">
              <a:lnSpc>
                <a:spcPct val="100000"/>
              </a:lnSpc>
              <a:spcBef>
                <a:spcPts val="220"/>
              </a:spcBef>
            </a:pPr>
            <a:r>
              <a:rPr sz="1200" spc="-50" dirty="0">
                <a:latin typeface="Arial Black"/>
                <a:cs typeface="Arial Black"/>
              </a:rPr>
              <a:t>1</a:t>
            </a:r>
            <a:endParaRPr sz="1200">
              <a:latin typeface="Arial Black"/>
              <a:cs typeface="Arial Black"/>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695"/>
            <a:ext cx="1652270" cy="513715"/>
          </a:xfrm>
          <a:prstGeom prst="rect">
            <a:avLst/>
          </a:prstGeom>
        </p:spPr>
        <p:txBody>
          <a:bodyPr vert="horz" wrap="square" lIns="0" tIns="13335" rIns="0" bIns="0" rtlCol="0">
            <a:spAutoFit/>
          </a:bodyPr>
          <a:lstStyle/>
          <a:p>
            <a:pPr marL="12700">
              <a:lnSpc>
                <a:spcPct val="100000"/>
              </a:lnSpc>
              <a:spcBef>
                <a:spcPts val="105"/>
              </a:spcBef>
            </a:pPr>
            <a:r>
              <a:rPr spc="-10" dirty="0"/>
              <a:t>Contents</a:t>
            </a:r>
          </a:p>
        </p:txBody>
      </p:sp>
      <p:sp>
        <p:nvSpPr>
          <p:cNvPr id="4" name="object 4"/>
          <p:cNvSpPr txBox="1"/>
          <p:nvPr/>
        </p:nvSpPr>
        <p:spPr>
          <a:xfrm>
            <a:off x="3143504" y="6273910"/>
            <a:ext cx="2683510" cy="379095"/>
          </a:xfrm>
          <a:prstGeom prst="rect">
            <a:avLst/>
          </a:prstGeom>
        </p:spPr>
        <p:txBody>
          <a:bodyPr vert="horz" wrap="square" lIns="0" tIns="0" rIns="0" bIns="0" rtlCol="0">
            <a:spAutoFit/>
          </a:bodyPr>
          <a:lstStyle/>
          <a:p>
            <a:pPr algn="ctr">
              <a:lnSpc>
                <a:spcPts val="1425"/>
              </a:lnSpc>
            </a:pPr>
            <a:r>
              <a:rPr sz="1200" dirty="0">
                <a:latin typeface="Arial"/>
                <a:cs typeface="Arial"/>
              </a:rPr>
              <a:t>Cloud</a:t>
            </a:r>
            <a:r>
              <a:rPr sz="1200" spc="-45" dirty="0">
                <a:latin typeface="Arial"/>
                <a:cs typeface="Arial"/>
              </a:rPr>
              <a:t> </a:t>
            </a:r>
            <a:r>
              <a:rPr sz="1200" dirty="0">
                <a:latin typeface="Arial"/>
                <a:cs typeface="Arial"/>
              </a:rPr>
              <a:t>Computing:</a:t>
            </a:r>
            <a:r>
              <a:rPr sz="1200" spc="-65" dirty="0">
                <a:latin typeface="Arial"/>
                <a:cs typeface="Arial"/>
              </a:rPr>
              <a:t> </a:t>
            </a:r>
            <a:r>
              <a:rPr sz="1200" dirty="0">
                <a:latin typeface="Arial"/>
                <a:cs typeface="Arial"/>
              </a:rPr>
              <a:t>Theory</a:t>
            </a:r>
            <a:r>
              <a:rPr sz="1200" spc="-35" dirty="0">
                <a:latin typeface="Arial"/>
                <a:cs typeface="Arial"/>
              </a:rPr>
              <a:t> </a:t>
            </a:r>
            <a:r>
              <a:rPr sz="1200" dirty="0">
                <a:latin typeface="Arial"/>
                <a:cs typeface="Arial"/>
              </a:rPr>
              <a:t>and</a:t>
            </a:r>
            <a:r>
              <a:rPr sz="1200" spc="-30" dirty="0">
                <a:latin typeface="Arial"/>
                <a:cs typeface="Arial"/>
              </a:rPr>
              <a:t> </a:t>
            </a:r>
            <a:r>
              <a:rPr sz="1200" spc="-10" dirty="0">
                <a:latin typeface="Arial"/>
                <a:cs typeface="Arial"/>
              </a:rPr>
              <a:t>Practice.</a:t>
            </a:r>
            <a:endParaRPr sz="1200">
              <a:latin typeface="Arial"/>
              <a:cs typeface="Arial"/>
            </a:endParaRPr>
          </a:p>
          <a:p>
            <a:pPr marL="1905" algn="ctr">
              <a:lnSpc>
                <a:spcPct val="100000"/>
              </a:lnSpc>
            </a:pPr>
            <a:r>
              <a:rPr sz="1200" dirty="0">
                <a:latin typeface="Arial"/>
                <a:cs typeface="Arial"/>
              </a:rPr>
              <a:t>Chapter</a:t>
            </a:r>
            <a:r>
              <a:rPr sz="1200" spc="-50" dirty="0">
                <a:latin typeface="Arial"/>
                <a:cs typeface="Arial"/>
              </a:rPr>
              <a:t> 1</a:t>
            </a:r>
            <a:endParaRPr sz="1200">
              <a:latin typeface="Arial"/>
              <a:cs typeface="Arial"/>
            </a:endParaRPr>
          </a:p>
        </p:txBody>
      </p:sp>
      <p:sp>
        <p:nvSpPr>
          <p:cNvPr id="5" name="object 5"/>
          <p:cNvSpPr txBox="1"/>
          <p:nvPr/>
        </p:nvSpPr>
        <p:spPr>
          <a:xfrm>
            <a:off x="8480552" y="6441350"/>
            <a:ext cx="127635" cy="240665"/>
          </a:xfrm>
          <a:prstGeom prst="rect">
            <a:avLst/>
          </a:prstGeom>
        </p:spPr>
        <p:txBody>
          <a:bodyPr vert="horz" wrap="square" lIns="0" tIns="27940" rIns="0" bIns="0" rtlCol="0">
            <a:spAutoFit/>
          </a:bodyPr>
          <a:lstStyle/>
          <a:p>
            <a:pPr marL="12700">
              <a:lnSpc>
                <a:spcPct val="100000"/>
              </a:lnSpc>
              <a:spcBef>
                <a:spcPts val="220"/>
              </a:spcBef>
            </a:pPr>
            <a:r>
              <a:rPr sz="1200" spc="-50" dirty="0">
                <a:latin typeface="Arial Black"/>
                <a:cs typeface="Arial Black"/>
              </a:rPr>
              <a:t>2</a:t>
            </a:r>
            <a:endParaRPr sz="1200">
              <a:latin typeface="Arial Black"/>
              <a:cs typeface="Arial Black"/>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479905"/>
            <a:ext cx="6635750" cy="1854835"/>
          </a:xfrm>
          <a:prstGeom prst="rect">
            <a:avLst/>
          </a:prstGeom>
        </p:spPr>
        <p:txBody>
          <a:bodyPr vert="horz" wrap="square" lIns="0" tIns="73660" rIns="0" bIns="0" rtlCol="0">
            <a:spAutoFit/>
          </a:bodyPr>
          <a:lstStyle/>
          <a:p>
            <a:pPr marL="355600" indent="-342900">
              <a:lnSpc>
                <a:spcPct val="100000"/>
              </a:lnSpc>
              <a:spcBef>
                <a:spcPts val="580"/>
              </a:spcBef>
              <a:buClr>
                <a:srgbClr val="00007C"/>
              </a:buClr>
              <a:buSzPct val="75000"/>
              <a:buFont typeface="Wingdings"/>
              <a:buChar char=""/>
              <a:tabLst>
                <a:tab pos="355600" algn="l"/>
              </a:tabLst>
            </a:pPr>
            <a:r>
              <a:rPr sz="2000" spc="-10" dirty="0">
                <a:latin typeface="Arial"/>
                <a:cs typeface="Arial"/>
              </a:rPr>
              <a:t>Network-</a:t>
            </a:r>
            <a:r>
              <a:rPr sz="2000" dirty="0">
                <a:latin typeface="Arial"/>
                <a:cs typeface="Arial"/>
              </a:rPr>
              <a:t>centric</a:t>
            </a:r>
            <a:r>
              <a:rPr sz="2000" spc="-50" dirty="0">
                <a:latin typeface="Arial"/>
                <a:cs typeface="Arial"/>
              </a:rPr>
              <a:t> </a:t>
            </a:r>
            <a:r>
              <a:rPr sz="2000" dirty="0">
                <a:latin typeface="Arial"/>
                <a:cs typeface="Arial"/>
              </a:rPr>
              <a:t>computing</a:t>
            </a:r>
            <a:r>
              <a:rPr sz="2000" spc="-45" dirty="0">
                <a:latin typeface="Arial"/>
                <a:cs typeface="Arial"/>
              </a:rPr>
              <a:t> </a:t>
            </a:r>
            <a:r>
              <a:rPr sz="2000" dirty="0">
                <a:latin typeface="Arial"/>
                <a:cs typeface="Arial"/>
              </a:rPr>
              <a:t>and</a:t>
            </a:r>
            <a:r>
              <a:rPr sz="2000" spc="-30" dirty="0">
                <a:latin typeface="Arial"/>
                <a:cs typeface="Arial"/>
              </a:rPr>
              <a:t> </a:t>
            </a:r>
            <a:r>
              <a:rPr sz="2000" dirty="0">
                <a:latin typeface="Arial"/>
                <a:cs typeface="Arial"/>
              </a:rPr>
              <a:t>network-centric</a:t>
            </a:r>
            <a:r>
              <a:rPr sz="2000" spc="-50" dirty="0">
                <a:latin typeface="Arial"/>
                <a:cs typeface="Arial"/>
              </a:rPr>
              <a:t> </a:t>
            </a:r>
            <a:r>
              <a:rPr sz="2000" spc="-10" dirty="0">
                <a:latin typeface="Arial"/>
                <a:cs typeface="Arial"/>
              </a:rPr>
              <a:t>content.</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Cloud</a:t>
            </a:r>
            <a:r>
              <a:rPr sz="2000" spc="-70" dirty="0">
                <a:latin typeface="Arial"/>
                <a:cs typeface="Arial"/>
              </a:rPr>
              <a:t> </a:t>
            </a:r>
            <a:r>
              <a:rPr sz="2000" spc="-10" dirty="0">
                <a:latin typeface="Arial"/>
                <a:cs typeface="Arial"/>
              </a:rPr>
              <a:t>computing.</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Delivery</a:t>
            </a:r>
            <a:r>
              <a:rPr sz="2000" spc="-40" dirty="0">
                <a:latin typeface="Arial"/>
                <a:cs typeface="Arial"/>
              </a:rPr>
              <a:t> </a:t>
            </a:r>
            <a:r>
              <a:rPr sz="2000" dirty="0">
                <a:latin typeface="Arial"/>
                <a:cs typeface="Arial"/>
              </a:rPr>
              <a:t>models</a:t>
            </a:r>
            <a:r>
              <a:rPr sz="2000" spc="-50" dirty="0">
                <a:latin typeface="Arial"/>
                <a:cs typeface="Arial"/>
              </a:rPr>
              <a:t> </a:t>
            </a:r>
            <a:r>
              <a:rPr sz="2000" dirty="0">
                <a:latin typeface="Arial"/>
                <a:cs typeface="Arial"/>
              </a:rPr>
              <a:t>and</a:t>
            </a:r>
            <a:r>
              <a:rPr sz="2000" spc="-35" dirty="0">
                <a:latin typeface="Arial"/>
                <a:cs typeface="Arial"/>
              </a:rPr>
              <a:t> </a:t>
            </a:r>
            <a:r>
              <a:rPr sz="2000" spc="-10" dirty="0">
                <a:latin typeface="Arial"/>
                <a:cs typeface="Arial"/>
              </a:rPr>
              <a:t>services.</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Ethical</a:t>
            </a:r>
            <a:r>
              <a:rPr sz="2000" spc="-35" dirty="0">
                <a:latin typeface="Arial"/>
                <a:cs typeface="Arial"/>
              </a:rPr>
              <a:t> </a:t>
            </a:r>
            <a:r>
              <a:rPr sz="2000" dirty="0">
                <a:latin typeface="Arial"/>
                <a:cs typeface="Arial"/>
              </a:rPr>
              <a:t>issues</a:t>
            </a:r>
            <a:r>
              <a:rPr sz="2000" spc="-55" dirty="0">
                <a:latin typeface="Arial"/>
                <a:cs typeface="Arial"/>
              </a:rPr>
              <a:t> </a:t>
            </a:r>
            <a:r>
              <a:rPr sz="2000" dirty="0">
                <a:latin typeface="Arial"/>
                <a:cs typeface="Arial"/>
              </a:rPr>
              <a:t>in</a:t>
            </a:r>
            <a:r>
              <a:rPr sz="2000" spc="-30" dirty="0">
                <a:latin typeface="Arial"/>
                <a:cs typeface="Arial"/>
              </a:rPr>
              <a:t> </a:t>
            </a:r>
            <a:r>
              <a:rPr sz="2000" dirty="0">
                <a:latin typeface="Arial"/>
                <a:cs typeface="Arial"/>
              </a:rPr>
              <a:t>cloud</a:t>
            </a:r>
            <a:r>
              <a:rPr sz="2000" spc="-55" dirty="0">
                <a:latin typeface="Arial"/>
                <a:cs typeface="Arial"/>
              </a:rPr>
              <a:t> </a:t>
            </a:r>
            <a:r>
              <a:rPr sz="2000" spc="-10" dirty="0">
                <a:latin typeface="Arial"/>
                <a:cs typeface="Arial"/>
              </a:rPr>
              <a:t>computing.</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Cloud</a:t>
            </a:r>
            <a:r>
              <a:rPr sz="2000" spc="-70" dirty="0">
                <a:latin typeface="Arial"/>
                <a:cs typeface="Arial"/>
              </a:rPr>
              <a:t> </a:t>
            </a:r>
            <a:r>
              <a:rPr sz="2000" spc="-10" dirty="0">
                <a:latin typeface="Arial"/>
                <a:cs typeface="Arial"/>
              </a:rPr>
              <a:t>vulnerabilities.</a:t>
            </a:r>
            <a:endParaRPr sz="20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0291" y="575259"/>
            <a:ext cx="4832350" cy="514350"/>
          </a:xfrm>
          <a:prstGeom prst="rect">
            <a:avLst/>
          </a:prstGeom>
        </p:spPr>
        <p:txBody>
          <a:bodyPr vert="horz" wrap="square" lIns="0" tIns="13335" rIns="0" bIns="0" rtlCol="0">
            <a:spAutoFit/>
          </a:bodyPr>
          <a:lstStyle/>
          <a:p>
            <a:pPr marL="12700">
              <a:lnSpc>
                <a:spcPct val="100000"/>
              </a:lnSpc>
              <a:spcBef>
                <a:spcPts val="105"/>
              </a:spcBef>
            </a:pPr>
            <a:r>
              <a:rPr spc="-10" dirty="0"/>
              <a:t>Network-</a:t>
            </a:r>
            <a:r>
              <a:rPr dirty="0"/>
              <a:t>centric</a:t>
            </a:r>
            <a:r>
              <a:rPr spc="-30" dirty="0"/>
              <a:t> </a:t>
            </a:r>
            <a:r>
              <a:rPr spc="-10" dirty="0"/>
              <a:t>computing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440842" y="1587830"/>
            <a:ext cx="8336915" cy="3185160"/>
          </a:xfrm>
          <a:prstGeom prst="rect">
            <a:avLst/>
          </a:prstGeom>
        </p:spPr>
        <p:txBody>
          <a:bodyPr vert="horz" wrap="square" lIns="0" tIns="13335" rIns="0" bIns="0" rtlCol="0">
            <a:spAutoFit/>
          </a:bodyPr>
          <a:lstStyle/>
          <a:p>
            <a:pPr marL="354965" indent="-342265">
              <a:lnSpc>
                <a:spcPct val="100000"/>
              </a:lnSpc>
              <a:spcBef>
                <a:spcPts val="105"/>
              </a:spcBef>
              <a:buClr>
                <a:srgbClr val="00007C"/>
              </a:buClr>
              <a:buSzPct val="75000"/>
              <a:buFont typeface="Wingdings"/>
              <a:buChar char=""/>
              <a:tabLst>
                <a:tab pos="354965" algn="l"/>
              </a:tabLst>
            </a:pPr>
            <a:r>
              <a:rPr sz="2000" dirty="0">
                <a:latin typeface="Arial"/>
                <a:cs typeface="Arial"/>
              </a:rPr>
              <a:t>Information</a:t>
            </a:r>
            <a:r>
              <a:rPr sz="2000" spc="-65" dirty="0">
                <a:latin typeface="Arial"/>
                <a:cs typeface="Arial"/>
              </a:rPr>
              <a:t> </a:t>
            </a:r>
            <a:r>
              <a:rPr sz="2000" dirty="0">
                <a:latin typeface="Arial"/>
                <a:cs typeface="Arial"/>
              </a:rPr>
              <a:t>processing</a:t>
            </a:r>
            <a:r>
              <a:rPr sz="2000" spc="-60" dirty="0">
                <a:latin typeface="Arial"/>
                <a:cs typeface="Arial"/>
              </a:rPr>
              <a:t> </a:t>
            </a:r>
            <a:r>
              <a:rPr sz="2000" dirty="0">
                <a:latin typeface="Arial"/>
                <a:cs typeface="Arial"/>
              </a:rPr>
              <a:t>can</a:t>
            </a:r>
            <a:r>
              <a:rPr sz="2000" spc="-30" dirty="0">
                <a:latin typeface="Arial"/>
                <a:cs typeface="Arial"/>
              </a:rPr>
              <a:t> </a:t>
            </a:r>
            <a:r>
              <a:rPr sz="2000" dirty="0">
                <a:latin typeface="Arial"/>
                <a:cs typeface="Arial"/>
              </a:rPr>
              <a:t>be</a:t>
            </a:r>
            <a:r>
              <a:rPr sz="2000" spc="-35" dirty="0">
                <a:latin typeface="Arial"/>
                <a:cs typeface="Arial"/>
              </a:rPr>
              <a:t> </a:t>
            </a:r>
            <a:r>
              <a:rPr sz="2000" dirty="0">
                <a:latin typeface="Arial"/>
                <a:cs typeface="Arial"/>
              </a:rPr>
              <a:t>done</a:t>
            </a:r>
            <a:r>
              <a:rPr sz="2000" spc="-30" dirty="0">
                <a:latin typeface="Arial"/>
                <a:cs typeface="Arial"/>
              </a:rPr>
              <a:t> </a:t>
            </a:r>
            <a:r>
              <a:rPr sz="2000" dirty="0">
                <a:latin typeface="Arial"/>
                <a:cs typeface="Arial"/>
              </a:rPr>
              <a:t>more</a:t>
            </a:r>
            <a:r>
              <a:rPr sz="2000" spc="-45" dirty="0">
                <a:latin typeface="Arial"/>
                <a:cs typeface="Arial"/>
              </a:rPr>
              <a:t> </a:t>
            </a:r>
            <a:r>
              <a:rPr sz="2000" dirty="0">
                <a:latin typeface="Arial"/>
                <a:cs typeface="Arial"/>
              </a:rPr>
              <a:t>efficiently</a:t>
            </a:r>
            <a:r>
              <a:rPr sz="2000" spc="-45" dirty="0">
                <a:latin typeface="Arial"/>
                <a:cs typeface="Arial"/>
              </a:rPr>
              <a:t> </a:t>
            </a:r>
            <a:r>
              <a:rPr sz="2000" dirty="0">
                <a:latin typeface="Arial"/>
                <a:cs typeface="Arial"/>
              </a:rPr>
              <a:t>on</a:t>
            </a:r>
            <a:r>
              <a:rPr sz="2000" spc="-20" dirty="0">
                <a:latin typeface="Arial"/>
                <a:cs typeface="Arial"/>
              </a:rPr>
              <a:t> </a:t>
            </a:r>
            <a:r>
              <a:rPr sz="2000" dirty="0">
                <a:latin typeface="Arial"/>
                <a:cs typeface="Arial"/>
              </a:rPr>
              <a:t>large</a:t>
            </a:r>
            <a:r>
              <a:rPr sz="2000" spc="-40" dirty="0">
                <a:latin typeface="Arial"/>
                <a:cs typeface="Arial"/>
              </a:rPr>
              <a:t> </a:t>
            </a:r>
            <a:r>
              <a:rPr sz="2000" dirty="0">
                <a:latin typeface="Arial"/>
                <a:cs typeface="Arial"/>
              </a:rPr>
              <a:t>farms</a:t>
            </a:r>
            <a:r>
              <a:rPr sz="2000" spc="-45" dirty="0">
                <a:latin typeface="Arial"/>
                <a:cs typeface="Arial"/>
              </a:rPr>
              <a:t> </a:t>
            </a:r>
            <a:r>
              <a:rPr sz="2000" spc="-25" dirty="0">
                <a:latin typeface="Arial"/>
                <a:cs typeface="Arial"/>
              </a:rPr>
              <a:t>of</a:t>
            </a:r>
            <a:endParaRPr sz="2000">
              <a:latin typeface="Arial"/>
              <a:cs typeface="Arial"/>
            </a:endParaRPr>
          </a:p>
          <a:p>
            <a:pPr marL="355600">
              <a:lnSpc>
                <a:spcPct val="100000"/>
              </a:lnSpc>
            </a:pPr>
            <a:r>
              <a:rPr sz="2000" dirty="0">
                <a:latin typeface="Arial"/>
                <a:cs typeface="Arial"/>
              </a:rPr>
              <a:t>computing</a:t>
            </a:r>
            <a:r>
              <a:rPr sz="2000" spc="-50" dirty="0">
                <a:latin typeface="Arial"/>
                <a:cs typeface="Arial"/>
              </a:rPr>
              <a:t> </a:t>
            </a:r>
            <a:r>
              <a:rPr sz="2000" dirty="0">
                <a:latin typeface="Arial"/>
                <a:cs typeface="Arial"/>
              </a:rPr>
              <a:t>and</a:t>
            </a:r>
            <a:r>
              <a:rPr sz="2000" spc="-30" dirty="0">
                <a:latin typeface="Arial"/>
                <a:cs typeface="Arial"/>
              </a:rPr>
              <a:t> </a:t>
            </a:r>
            <a:r>
              <a:rPr sz="2000" dirty="0">
                <a:latin typeface="Arial"/>
                <a:cs typeface="Arial"/>
              </a:rPr>
              <a:t>storage</a:t>
            </a:r>
            <a:r>
              <a:rPr sz="2000" spc="-50" dirty="0">
                <a:latin typeface="Arial"/>
                <a:cs typeface="Arial"/>
              </a:rPr>
              <a:t> </a:t>
            </a:r>
            <a:r>
              <a:rPr sz="2000" dirty="0">
                <a:latin typeface="Arial"/>
                <a:cs typeface="Arial"/>
              </a:rPr>
              <a:t>systems</a:t>
            </a:r>
            <a:r>
              <a:rPr sz="2000" spc="-55" dirty="0">
                <a:latin typeface="Arial"/>
                <a:cs typeface="Arial"/>
              </a:rPr>
              <a:t> </a:t>
            </a:r>
            <a:r>
              <a:rPr sz="2000" dirty="0">
                <a:latin typeface="Arial"/>
                <a:cs typeface="Arial"/>
              </a:rPr>
              <a:t>accessible</a:t>
            </a:r>
            <a:r>
              <a:rPr sz="2000" spc="-55" dirty="0">
                <a:latin typeface="Arial"/>
                <a:cs typeface="Arial"/>
              </a:rPr>
              <a:t> </a:t>
            </a:r>
            <a:r>
              <a:rPr sz="2000" dirty="0">
                <a:latin typeface="Arial"/>
                <a:cs typeface="Arial"/>
              </a:rPr>
              <a:t>via</a:t>
            </a:r>
            <a:r>
              <a:rPr sz="2000" spc="-15" dirty="0">
                <a:latin typeface="Arial"/>
                <a:cs typeface="Arial"/>
              </a:rPr>
              <a:t> </a:t>
            </a:r>
            <a:r>
              <a:rPr sz="2000" dirty="0">
                <a:latin typeface="Arial"/>
                <a:cs typeface="Arial"/>
              </a:rPr>
              <a:t>the</a:t>
            </a:r>
            <a:r>
              <a:rPr sz="2000" spc="-35" dirty="0">
                <a:latin typeface="Arial"/>
                <a:cs typeface="Arial"/>
              </a:rPr>
              <a:t> </a:t>
            </a:r>
            <a:r>
              <a:rPr sz="2000" spc="-10" dirty="0">
                <a:latin typeface="Arial"/>
                <a:cs typeface="Arial"/>
              </a:rPr>
              <a:t>Internet.</a:t>
            </a:r>
            <a:endParaRPr sz="2000">
              <a:latin typeface="Arial"/>
              <a:cs typeface="Arial"/>
            </a:endParaRPr>
          </a:p>
          <a:p>
            <a:pPr marL="756285" marR="5080" lvl="1" indent="-287020">
              <a:lnSpc>
                <a:spcPct val="100000"/>
              </a:lnSpc>
              <a:spcBef>
                <a:spcPts val="440"/>
              </a:spcBef>
              <a:buClr>
                <a:srgbClr val="9999CC"/>
              </a:buClr>
              <a:buSzPct val="80555"/>
              <a:buFont typeface="Wingdings"/>
              <a:buChar char=""/>
              <a:tabLst>
                <a:tab pos="756285" algn="l"/>
              </a:tabLst>
            </a:pPr>
            <a:r>
              <a:rPr sz="1800" dirty="0">
                <a:latin typeface="Arial"/>
                <a:cs typeface="Arial"/>
              </a:rPr>
              <a:t>Grid</a:t>
            </a:r>
            <a:r>
              <a:rPr sz="1800" spc="-25" dirty="0">
                <a:latin typeface="Arial"/>
                <a:cs typeface="Arial"/>
              </a:rPr>
              <a:t> </a:t>
            </a:r>
            <a:r>
              <a:rPr sz="1800" dirty="0">
                <a:latin typeface="Arial"/>
                <a:cs typeface="Arial"/>
              </a:rPr>
              <a:t>computing</a:t>
            </a:r>
            <a:r>
              <a:rPr sz="1800" spc="-10" dirty="0">
                <a:latin typeface="Arial"/>
                <a:cs typeface="Arial"/>
              </a:rPr>
              <a:t> </a:t>
            </a:r>
            <a:r>
              <a:rPr sz="1800" dirty="0">
                <a:latin typeface="Arial"/>
                <a:cs typeface="Arial"/>
              </a:rPr>
              <a:t>–</a:t>
            </a:r>
            <a:r>
              <a:rPr sz="1800" spc="-25" dirty="0">
                <a:latin typeface="Arial"/>
                <a:cs typeface="Arial"/>
              </a:rPr>
              <a:t> </a:t>
            </a:r>
            <a:r>
              <a:rPr sz="1800" dirty="0">
                <a:latin typeface="Arial"/>
                <a:cs typeface="Arial"/>
              </a:rPr>
              <a:t>initiated</a:t>
            </a:r>
            <a:r>
              <a:rPr sz="1800" spc="-5" dirty="0">
                <a:latin typeface="Arial"/>
                <a:cs typeface="Arial"/>
              </a:rPr>
              <a:t> </a:t>
            </a:r>
            <a:r>
              <a:rPr sz="1800" dirty="0">
                <a:latin typeface="Arial"/>
                <a:cs typeface="Arial"/>
              </a:rPr>
              <a:t>by</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National</a:t>
            </a:r>
            <a:r>
              <a:rPr sz="1800" spc="-10" dirty="0">
                <a:latin typeface="Arial"/>
                <a:cs typeface="Arial"/>
              </a:rPr>
              <a:t> </a:t>
            </a:r>
            <a:r>
              <a:rPr sz="1800" dirty="0">
                <a:latin typeface="Arial"/>
                <a:cs typeface="Arial"/>
              </a:rPr>
              <a:t>Labs</a:t>
            </a:r>
            <a:r>
              <a:rPr sz="1800" spc="-20" dirty="0">
                <a:latin typeface="Arial"/>
                <a:cs typeface="Arial"/>
              </a:rPr>
              <a:t> </a:t>
            </a:r>
            <a:r>
              <a:rPr sz="1800" dirty="0">
                <a:latin typeface="Arial"/>
                <a:cs typeface="Arial"/>
              </a:rPr>
              <a:t>in</a:t>
            </a:r>
            <a:r>
              <a:rPr sz="1800" spc="-3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early</a:t>
            </a:r>
            <a:r>
              <a:rPr sz="1800" spc="-10" dirty="0">
                <a:latin typeface="Arial"/>
                <a:cs typeface="Arial"/>
              </a:rPr>
              <a:t> </a:t>
            </a:r>
            <a:r>
              <a:rPr sz="1800" dirty="0">
                <a:latin typeface="Arial"/>
                <a:cs typeface="Arial"/>
              </a:rPr>
              <a:t>1990s;</a:t>
            </a:r>
            <a:r>
              <a:rPr sz="1800" spc="-5" dirty="0">
                <a:latin typeface="Arial"/>
                <a:cs typeface="Arial"/>
              </a:rPr>
              <a:t> </a:t>
            </a:r>
            <a:r>
              <a:rPr sz="1800" spc="-10" dirty="0">
                <a:latin typeface="Arial"/>
                <a:cs typeface="Arial"/>
              </a:rPr>
              <a:t>targeted </a:t>
            </a:r>
            <a:r>
              <a:rPr sz="1800" dirty="0">
                <a:latin typeface="Arial"/>
                <a:cs typeface="Arial"/>
              </a:rPr>
              <a:t>primarily</a:t>
            </a:r>
            <a:r>
              <a:rPr sz="1800" spc="-35" dirty="0">
                <a:latin typeface="Arial"/>
                <a:cs typeface="Arial"/>
              </a:rPr>
              <a:t> </a:t>
            </a:r>
            <a:r>
              <a:rPr sz="1800" dirty="0">
                <a:latin typeface="Arial"/>
                <a:cs typeface="Arial"/>
              </a:rPr>
              <a:t>at</a:t>
            </a:r>
            <a:r>
              <a:rPr sz="1800" spc="-40" dirty="0">
                <a:latin typeface="Arial"/>
                <a:cs typeface="Arial"/>
              </a:rPr>
              <a:t> </a:t>
            </a:r>
            <a:r>
              <a:rPr sz="1800" dirty="0">
                <a:latin typeface="Arial"/>
                <a:cs typeface="Arial"/>
              </a:rPr>
              <a:t>scientific</a:t>
            </a:r>
            <a:r>
              <a:rPr sz="1800" spc="-35" dirty="0">
                <a:latin typeface="Arial"/>
                <a:cs typeface="Arial"/>
              </a:rPr>
              <a:t> </a:t>
            </a:r>
            <a:r>
              <a:rPr sz="1800" spc="-10" dirty="0">
                <a:latin typeface="Arial"/>
                <a:cs typeface="Arial"/>
              </a:rPr>
              <a:t>computing.</a:t>
            </a:r>
            <a:endParaRPr sz="1800">
              <a:latin typeface="Arial"/>
              <a:cs typeface="Arial"/>
            </a:endParaRPr>
          </a:p>
          <a:p>
            <a:pPr marL="756285" marR="117475" lvl="1" indent="-287020">
              <a:lnSpc>
                <a:spcPct val="100000"/>
              </a:lnSpc>
              <a:spcBef>
                <a:spcPts val="430"/>
              </a:spcBef>
              <a:buClr>
                <a:srgbClr val="9999CC"/>
              </a:buClr>
              <a:buSzPct val="80555"/>
              <a:buFont typeface="Wingdings"/>
              <a:buChar char=""/>
              <a:tabLst>
                <a:tab pos="756285" algn="l"/>
              </a:tabLst>
            </a:pPr>
            <a:r>
              <a:rPr sz="1800" dirty="0">
                <a:latin typeface="Arial"/>
                <a:cs typeface="Arial"/>
              </a:rPr>
              <a:t>Utility</a:t>
            </a:r>
            <a:r>
              <a:rPr sz="1800" spc="-25" dirty="0">
                <a:latin typeface="Arial"/>
                <a:cs typeface="Arial"/>
              </a:rPr>
              <a:t> </a:t>
            </a:r>
            <a:r>
              <a:rPr sz="1800" dirty="0">
                <a:latin typeface="Arial"/>
                <a:cs typeface="Arial"/>
              </a:rPr>
              <a:t>computing –</a:t>
            </a:r>
            <a:r>
              <a:rPr sz="1800" spc="-25" dirty="0">
                <a:latin typeface="Arial"/>
                <a:cs typeface="Arial"/>
              </a:rPr>
              <a:t> </a:t>
            </a:r>
            <a:r>
              <a:rPr sz="1800" dirty="0">
                <a:latin typeface="Arial"/>
                <a:cs typeface="Arial"/>
              </a:rPr>
              <a:t>initiated</a:t>
            </a:r>
            <a:r>
              <a:rPr sz="1800" spc="-20" dirty="0">
                <a:latin typeface="Arial"/>
                <a:cs typeface="Arial"/>
              </a:rPr>
              <a:t> </a:t>
            </a:r>
            <a:r>
              <a:rPr sz="1800" dirty="0">
                <a:latin typeface="Arial"/>
                <a:cs typeface="Arial"/>
              </a:rPr>
              <a:t>in</a:t>
            </a:r>
            <a:r>
              <a:rPr sz="1800" spc="-30" dirty="0">
                <a:latin typeface="Arial"/>
                <a:cs typeface="Arial"/>
              </a:rPr>
              <a:t> </a:t>
            </a:r>
            <a:r>
              <a:rPr sz="1800" spc="-10" dirty="0">
                <a:latin typeface="Arial"/>
                <a:cs typeface="Arial"/>
              </a:rPr>
              <a:t>2005-</a:t>
            </a:r>
            <a:r>
              <a:rPr sz="1800" dirty="0">
                <a:latin typeface="Arial"/>
                <a:cs typeface="Arial"/>
              </a:rPr>
              <a:t>2006 by</a:t>
            </a:r>
            <a:r>
              <a:rPr sz="1800" spc="-30" dirty="0">
                <a:latin typeface="Arial"/>
                <a:cs typeface="Arial"/>
              </a:rPr>
              <a:t> </a:t>
            </a:r>
            <a:r>
              <a:rPr sz="1800" dirty="0">
                <a:latin typeface="Arial"/>
                <a:cs typeface="Arial"/>
              </a:rPr>
              <a:t>IT</a:t>
            </a:r>
            <a:r>
              <a:rPr sz="1800" spc="-25" dirty="0">
                <a:latin typeface="Arial"/>
                <a:cs typeface="Arial"/>
              </a:rPr>
              <a:t> </a:t>
            </a:r>
            <a:r>
              <a:rPr sz="1800" dirty="0">
                <a:latin typeface="Arial"/>
                <a:cs typeface="Arial"/>
              </a:rPr>
              <a:t>companies</a:t>
            </a:r>
            <a:r>
              <a:rPr sz="1800" spc="-15" dirty="0">
                <a:latin typeface="Arial"/>
                <a:cs typeface="Arial"/>
              </a:rPr>
              <a:t> </a:t>
            </a:r>
            <a:r>
              <a:rPr sz="1800" dirty="0">
                <a:latin typeface="Arial"/>
                <a:cs typeface="Arial"/>
              </a:rPr>
              <a:t>and</a:t>
            </a:r>
            <a:r>
              <a:rPr sz="1800" spc="-15" dirty="0">
                <a:latin typeface="Arial"/>
                <a:cs typeface="Arial"/>
              </a:rPr>
              <a:t> </a:t>
            </a:r>
            <a:r>
              <a:rPr sz="1800" dirty="0">
                <a:latin typeface="Arial"/>
                <a:cs typeface="Arial"/>
              </a:rPr>
              <a:t>targeted</a:t>
            </a:r>
            <a:r>
              <a:rPr sz="1800" spc="-20" dirty="0">
                <a:latin typeface="Arial"/>
                <a:cs typeface="Arial"/>
              </a:rPr>
              <a:t> </a:t>
            </a:r>
            <a:r>
              <a:rPr sz="1800" spc="-25" dirty="0">
                <a:latin typeface="Arial"/>
                <a:cs typeface="Arial"/>
              </a:rPr>
              <a:t>at </a:t>
            </a:r>
            <a:r>
              <a:rPr sz="1800" dirty="0">
                <a:latin typeface="Arial"/>
                <a:cs typeface="Arial"/>
              </a:rPr>
              <a:t>enterprise</a:t>
            </a:r>
            <a:r>
              <a:rPr sz="1800" spc="-50" dirty="0">
                <a:latin typeface="Arial"/>
                <a:cs typeface="Arial"/>
              </a:rPr>
              <a:t> </a:t>
            </a:r>
            <a:r>
              <a:rPr sz="1800" spc="-10" dirty="0">
                <a:latin typeface="Arial"/>
                <a:cs typeface="Arial"/>
              </a:rPr>
              <a:t>computing.</a:t>
            </a:r>
            <a:endParaRPr sz="1800">
              <a:latin typeface="Arial"/>
              <a:cs typeface="Arial"/>
            </a:endParaRPr>
          </a:p>
          <a:p>
            <a:pPr marL="355600" marR="354965" indent="-342900">
              <a:lnSpc>
                <a:spcPct val="100000"/>
              </a:lnSpc>
              <a:spcBef>
                <a:spcPts val="475"/>
              </a:spcBef>
              <a:buClr>
                <a:srgbClr val="00007C"/>
              </a:buClr>
              <a:buSzPct val="75000"/>
              <a:buFont typeface="Wingdings"/>
              <a:buChar char=""/>
              <a:tabLst>
                <a:tab pos="355600" algn="l"/>
              </a:tabLst>
            </a:pPr>
            <a:r>
              <a:rPr sz="2000" dirty="0">
                <a:latin typeface="Arial"/>
                <a:cs typeface="Arial"/>
              </a:rPr>
              <a:t>The</a:t>
            </a:r>
            <a:r>
              <a:rPr sz="2000" spc="-25" dirty="0">
                <a:latin typeface="Arial"/>
                <a:cs typeface="Arial"/>
              </a:rPr>
              <a:t> </a:t>
            </a:r>
            <a:r>
              <a:rPr sz="2000" dirty="0">
                <a:latin typeface="Arial"/>
                <a:cs typeface="Arial"/>
              </a:rPr>
              <a:t>focus</a:t>
            </a:r>
            <a:r>
              <a:rPr sz="2000" spc="-35" dirty="0">
                <a:latin typeface="Arial"/>
                <a:cs typeface="Arial"/>
              </a:rPr>
              <a:t> </a:t>
            </a:r>
            <a:r>
              <a:rPr sz="2000" dirty="0">
                <a:latin typeface="Arial"/>
                <a:cs typeface="Arial"/>
              </a:rPr>
              <a:t>of</a:t>
            </a:r>
            <a:r>
              <a:rPr sz="2000" spc="-25" dirty="0">
                <a:latin typeface="Arial"/>
                <a:cs typeface="Arial"/>
              </a:rPr>
              <a:t> </a:t>
            </a:r>
            <a:r>
              <a:rPr sz="2000" dirty="0">
                <a:latin typeface="Arial"/>
                <a:cs typeface="Arial"/>
              </a:rPr>
              <a:t>utility</a:t>
            </a:r>
            <a:r>
              <a:rPr sz="2000" spc="5" dirty="0">
                <a:latin typeface="Arial"/>
                <a:cs typeface="Arial"/>
              </a:rPr>
              <a:t> </a:t>
            </a:r>
            <a:r>
              <a:rPr sz="2000" dirty="0">
                <a:latin typeface="Arial"/>
                <a:cs typeface="Arial"/>
              </a:rPr>
              <a:t>computing</a:t>
            </a:r>
            <a:r>
              <a:rPr sz="2000" spc="-45" dirty="0">
                <a:latin typeface="Arial"/>
                <a:cs typeface="Arial"/>
              </a:rPr>
              <a:t> </a:t>
            </a:r>
            <a:r>
              <a:rPr sz="2000" dirty="0">
                <a:latin typeface="Arial"/>
                <a:cs typeface="Arial"/>
              </a:rPr>
              <a:t>is</a:t>
            </a:r>
            <a:r>
              <a:rPr sz="2000" spc="-10" dirty="0">
                <a:latin typeface="Arial"/>
                <a:cs typeface="Arial"/>
              </a:rPr>
              <a:t> </a:t>
            </a:r>
            <a:r>
              <a:rPr sz="2000" dirty="0">
                <a:latin typeface="Arial"/>
                <a:cs typeface="Arial"/>
              </a:rPr>
              <a:t>on</a:t>
            </a:r>
            <a:r>
              <a:rPr sz="2000" spc="-25" dirty="0">
                <a:latin typeface="Arial"/>
                <a:cs typeface="Arial"/>
              </a:rPr>
              <a:t> </a:t>
            </a:r>
            <a:r>
              <a:rPr sz="2000" dirty="0">
                <a:latin typeface="Arial"/>
                <a:cs typeface="Arial"/>
              </a:rPr>
              <a:t>the</a:t>
            </a:r>
            <a:r>
              <a:rPr sz="2000" spc="-25" dirty="0">
                <a:latin typeface="Arial"/>
                <a:cs typeface="Arial"/>
              </a:rPr>
              <a:t> </a:t>
            </a:r>
            <a:r>
              <a:rPr sz="2000" dirty="0">
                <a:latin typeface="Arial"/>
                <a:cs typeface="Arial"/>
              </a:rPr>
              <a:t>business</a:t>
            </a:r>
            <a:r>
              <a:rPr sz="2000" spc="-45" dirty="0">
                <a:latin typeface="Arial"/>
                <a:cs typeface="Arial"/>
              </a:rPr>
              <a:t> </a:t>
            </a:r>
            <a:r>
              <a:rPr sz="2000" dirty="0">
                <a:latin typeface="Arial"/>
                <a:cs typeface="Arial"/>
              </a:rPr>
              <a:t>model</a:t>
            </a:r>
            <a:r>
              <a:rPr sz="2000" spc="-25" dirty="0">
                <a:latin typeface="Arial"/>
                <a:cs typeface="Arial"/>
              </a:rPr>
              <a:t> </a:t>
            </a:r>
            <a:r>
              <a:rPr sz="2000" dirty="0">
                <a:latin typeface="Arial"/>
                <a:cs typeface="Arial"/>
              </a:rPr>
              <a:t>for</a:t>
            </a:r>
            <a:r>
              <a:rPr sz="2000" spc="-20" dirty="0">
                <a:latin typeface="Arial"/>
                <a:cs typeface="Arial"/>
              </a:rPr>
              <a:t> </a:t>
            </a:r>
            <a:r>
              <a:rPr sz="2000" spc="-10" dirty="0">
                <a:latin typeface="Arial"/>
                <a:cs typeface="Arial"/>
              </a:rPr>
              <a:t>providing </a:t>
            </a:r>
            <a:r>
              <a:rPr sz="2000" dirty="0">
                <a:latin typeface="Arial"/>
                <a:cs typeface="Arial"/>
              </a:rPr>
              <a:t>computing</a:t>
            </a:r>
            <a:r>
              <a:rPr sz="2000" spc="-35" dirty="0">
                <a:latin typeface="Arial"/>
                <a:cs typeface="Arial"/>
              </a:rPr>
              <a:t> </a:t>
            </a:r>
            <a:r>
              <a:rPr sz="2000" dirty="0">
                <a:latin typeface="Arial"/>
                <a:cs typeface="Arial"/>
              </a:rPr>
              <a:t>services;</a:t>
            </a:r>
            <a:r>
              <a:rPr sz="2000" spc="-45" dirty="0">
                <a:latin typeface="Arial"/>
                <a:cs typeface="Arial"/>
              </a:rPr>
              <a:t> </a:t>
            </a:r>
            <a:r>
              <a:rPr sz="2000" dirty="0">
                <a:latin typeface="Arial"/>
                <a:cs typeface="Arial"/>
              </a:rPr>
              <a:t>it</a:t>
            </a:r>
            <a:r>
              <a:rPr sz="2000" spc="-15" dirty="0">
                <a:latin typeface="Arial"/>
                <a:cs typeface="Arial"/>
              </a:rPr>
              <a:t> </a:t>
            </a:r>
            <a:r>
              <a:rPr sz="2000" dirty="0">
                <a:latin typeface="Arial"/>
                <a:cs typeface="Arial"/>
              </a:rPr>
              <a:t>often</a:t>
            </a:r>
            <a:r>
              <a:rPr sz="2000" spc="-20" dirty="0">
                <a:latin typeface="Arial"/>
                <a:cs typeface="Arial"/>
              </a:rPr>
              <a:t> </a:t>
            </a:r>
            <a:r>
              <a:rPr sz="2000" dirty="0">
                <a:latin typeface="Arial"/>
                <a:cs typeface="Arial"/>
              </a:rPr>
              <a:t>requires</a:t>
            </a:r>
            <a:r>
              <a:rPr sz="2000" spc="-50" dirty="0">
                <a:latin typeface="Arial"/>
                <a:cs typeface="Arial"/>
              </a:rPr>
              <a:t> </a:t>
            </a:r>
            <a:r>
              <a:rPr sz="2000" dirty="0">
                <a:latin typeface="Arial"/>
                <a:cs typeface="Arial"/>
              </a:rPr>
              <a:t>a</a:t>
            </a:r>
            <a:r>
              <a:rPr sz="2000" spc="-5" dirty="0">
                <a:latin typeface="Arial"/>
                <a:cs typeface="Arial"/>
              </a:rPr>
              <a:t> </a:t>
            </a:r>
            <a:r>
              <a:rPr sz="2000" spc="-10" dirty="0">
                <a:latin typeface="Arial"/>
                <a:cs typeface="Arial"/>
              </a:rPr>
              <a:t>cloud-</a:t>
            </a:r>
            <a:r>
              <a:rPr sz="2000" dirty="0">
                <a:latin typeface="Arial"/>
                <a:cs typeface="Arial"/>
              </a:rPr>
              <a:t>like</a:t>
            </a:r>
            <a:r>
              <a:rPr sz="2000" spc="-25" dirty="0">
                <a:latin typeface="Arial"/>
                <a:cs typeface="Arial"/>
              </a:rPr>
              <a:t> </a:t>
            </a:r>
            <a:r>
              <a:rPr sz="2000" spc="-10" dirty="0">
                <a:latin typeface="Arial"/>
                <a:cs typeface="Arial"/>
              </a:rPr>
              <a:t>infrastructure.</a:t>
            </a:r>
            <a:endParaRPr sz="2000">
              <a:latin typeface="Arial"/>
              <a:cs typeface="Arial"/>
            </a:endParaRPr>
          </a:p>
          <a:p>
            <a:pPr marL="354965" indent="-342265">
              <a:lnSpc>
                <a:spcPct val="100000"/>
              </a:lnSpc>
              <a:spcBef>
                <a:spcPts val="484"/>
              </a:spcBef>
              <a:buClr>
                <a:srgbClr val="00007C"/>
              </a:buClr>
              <a:buSzPct val="75000"/>
              <a:buFont typeface="Wingdings"/>
              <a:buChar char=""/>
              <a:tabLst>
                <a:tab pos="354965" algn="l"/>
              </a:tabLst>
            </a:pPr>
            <a:r>
              <a:rPr sz="2000" dirty="0">
                <a:latin typeface="Arial"/>
                <a:cs typeface="Arial"/>
              </a:rPr>
              <a:t>Cloud</a:t>
            </a:r>
            <a:r>
              <a:rPr sz="2000" spc="-35" dirty="0">
                <a:latin typeface="Arial"/>
                <a:cs typeface="Arial"/>
              </a:rPr>
              <a:t> </a:t>
            </a:r>
            <a:r>
              <a:rPr sz="2000" dirty="0">
                <a:latin typeface="Arial"/>
                <a:cs typeface="Arial"/>
              </a:rPr>
              <a:t>computing</a:t>
            </a:r>
            <a:r>
              <a:rPr sz="2000" spc="-50" dirty="0">
                <a:latin typeface="Arial"/>
                <a:cs typeface="Arial"/>
              </a:rPr>
              <a:t> </a:t>
            </a:r>
            <a:r>
              <a:rPr sz="2000" dirty="0">
                <a:latin typeface="Arial"/>
                <a:cs typeface="Arial"/>
              </a:rPr>
              <a:t>is</a:t>
            </a:r>
            <a:r>
              <a:rPr sz="2000" spc="-20" dirty="0">
                <a:latin typeface="Arial"/>
                <a:cs typeface="Arial"/>
              </a:rPr>
              <a:t> </a:t>
            </a:r>
            <a:r>
              <a:rPr sz="2000" dirty="0">
                <a:latin typeface="Arial"/>
                <a:cs typeface="Arial"/>
              </a:rPr>
              <a:t>a</a:t>
            </a:r>
            <a:r>
              <a:rPr sz="2000" spc="-40" dirty="0">
                <a:latin typeface="Arial"/>
                <a:cs typeface="Arial"/>
              </a:rPr>
              <a:t> </a:t>
            </a:r>
            <a:r>
              <a:rPr sz="2000" dirty="0">
                <a:latin typeface="Arial"/>
                <a:cs typeface="Arial"/>
              </a:rPr>
              <a:t>path</a:t>
            </a:r>
            <a:r>
              <a:rPr sz="2000" spc="-40" dirty="0">
                <a:latin typeface="Arial"/>
                <a:cs typeface="Arial"/>
              </a:rPr>
              <a:t> </a:t>
            </a:r>
            <a:r>
              <a:rPr sz="2000" dirty="0">
                <a:latin typeface="Arial"/>
                <a:cs typeface="Arial"/>
              </a:rPr>
              <a:t>to</a:t>
            </a:r>
            <a:r>
              <a:rPr sz="2000" spc="-45" dirty="0">
                <a:latin typeface="Arial"/>
                <a:cs typeface="Arial"/>
              </a:rPr>
              <a:t> </a:t>
            </a:r>
            <a:r>
              <a:rPr sz="2000" dirty="0">
                <a:latin typeface="Arial"/>
                <a:cs typeface="Arial"/>
              </a:rPr>
              <a:t>utility</a:t>
            </a:r>
            <a:r>
              <a:rPr sz="2000" spc="-20" dirty="0">
                <a:latin typeface="Arial"/>
                <a:cs typeface="Arial"/>
              </a:rPr>
              <a:t> </a:t>
            </a:r>
            <a:r>
              <a:rPr sz="2000" dirty="0">
                <a:latin typeface="Arial"/>
                <a:cs typeface="Arial"/>
              </a:rPr>
              <a:t>computing</a:t>
            </a:r>
            <a:r>
              <a:rPr sz="2000" spc="-55" dirty="0">
                <a:latin typeface="Arial"/>
                <a:cs typeface="Arial"/>
              </a:rPr>
              <a:t> </a:t>
            </a:r>
            <a:r>
              <a:rPr sz="2000" dirty="0">
                <a:latin typeface="Arial"/>
                <a:cs typeface="Arial"/>
              </a:rPr>
              <a:t>embraced</a:t>
            </a:r>
            <a:r>
              <a:rPr sz="2000" spc="-70" dirty="0">
                <a:latin typeface="Arial"/>
                <a:cs typeface="Arial"/>
              </a:rPr>
              <a:t> </a:t>
            </a:r>
            <a:r>
              <a:rPr sz="2000" dirty="0">
                <a:latin typeface="Arial"/>
                <a:cs typeface="Arial"/>
              </a:rPr>
              <a:t>by</a:t>
            </a:r>
            <a:r>
              <a:rPr sz="2000" spc="-25" dirty="0">
                <a:latin typeface="Arial"/>
                <a:cs typeface="Arial"/>
              </a:rPr>
              <a:t> </a:t>
            </a:r>
            <a:r>
              <a:rPr sz="2000" dirty="0">
                <a:latin typeface="Arial"/>
                <a:cs typeface="Arial"/>
              </a:rPr>
              <a:t>major</a:t>
            </a:r>
            <a:r>
              <a:rPr sz="2000" spc="-30" dirty="0">
                <a:latin typeface="Arial"/>
                <a:cs typeface="Arial"/>
              </a:rPr>
              <a:t> </a:t>
            </a:r>
            <a:r>
              <a:rPr sz="2000" spc="-25" dirty="0">
                <a:latin typeface="Arial"/>
                <a:cs typeface="Arial"/>
              </a:rPr>
              <a:t>IT</a:t>
            </a:r>
            <a:endParaRPr sz="2000">
              <a:latin typeface="Arial"/>
              <a:cs typeface="Arial"/>
            </a:endParaRPr>
          </a:p>
          <a:p>
            <a:pPr marL="355600">
              <a:lnSpc>
                <a:spcPct val="100000"/>
              </a:lnSpc>
            </a:pPr>
            <a:r>
              <a:rPr sz="2000" dirty="0">
                <a:latin typeface="Arial"/>
                <a:cs typeface="Arial"/>
              </a:rPr>
              <a:t>companies</a:t>
            </a:r>
            <a:r>
              <a:rPr sz="2000" spc="-45" dirty="0">
                <a:latin typeface="Arial"/>
                <a:cs typeface="Arial"/>
              </a:rPr>
              <a:t> </a:t>
            </a:r>
            <a:r>
              <a:rPr sz="2000" dirty="0">
                <a:latin typeface="Arial"/>
                <a:cs typeface="Arial"/>
              </a:rPr>
              <a:t>including:</a:t>
            </a:r>
            <a:r>
              <a:rPr sz="2000" spc="-20" dirty="0">
                <a:latin typeface="Arial"/>
                <a:cs typeface="Arial"/>
              </a:rPr>
              <a:t> </a:t>
            </a:r>
            <a:r>
              <a:rPr sz="2000" dirty="0">
                <a:latin typeface="Arial"/>
                <a:cs typeface="Arial"/>
              </a:rPr>
              <a:t>Amazon,</a:t>
            </a:r>
            <a:r>
              <a:rPr sz="2000" spc="-40" dirty="0">
                <a:latin typeface="Arial"/>
                <a:cs typeface="Arial"/>
              </a:rPr>
              <a:t> </a:t>
            </a:r>
            <a:r>
              <a:rPr sz="2000" dirty="0">
                <a:latin typeface="Arial"/>
                <a:cs typeface="Arial"/>
              </a:rPr>
              <a:t>HP,</a:t>
            </a:r>
            <a:r>
              <a:rPr sz="2000" spc="-20" dirty="0">
                <a:latin typeface="Arial"/>
                <a:cs typeface="Arial"/>
              </a:rPr>
              <a:t> </a:t>
            </a:r>
            <a:r>
              <a:rPr sz="2000" dirty="0">
                <a:latin typeface="Arial"/>
                <a:cs typeface="Arial"/>
              </a:rPr>
              <a:t>IBM,</a:t>
            </a:r>
            <a:r>
              <a:rPr sz="2000" spc="-20" dirty="0">
                <a:latin typeface="Arial"/>
                <a:cs typeface="Arial"/>
              </a:rPr>
              <a:t> </a:t>
            </a:r>
            <a:r>
              <a:rPr sz="2000" dirty="0">
                <a:latin typeface="Arial"/>
                <a:cs typeface="Arial"/>
              </a:rPr>
              <a:t>Microsoft,</a:t>
            </a:r>
            <a:r>
              <a:rPr sz="2000" spc="-70" dirty="0">
                <a:latin typeface="Arial"/>
                <a:cs typeface="Arial"/>
              </a:rPr>
              <a:t> </a:t>
            </a:r>
            <a:r>
              <a:rPr sz="2000" dirty="0">
                <a:latin typeface="Arial"/>
                <a:cs typeface="Arial"/>
              </a:rPr>
              <a:t>Oracle,</a:t>
            </a:r>
            <a:r>
              <a:rPr sz="2000" spc="-45" dirty="0">
                <a:latin typeface="Arial"/>
                <a:cs typeface="Arial"/>
              </a:rPr>
              <a:t> </a:t>
            </a:r>
            <a:r>
              <a:rPr sz="2000" dirty="0">
                <a:latin typeface="Arial"/>
                <a:cs typeface="Arial"/>
              </a:rPr>
              <a:t>and</a:t>
            </a:r>
            <a:r>
              <a:rPr sz="2000" spc="-10" dirty="0">
                <a:latin typeface="Arial"/>
                <a:cs typeface="Arial"/>
              </a:rPr>
              <a:t> others.</a:t>
            </a:r>
            <a:endParaRPr sz="20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504825"/>
            <a:ext cx="4291330" cy="513715"/>
          </a:xfrm>
          <a:prstGeom prst="rect">
            <a:avLst/>
          </a:prstGeom>
        </p:spPr>
        <p:txBody>
          <a:bodyPr vert="horz" wrap="square" lIns="0" tIns="13335" rIns="0" bIns="0" rtlCol="0">
            <a:spAutoFit/>
          </a:bodyPr>
          <a:lstStyle/>
          <a:p>
            <a:pPr marL="12700">
              <a:lnSpc>
                <a:spcPct val="100000"/>
              </a:lnSpc>
              <a:spcBef>
                <a:spcPts val="105"/>
              </a:spcBef>
            </a:pPr>
            <a:r>
              <a:rPr spc="-10" dirty="0"/>
              <a:t>Network-</a:t>
            </a:r>
            <a:r>
              <a:rPr dirty="0"/>
              <a:t>centric</a:t>
            </a:r>
            <a:r>
              <a:rPr spc="10" dirty="0"/>
              <a:t> </a:t>
            </a:r>
            <a:r>
              <a:rPr spc="-10" dirty="0"/>
              <a:t>content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4</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a:spLocks noGrp="1"/>
          </p:cNvSpPr>
          <p:nvPr>
            <p:ph type="body" idx="1"/>
          </p:nvPr>
        </p:nvSpPr>
        <p:spPr>
          <a:prstGeom prst="rect">
            <a:avLst/>
          </a:prstGeom>
        </p:spPr>
        <p:txBody>
          <a:bodyPr vert="horz" wrap="square" lIns="0" tIns="184911" rIns="0" bIns="0" rtlCol="0">
            <a:spAutoFit/>
          </a:bodyPr>
          <a:lstStyle/>
          <a:p>
            <a:pPr marL="365125" marR="353060" indent="-342900">
              <a:lnSpc>
                <a:spcPct val="100000"/>
              </a:lnSpc>
              <a:spcBef>
                <a:spcPts val="105"/>
              </a:spcBef>
              <a:buClr>
                <a:srgbClr val="00007C"/>
              </a:buClr>
              <a:buSzPct val="75000"/>
              <a:buFont typeface="Wingdings"/>
              <a:buChar char=""/>
              <a:tabLst>
                <a:tab pos="365125" algn="l"/>
              </a:tabLst>
            </a:pPr>
            <a:r>
              <a:rPr dirty="0"/>
              <a:t>Content:</a:t>
            </a:r>
            <a:r>
              <a:rPr spc="-50" dirty="0"/>
              <a:t> </a:t>
            </a:r>
            <a:r>
              <a:rPr dirty="0"/>
              <a:t>any</a:t>
            </a:r>
            <a:r>
              <a:rPr spc="-20" dirty="0"/>
              <a:t> </a:t>
            </a:r>
            <a:r>
              <a:rPr dirty="0"/>
              <a:t>type</a:t>
            </a:r>
            <a:r>
              <a:rPr spc="-25" dirty="0"/>
              <a:t> </a:t>
            </a:r>
            <a:r>
              <a:rPr dirty="0"/>
              <a:t>or</a:t>
            </a:r>
            <a:r>
              <a:rPr spc="-25" dirty="0"/>
              <a:t> </a:t>
            </a:r>
            <a:r>
              <a:rPr dirty="0"/>
              <a:t>volume</a:t>
            </a:r>
            <a:r>
              <a:rPr spc="-30" dirty="0"/>
              <a:t> </a:t>
            </a:r>
            <a:r>
              <a:rPr dirty="0"/>
              <a:t>of</a:t>
            </a:r>
            <a:r>
              <a:rPr spc="-30" dirty="0"/>
              <a:t> </a:t>
            </a:r>
            <a:r>
              <a:rPr dirty="0"/>
              <a:t>media,</a:t>
            </a:r>
            <a:r>
              <a:rPr spc="-30" dirty="0"/>
              <a:t> </a:t>
            </a:r>
            <a:r>
              <a:rPr dirty="0"/>
              <a:t>be</a:t>
            </a:r>
            <a:r>
              <a:rPr spc="-10" dirty="0"/>
              <a:t> </a:t>
            </a:r>
            <a:r>
              <a:rPr dirty="0"/>
              <a:t>it</a:t>
            </a:r>
            <a:r>
              <a:rPr spc="-20" dirty="0"/>
              <a:t> </a:t>
            </a:r>
            <a:r>
              <a:rPr dirty="0"/>
              <a:t>static</a:t>
            </a:r>
            <a:r>
              <a:rPr spc="-35" dirty="0"/>
              <a:t> </a:t>
            </a:r>
            <a:r>
              <a:rPr dirty="0"/>
              <a:t>or</a:t>
            </a:r>
            <a:r>
              <a:rPr spc="-25" dirty="0"/>
              <a:t> </a:t>
            </a:r>
            <a:r>
              <a:rPr spc="-10" dirty="0"/>
              <a:t>dynamic, </a:t>
            </a:r>
            <a:r>
              <a:rPr dirty="0"/>
              <a:t>monolithic</a:t>
            </a:r>
            <a:r>
              <a:rPr spc="-20" dirty="0"/>
              <a:t> </a:t>
            </a:r>
            <a:r>
              <a:rPr dirty="0"/>
              <a:t>or</a:t>
            </a:r>
            <a:r>
              <a:rPr spc="-15" dirty="0"/>
              <a:t> </a:t>
            </a:r>
            <a:r>
              <a:rPr dirty="0"/>
              <a:t>modular,</a:t>
            </a:r>
            <a:r>
              <a:rPr spc="-45" dirty="0"/>
              <a:t> </a:t>
            </a:r>
            <a:r>
              <a:rPr dirty="0"/>
              <a:t>live</a:t>
            </a:r>
            <a:r>
              <a:rPr spc="5" dirty="0"/>
              <a:t> </a:t>
            </a:r>
            <a:r>
              <a:rPr dirty="0"/>
              <a:t>or</a:t>
            </a:r>
            <a:r>
              <a:rPr spc="-15" dirty="0"/>
              <a:t> </a:t>
            </a:r>
            <a:r>
              <a:rPr dirty="0"/>
              <a:t>stored,</a:t>
            </a:r>
            <a:r>
              <a:rPr spc="-45" dirty="0"/>
              <a:t> </a:t>
            </a:r>
            <a:r>
              <a:rPr dirty="0"/>
              <a:t>produced</a:t>
            </a:r>
            <a:r>
              <a:rPr spc="-40" dirty="0"/>
              <a:t> </a:t>
            </a:r>
            <a:r>
              <a:rPr dirty="0"/>
              <a:t>by</a:t>
            </a:r>
            <a:r>
              <a:rPr spc="-10" dirty="0"/>
              <a:t> </a:t>
            </a:r>
            <a:r>
              <a:rPr dirty="0"/>
              <a:t>aggregation,</a:t>
            </a:r>
            <a:r>
              <a:rPr spc="-45" dirty="0"/>
              <a:t> </a:t>
            </a:r>
            <a:r>
              <a:rPr spc="-25" dirty="0"/>
              <a:t>or </a:t>
            </a:r>
            <a:r>
              <a:rPr spc="-10" dirty="0"/>
              <a:t>mixed.</a:t>
            </a:r>
          </a:p>
          <a:p>
            <a:pPr marL="364490" indent="-342265">
              <a:lnSpc>
                <a:spcPct val="100000"/>
              </a:lnSpc>
              <a:spcBef>
                <a:spcPts val="480"/>
              </a:spcBef>
              <a:buClr>
                <a:srgbClr val="00007C"/>
              </a:buClr>
              <a:buSzPct val="75000"/>
              <a:buFont typeface="Wingdings"/>
              <a:buChar char=""/>
              <a:tabLst>
                <a:tab pos="364490" algn="l"/>
              </a:tabLst>
            </a:pPr>
            <a:r>
              <a:rPr dirty="0"/>
              <a:t>The</a:t>
            </a:r>
            <a:r>
              <a:rPr spc="-30" dirty="0"/>
              <a:t> </a:t>
            </a:r>
            <a:r>
              <a:rPr dirty="0"/>
              <a:t>“Future</a:t>
            </a:r>
            <a:r>
              <a:rPr spc="-35" dirty="0"/>
              <a:t> </a:t>
            </a:r>
            <a:r>
              <a:rPr dirty="0"/>
              <a:t>Internet”</a:t>
            </a:r>
            <a:r>
              <a:rPr spc="-55" dirty="0"/>
              <a:t> </a:t>
            </a:r>
            <a:r>
              <a:rPr dirty="0"/>
              <a:t>will</a:t>
            </a:r>
            <a:r>
              <a:rPr spc="-10" dirty="0"/>
              <a:t> </a:t>
            </a:r>
            <a:r>
              <a:rPr dirty="0"/>
              <a:t>be </a:t>
            </a:r>
            <a:r>
              <a:rPr spc="-10" dirty="0"/>
              <a:t>content-centric.</a:t>
            </a:r>
          </a:p>
          <a:p>
            <a:pPr marL="365125" marR="5080" indent="5715">
              <a:lnSpc>
                <a:spcPct val="100000"/>
              </a:lnSpc>
              <a:spcBef>
                <a:spcPts val="480"/>
              </a:spcBef>
            </a:pPr>
            <a:r>
              <a:rPr dirty="0"/>
              <a:t>The</a:t>
            </a:r>
            <a:r>
              <a:rPr spc="-35" dirty="0"/>
              <a:t> </a:t>
            </a:r>
            <a:r>
              <a:rPr dirty="0"/>
              <a:t>creation</a:t>
            </a:r>
            <a:r>
              <a:rPr spc="-50" dirty="0"/>
              <a:t> </a:t>
            </a:r>
            <a:r>
              <a:rPr dirty="0"/>
              <a:t>and</a:t>
            </a:r>
            <a:r>
              <a:rPr spc="-35" dirty="0"/>
              <a:t> </a:t>
            </a:r>
            <a:r>
              <a:rPr dirty="0"/>
              <a:t>consumption</a:t>
            </a:r>
            <a:r>
              <a:rPr spc="-60" dirty="0"/>
              <a:t> </a:t>
            </a:r>
            <a:r>
              <a:rPr dirty="0"/>
              <a:t>of</a:t>
            </a:r>
            <a:r>
              <a:rPr spc="-40" dirty="0"/>
              <a:t> </a:t>
            </a:r>
            <a:r>
              <a:rPr dirty="0"/>
              <a:t>audio</a:t>
            </a:r>
            <a:r>
              <a:rPr spc="-35" dirty="0"/>
              <a:t> </a:t>
            </a:r>
            <a:r>
              <a:rPr dirty="0"/>
              <a:t>and</a:t>
            </a:r>
            <a:r>
              <a:rPr spc="-30" dirty="0"/>
              <a:t> </a:t>
            </a:r>
            <a:r>
              <a:rPr dirty="0"/>
              <a:t>visual</a:t>
            </a:r>
            <a:r>
              <a:rPr spc="-20" dirty="0"/>
              <a:t> </a:t>
            </a:r>
            <a:r>
              <a:rPr dirty="0"/>
              <a:t>content</a:t>
            </a:r>
            <a:r>
              <a:rPr spc="-50" dirty="0"/>
              <a:t> </a:t>
            </a:r>
            <a:r>
              <a:rPr dirty="0"/>
              <a:t>is</a:t>
            </a:r>
            <a:r>
              <a:rPr spc="-30" dirty="0"/>
              <a:t> </a:t>
            </a:r>
            <a:r>
              <a:rPr dirty="0"/>
              <a:t>likely</a:t>
            </a:r>
            <a:r>
              <a:rPr spc="-20" dirty="0"/>
              <a:t> </a:t>
            </a:r>
            <a:r>
              <a:rPr spc="-25" dirty="0"/>
              <a:t>to </a:t>
            </a:r>
            <a:r>
              <a:rPr dirty="0"/>
              <a:t>transform</a:t>
            </a:r>
            <a:r>
              <a:rPr spc="-65" dirty="0"/>
              <a:t> </a:t>
            </a:r>
            <a:r>
              <a:rPr dirty="0"/>
              <a:t>the</a:t>
            </a:r>
            <a:r>
              <a:rPr spc="-25" dirty="0"/>
              <a:t> </a:t>
            </a:r>
            <a:r>
              <a:rPr dirty="0"/>
              <a:t>Internet</a:t>
            </a:r>
            <a:r>
              <a:rPr spc="-50" dirty="0"/>
              <a:t> </a:t>
            </a:r>
            <a:r>
              <a:rPr dirty="0"/>
              <a:t>to</a:t>
            </a:r>
            <a:r>
              <a:rPr spc="-20" dirty="0"/>
              <a:t> </a:t>
            </a:r>
            <a:r>
              <a:rPr dirty="0"/>
              <a:t>support</a:t>
            </a:r>
            <a:r>
              <a:rPr spc="-50" dirty="0"/>
              <a:t> </a:t>
            </a:r>
            <a:r>
              <a:rPr dirty="0"/>
              <a:t>increased</a:t>
            </a:r>
            <a:r>
              <a:rPr spc="-45" dirty="0"/>
              <a:t> </a:t>
            </a:r>
            <a:r>
              <a:rPr dirty="0"/>
              <a:t>quality</a:t>
            </a:r>
            <a:r>
              <a:rPr spc="-20" dirty="0"/>
              <a:t> </a:t>
            </a:r>
            <a:r>
              <a:rPr dirty="0"/>
              <a:t>in</a:t>
            </a:r>
            <a:r>
              <a:rPr spc="-15" dirty="0"/>
              <a:t> </a:t>
            </a:r>
            <a:r>
              <a:rPr dirty="0"/>
              <a:t>terms</a:t>
            </a:r>
            <a:r>
              <a:rPr spc="-45" dirty="0"/>
              <a:t> </a:t>
            </a:r>
            <a:r>
              <a:rPr spc="-25" dirty="0"/>
              <a:t>of </a:t>
            </a:r>
            <a:r>
              <a:rPr dirty="0"/>
              <a:t>resolution,</a:t>
            </a:r>
            <a:r>
              <a:rPr spc="-50" dirty="0"/>
              <a:t> </a:t>
            </a:r>
            <a:r>
              <a:rPr dirty="0"/>
              <a:t>frame</a:t>
            </a:r>
            <a:r>
              <a:rPr spc="-45" dirty="0"/>
              <a:t> </a:t>
            </a:r>
            <a:r>
              <a:rPr dirty="0"/>
              <a:t>rate,</a:t>
            </a:r>
            <a:r>
              <a:rPr spc="-25" dirty="0"/>
              <a:t> </a:t>
            </a:r>
            <a:r>
              <a:rPr dirty="0"/>
              <a:t>color</a:t>
            </a:r>
            <a:r>
              <a:rPr spc="-30" dirty="0"/>
              <a:t> </a:t>
            </a:r>
            <a:r>
              <a:rPr dirty="0"/>
              <a:t>depth,</a:t>
            </a:r>
            <a:r>
              <a:rPr spc="-40" dirty="0"/>
              <a:t> </a:t>
            </a:r>
            <a:r>
              <a:rPr dirty="0"/>
              <a:t>stereoscopic</a:t>
            </a:r>
            <a:r>
              <a:rPr spc="-50" dirty="0"/>
              <a:t> </a:t>
            </a:r>
            <a:r>
              <a:rPr spc="-10" dirty="0"/>
              <a:t>information.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Network-</a:t>
            </a:r>
            <a:r>
              <a:rPr dirty="0"/>
              <a:t>centric</a:t>
            </a:r>
            <a:r>
              <a:rPr spc="-55" dirty="0"/>
              <a:t> </a:t>
            </a:r>
            <a:r>
              <a:rPr dirty="0"/>
              <a:t>computing</a:t>
            </a:r>
            <a:r>
              <a:rPr spc="-35" dirty="0"/>
              <a:t> </a:t>
            </a:r>
            <a:r>
              <a:rPr dirty="0"/>
              <a:t>and</a:t>
            </a:r>
            <a:r>
              <a:rPr spc="-5" dirty="0"/>
              <a:t> </a:t>
            </a:r>
            <a:r>
              <a:rPr spc="-10" dirty="0"/>
              <a:t>content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5</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521332"/>
            <a:ext cx="7913370" cy="3928745"/>
          </a:xfrm>
          <a:prstGeom prst="rect">
            <a:avLst/>
          </a:prstGeom>
        </p:spPr>
        <p:txBody>
          <a:bodyPr vert="horz" wrap="square" lIns="0" tIns="13335" rIns="0" bIns="0" rtlCol="0">
            <a:spAutoFit/>
          </a:bodyPr>
          <a:lstStyle/>
          <a:p>
            <a:pPr marL="354330" marR="19050" indent="-342265" algn="just">
              <a:lnSpc>
                <a:spcPct val="100000"/>
              </a:lnSpc>
              <a:spcBef>
                <a:spcPts val="105"/>
              </a:spcBef>
              <a:buClr>
                <a:srgbClr val="00007C"/>
              </a:buClr>
              <a:buSzPct val="75000"/>
              <a:buFont typeface="Wingdings"/>
              <a:buChar char=""/>
              <a:tabLst>
                <a:tab pos="355600" algn="l"/>
              </a:tabLst>
            </a:pPr>
            <a:r>
              <a:rPr sz="2000" spc="-10" dirty="0">
                <a:latin typeface="Arial"/>
                <a:cs typeface="Arial"/>
              </a:rPr>
              <a:t>Data-</a:t>
            </a:r>
            <a:r>
              <a:rPr sz="2000" dirty="0">
                <a:latin typeface="Arial"/>
                <a:cs typeface="Arial"/>
              </a:rPr>
              <a:t>intensive:</a:t>
            </a:r>
            <a:r>
              <a:rPr sz="2000" spc="480" dirty="0">
                <a:latin typeface="Arial"/>
                <a:cs typeface="Arial"/>
              </a:rPr>
              <a:t> </a:t>
            </a:r>
            <a:r>
              <a:rPr sz="2000" dirty="0">
                <a:latin typeface="Arial"/>
                <a:cs typeface="Arial"/>
              </a:rPr>
              <a:t>large</a:t>
            </a:r>
            <a:r>
              <a:rPr sz="2000" spc="-25" dirty="0">
                <a:latin typeface="Arial"/>
                <a:cs typeface="Arial"/>
              </a:rPr>
              <a:t> </a:t>
            </a:r>
            <a:r>
              <a:rPr sz="2000" dirty="0">
                <a:latin typeface="Arial"/>
                <a:cs typeface="Arial"/>
              </a:rPr>
              <a:t>scale</a:t>
            </a:r>
            <a:r>
              <a:rPr sz="2000" spc="-35" dirty="0">
                <a:latin typeface="Arial"/>
                <a:cs typeface="Arial"/>
              </a:rPr>
              <a:t> </a:t>
            </a:r>
            <a:r>
              <a:rPr sz="2000" dirty="0">
                <a:latin typeface="Arial"/>
                <a:cs typeface="Arial"/>
              </a:rPr>
              <a:t>simulations</a:t>
            </a:r>
            <a:r>
              <a:rPr sz="2000" spc="-30" dirty="0">
                <a:latin typeface="Arial"/>
                <a:cs typeface="Arial"/>
              </a:rPr>
              <a:t> </a:t>
            </a:r>
            <a:r>
              <a:rPr sz="2000" dirty="0">
                <a:latin typeface="Arial"/>
                <a:cs typeface="Arial"/>
              </a:rPr>
              <a:t>in</a:t>
            </a:r>
            <a:r>
              <a:rPr sz="2000" spc="-5" dirty="0">
                <a:latin typeface="Arial"/>
                <a:cs typeface="Arial"/>
              </a:rPr>
              <a:t> </a:t>
            </a:r>
            <a:r>
              <a:rPr sz="2000" dirty="0">
                <a:latin typeface="Arial"/>
                <a:cs typeface="Arial"/>
              </a:rPr>
              <a:t>science</a:t>
            </a:r>
            <a:r>
              <a:rPr sz="2000" spc="-40" dirty="0">
                <a:latin typeface="Arial"/>
                <a:cs typeface="Arial"/>
              </a:rPr>
              <a:t> </a:t>
            </a:r>
            <a:r>
              <a:rPr sz="2000" dirty="0">
                <a:latin typeface="Arial"/>
                <a:cs typeface="Arial"/>
              </a:rPr>
              <a:t>and</a:t>
            </a:r>
            <a:r>
              <a:rPr sz="2000" spc="-25" dirty="0">
                <a:latin typeface="Arial"/>
                <a:cs typeface="Arial"/>
              </a:rPr>
              <a:t> </a:t>
            </a:r>
            <a:r>
              <a:rPr sz="2000" spc="-10" dirty="0">
                <a:latin typeface="Arial"/>
                <a:cs typeface="Arial"/>
              </a:rPr>
              <a:t>engineering 	</a:t>
            </a:r>
            <a:r>
              <a:rPr sz="2000" dirty="0">
                <a:latin typeface="Arial"/>
                <a:cs typeface="Arial"/>
              </a:rPr>
              <a:t>require</a:t>
            </a:r>
            <a:r>
              <a:rPr sz="2000" spc="-55" dirty="0">
                <a:latin typeface="Arial"/>
                <a:cs typeface="Arial"/>
              </a:rPr>
              <a:t> </a:t>
            </a:r>
            <a:r>
              <a:rPr sz="2000" dirty="0">
                <a:latin typeface="Arial"/>
                <a:cs typeface="Arial"/>
              </a:rPr>
              <a:t>large</a:t>
            </a:r>
            <a:r>
              <a:rPr sz="2000" spc="-40" dirty="0">
                <a:latin typeface="Arial"/>
                <a:cs typeface="Arial"/>
              </a:rPr>
              <a:t> </a:t>
            </a:r>
            <a:r>
              <a:rPr sz="2000" dirty="0">
                <a:latin typeface="Arial"/>
                <a:cs typeface="Arial"/>
              </a:rPr>
              <a:t>volumes</a:t>
            </a:r>
            <a:r>
              <a:rPr sz="2000" spc="-25" dirty="0">
                <a:latin typeface="Arial"/>
                <a:cs typeface="Arial"/>
              </a:rPr>
              <a:t> </a:t>
            </a:r>
            <a:r>
              <a:rPr sz="2000" dirty="0">
                <a:latin typeface="Arial"/>
                <a:cs typeface="Arial"/>
              </a:rPr>
              <a:t>of</a:t>
            </a:r>
            <a:r>
              <a:rPr sz="2000" spc="-30" dirty="0">
                <a:latin typeface="Arial"/>
                <a:cs typeface="Arial"/>
              </a:rPr>
              <a:t> </a:t>
            </a:r>
            <a:r>
              <a:rPr sz="2000" dirty="0">
                <a:latin typeface="Arial"/>
                <a:cs typeface="Arial"/>
              </a:rPr>
              <a:t>data.</a:t>
            </a:r>
            <a:r>
              <a:rPr sz="2000" spc="-35" dirty="0">
                <a:latin typeface="Arial"/>
                <a:cs typeface="Arial"/>
              </a:rPr>
              <a:t> </a:t>
            </a:r>
            <a:r>
              <a:rPr sz="2000" dirty="0">
                <a:latin typeface="Arial"/>
                <a:cs typeface="Arial"/>
              </a:rPr>
              <a:t>Multimedia</a:t>
            </a:r>
            <a:r>
              <a:rPr sz="2000" spc="-25" dirty="0">
                <a:latin typeface="Arial"/>
                <a:cs typeface="Arial"/>
              </a:rPr>
              <a:t> </a:t>
            </a:r>
            <a:r>
              <a:rPr sz="2000" dirty="0">
                <a:latin typeface="Arial"/>
                <a:cs typeface="Arial"/>
              </a:rPr>
              <a:t>streaming</a:t>
            </a:r>
            <a:r>
              <a:rPr sz="2000" spc="-50" dirty="0">
                <a:latin typeface="Arial"/>
                <a:cs typeface="Arial"/>
              </a:rPr>
              <a:t> </a:t>
            </a:r>
            <a:r>
              <a:rPr sz="2000" dirty="0">
                <a:latin typeface="Arial"/>
                <a:cs typeface="Arial"/>
              </a:rPr>
              <a:t>transfers</a:t>
            </a:r>
            <a:r>
              <a:rPr sz="2000" spc="-55" dirty="0">
                <a:latin typeface="Arial"/>
                <a:cs typeface="Arial"/>
              </a:rPr>
              <a:t> </a:t>
            </a:r>
            <a:r>
              <a:rPr sz="2000" spc="-10" dirty="0">
                <a:latin typeface="Arial"/>
                <a:cs typeface="Arial"/>
              </a:rPr>
              <a:t>large 	</a:t>
            </a:r>
            <a:r>
              <a:rPr sz="2000" dirty="0">
                <a:latin typeface="Arial"/>
                <a:cs typeface="Arial"/>
              </a:rPr>
              <a:t>volume</a:t>
            </a:r>
            <a:r>
              <a:rPr sz="2000" spc="-35" dirty="0">
                <a:latin typeface="Arial"/>
                <a:cs typeface="Arial"/>
              </a:rPr>
              <a:t> </a:t>
            </a:r>
            <a:r>
              <a:rPr sz="2000" dirty="0">
                <a:latin typeface="Arial"/>
                <a:cs typeface="Arial"/>
              </a:rPr>
              <a:t>of</a:t>
            </a:r>
            <a:r>
              <a:rPr sz="2000" spc="-20" dirty="0">
                <a:latin typeface="Arial"/>
                <a:cs typeface="Arial"/>
              </a:rPr>
              <a:t> </a:t>
            </a:r>
            <a:r>
              <a:rPr sz="2000" spc="-10" dirty="0">
                <a:latin typeface="Arial"/>
                <a:cs typeface="Arial"/>
              </a:rPr>
              <a:t>data.</a:t>
            </a:r>
            <a:endParaRPr sz="2000">
              <a:latin typeface="Arial"/>
              <a:cs typeface="Arial"/>
            </a:endParaRPr>
          </a:p>
          <a:p>
            <a:pPr marL="354330" marR="5080" indent="-342265" algn="just">
              <a:lnSpc>
                <a:spcPct val="100000"/>
              </a:lnSpc>
              <a:spcBef>
                <a:spcPts val="480"/>
              </a:spcBef>
              <a:buClr>
                <a:srgbClr val="00007C"/>
              </a:buClr>
              <a:buSzPct val="75000"/>
              <a:buFont typeface="Wingdings"/>
              <a:buChar char=""/>
              <a:tabLst>
                <a:tab pos="355600" algn="l"/>
              </a:tabLst>
            </a:pPr>
            <a:r>
              <a:rPr sz="2000" spc="-10" dirty="0">
                <a:latin typeface="Arial"/>
                <a:cs typeface="Arial"/>
              </a:rPr>
              <a:t>Network-</a:t>
            </a:r>
            <a:r>
              <a:rPr sz="2000" dirty="0">
                <a:latin typeface="Arial"/>
                <a:cs typeface="Arial"/>
              </a:rPr>
              <a:t>intensive:</a:t>
            </a:r>
            <a:r>
              <a:rPr sz="2000" spc="495" dirty="0">
                <a:latin typeface="Arial"/>
                <a:cs typeface="Arial"/>
              </a:rPr>
              <a:t> </a:t>
            </a:r>
            <a:r>
              <a:rPr sz="2000" dirty="0">
                <a:latin typeface="Arial"/>
                <a:cs typeface="Arial"/>
              </a:rPr>
              <a:t>transferring</a:t>
            </a:r>
            <a:r>
              <a:rPr sz="2000" spc="-45" dirty="0">
                <a:latin typeface="Arial"/>
                <a:cs typeface="Arial"/>
              </a:rPr>
              <a:t> </a:t>
            </a:r>
            <a:r>
              <a:rPr sz="2000" dirty="0">
                <a:latin typeface="Arial"/>
                <a:cs typeface="Arial"/>
              </a:rPr>
              <a:t>large</a:t>
            </a:r>
            <a:r>
              <a:rPr sz="2000" spc="-25" dirty="0">
                <a:latin typeface="Arial"/>
                <a:cs typeface="Arial"/>
              </a:rPr>
              <a:t> </a:t>
            </a:r>
            <a:r>
              <a:rPr sz="2000" dirty="0">
                <a:latin typeface="Arial"/>
                <a:cs typeface="Arial"/>
              </a:rPr>
              <a:t>volumes</a:t>
            </a:r>
            <a:r>
              <a:rPr sz="2000" spc="-30" dirty="0">
                <a:latin typeface="Arial"/>
                <a:cs typeface="Arial"/>
              </a:rPr>
              <a:t> </a:t>
            </a:r>
            <a:r>
              <a:rPr sz="2000" dirty="0">
                <a:latin typeface="Arial"/>
                <a:cs typeface="Arial"/>
              </a:rPr>
              <a:t>of</a:t>
            </a:r>
            <a:r>
              <a:rPr sz="2000" spc="-20" dirty="0">
                <a:latin typeface="Arial"/>
                <a:cs typeface="Arial"/>
              </a:rPr>
              <a:t> </a:t>
            </a:r>
            <a:r>
              <a:rPr sz="2000" dirty="0">
                <a:latin typeface="Arial"/>
                <a:cs typeface="Arial"/>
              </a:rPr>
              <a:t>data</a:t>
            </a:r>
            <a:r>
              <a:rPr sz="2000" spc="-20" dirty="0">
                <a:latin typeface="Arial"/>
                <a:cs typeface="Arial"/>
              </a:rPr>
              <a:t> </a:t>
            </a:r>
            <a:r>
              <a:rPr sz="2000" dirty="0">
                <a:latin typeface="Arial"/>
                <a:cs typeface="Arial"/>
              </a:rPr>
              <a:t>requires</a:t>
            </a:r>
            <a:r>
              <a:rPr sz="2000" spc="-60" dirty="0">
                <a:latin typeface="Arial"/>
                <a:cs typeface="Arial"/>
              </a:rPr>
              <a:t> </a:t>
            </a:r>
            <a:r>
              <a:rPr sz="2000" spc="-20" dirty="0">
                <a:latin typeface="Arial"/>
                <a:cs typeface="Arial"/>
              </a:rPr>
              <a:t>high 	</a:t>
            </a:r>
            <a:r>
              <a:rPr sz="2000" dirty="0">
                <a:latin typeface="Arial"/>
                <a:cs typeface="Arial"/>
              </a:rPr>
              <a:t>bandwidth</a:t>
            </a:r>
            <a:r>
              <a:rPr sz="2000" spc="-55" dirty="0">
                <a:latin typeface="Arial"/>
                <a:cs typeface="Arial"/>
              </a:rPr>
              <a:t> </a:t>
            </a:r>
            <a:r>
              <a:rPr sz="2000" spc="-10" dirty="0">
                <a:latin typeface="Arial"/>
                <a:cs typeface="Arial"/>
              </a:rPr>
              <a:t>networks.</a:t>
            </a:r>
            <a:endParaRPr sz="2000">
              <a:latin typeface="Arial"/>
              <a:cs typeface="Arial"/>
            </a:endParaRPr>
          </a:p>
          <a:p>
            <a:pPr marL="355600" marR="719455" indent="-343535">
              <a:lnSpc>
                <a:spcPct val="100000"/>
              </a:lnSpc>
              <a:spcBef>
                <a:spcPts val="480"/>
              </a:spcBef>
              <a:buClr>
                <a:srgbClr val="00007C"/>
              </a:buClr>
              <a:buSzPct val="75000"/>
              <a:buFont typeface="Wingdings"/>
              <a:buChar char=""/>
              <a:tabLst>
                <a:tab pos="355600" algn="l"/>
              </a:tabLst>
            </a:pPr>
            <a:r>
              <a:rPr sz="2000" dirty="0">
                <a:latin typeface="Arial"/>
                <a:cs typeface="Arial"/>
              </a:rPr>
              <a:t>Low-latency</a:t>
            </a:r>
            <a:r>
              <a:rPr sz="2000" spc="-60" dirty="0">
                <a:latin typeface="Arial"/>
                <a:cs typeface="Arial"/>
              </a:rPr>
              <a:t> </a:t>
            </a:r>
            <a:r>
              <a:rPr sz="2000" dirty="0">
                <a:latin typeface="Arial"/>
                <a:cs typeface="Arial"/>
              </a:rPr>
              <a:t>networks</a:t>
            </a:r>
            <a:r>
              <a:rPr sz="2000" spc="-45" dirty="0">
                <a:latin typeface="Arial"/>
                <a:cs typeface="Arial"/>
              </a:rPr>
              <a:t> </a:t>
            </a:r>
            <a:r>
              <a:rPr sz="2000" dirty="0">
                <a:latin typeface="Arial"/>
                <a:cs typeface="Arial"/>
              </a:rPr>
              <a:t>for</a:t>
            </a:r>
            <a:r>
              <a:rPr sz="2000" spc="-30" dirty="0">
                <a:latin typeface="Arial"/>
                <a:cs typeface="Arial"/>
              </a:rPr>
              <a:t> </a:t>
            </a:r>
            <a:r>
              <a:rPr sz="2000" dirty="0">
                <a:latin typeface="Arial"/>
                <a:cs typeface="Arial"/>
              </a:rPr>
              <a:t>data</a:t>
            </a:r>
            <a:r>
              <a:rPr sz="2000" spc="-40" dirty="0">
                <a:latin typeface="Arial"/>
                <a:cs typeface="Arial"/>
              </a:rPr>
              <a:t> </a:t>
            </a:r>
            <a:r>
              <a:rPr sz="2000" dirty="0">
                <a:latin typeface="Arial"/>
                <a:cs typeface="Arial"/>
              </a:rPr>
              <a:t>streaming,</a:t>
            </a:r>
            <a:r>
              <a:rPr sz="2000" spc="-55" dirty="0">
                <a:latin typeface="Arial"/>
                <a:cs typeface="Arial"/>
              </a:rPr>
              <a:t> </a:t>
            </a:r>
            <a:r>
              <a:rPr sz="2000" dirty="0">
                <a:latin typeface="Arial"/>
                <a:cs typeface="Arial"/>
              </a:rPr>
              <a:t>parallel</a:t>
            </a:r>
            <a:r>
              <a:rPr sz="2000" spc="-15" dirty="0">
                <a:latin typeface="Arial"/>
                <a:cs typeface="Arial"/>
              </a:rPr>
              <a:t> </a:t>
            </a:r>
            <a:r>
              <a:rPr sz="2000" spc="-10" dirty="0">
                <a:latin typeface="Arial"/>
                <a:cs typeface="Arial"/>
              </a:rPr>
              <a:t>computing, </a:t>
            </a:r>
            <a:r>
              <a:rPr sz="2000" dirty="0">
                <a:latin typeface="Arial"/>
                <a:cs typeface="Arial"/>
              </a:rPr>
              <a:t>computation</a:t>
            </a:r>
            <a:r>
              <a:rPr sz="2000" spc="-90" dirty="0">
                <a:latin typeface="Arial"/>
                <a:cs typeface="Arial"/>
              </a:rPr>
              <a:t> </a:t>
            </a:r>
            <a:r>
              <a:rPr sz="2000" spc="-10" dirty="0">
                <a:latin typeface="Arial"/>
                <a:cs typeface="Arial"/>
              </a:rPr>
              <a:t>steering.</a:t>
            </a:r>
            <a:endParaRPr sz="2000">
              <a:latin typeface="Arial"/>
              <a:cs typeface="Arial"/>
            </a:endParaRPr>
          </a:p>
          <a:p>
            <a:pPr marL="355600" marR="5080" indent="-343535">
              <a:lnSpc>
                <a:spcPct val="100000"/>
              </a:lnSpc>
              <a:spcBef>
                <a:spcPts val="484"/>
              </a:spcBef>
              <a:buClr>
                <a:srgbClr val="00007C"/>
              </a:buClr>
              <a:buSzPct val="75000"/>
              <a:buFont typeface="Wingdings"/>
              <a:buChar char=""/>
              <a:tabLst>
                <a:tab pos="355600" algn="l"/>
              </a:tabLst>
            </a:pPr>
            <a:r>
              <a:rPr sz="2000" dirty="0">
                <a:latin typeface="Arial"/>
                <a:cs typeface="Arial"/>
              </a:rPr>
              <a:t>The</a:t>
            </a:r>
            <a:r>
              <a:rPr sz="2000" spc="-40" dirty="0">
                <a:latin typeface="Arial"/>
                <a:cs typeface="Arial"/>
              </a:rPr>
              <a:t> </a:t>
            </a:r>
            <a:r>
              <a:rPr sz="2000" dirty="0">
                <a:latin typeface="Arial"/>
                <a:cs typeface="Arial"/>
              </a:rPr>
              <a:t>systems</a:t>
            </a:r>
            <a:r>
              <a:rPr sz="2000" spc="-35" dirty="0">
                <a:latin typeface="Arial"/>
                <a:cs typeface="Arial"/>
              </a:rPr>
              <a:t> </a:t>
            </a:r>
            <a:r>
              <a:rPr sz="2000" dirty="0">
                <a:latin typeface="Arial"/>
                <a:cs typeface="Arial"/>
              </a:rPr>
              <a:t>are</a:t>
            </a:r>
            <a:r>
              <a:rPr sz="2000" spc="-35" dirty="0">
                <a:latin typeface="Arial"/>
                <a:cs typeface="Arial"/>
              </a:rPr>
              <a:t> </a:t>
            </a:r>
            <a:r>
              <a:rPr sz="2000" dirty="0">
                <a:latin typeface="Arial"/>
                <a:cs typeface="Arial"/>
              </a:rPr>
              <a:t>accessed</a:t>
            </a:r>
            <a:r>
              <a:rPr sz="2000" spc="-65" dirty="0">
                <a:latin typeface="Arial"/>
                <a:cs typeface="Arial"/>
              </a:rPr>
              <a:t> </a:t>
            </a:r>
            <a:r>
              <a:rPr sz="2000" dirty="0">
                <a:latin typeface="Arial"/>
                <a:cs typeface="Arial"/>
              </a:rPr>
              <a:t>using</a:t>
            </a:r>
            <a:r>
              <a:rPr sz="2000" spc="-15" dirty="0">
                <a:latin typeface="Arial"/>
                <a:cs typeface="Arial"/>
              </a:rPr>
              <a:t> </a:t>
            </a:r>
            <a:r>
              <a:rPr sz="2000" i="1" u="sng" dirty="0">
                <a:uFill>
                  <a:solidFill>
                    <a:srgbClr val="000000"/>
                  </a:solidFill>
                </a:uFill>
                <a:latin typeface="Arial"/>
                <a:cs typeface="Arial"/>
              </a:rPr>
              <a:t>thin</a:t>
            </a:r>
            <a:r>
              <a:rPr sz="2000" i="1" u="sng" spc="-30" dirty="0">
                <a:uFill>
                  <a:solidFill>
                    <a:srgbClr val="000000"/>
                  </a:solidFill>
                </a:uFill>
                <a:latin typeface="Arial"/>
                <a:cs typeface="Arial"/>
              </a:rPr>
              <a:t> </a:t>
            </a:r>
            <a:r>
              <a:rPr sz="2000" i="1" u="sng" dirty="0">
                <a:uFill>
                  <a:solidFill>
                    <a:srgbClr val="000000"/>
                  </a:solidFill>
                </a:uFill>
                <a:latin typeface="Arial"/>
                <a:cs typeface="Arial"/>
              </a:rPr>
              <a:t>clients</a:t>
            </a:r>
            <a:r>
              <a:rPr sz="2000" i="1" u="sng" spc="-35" dirty="0">
                <a:uFill>
                  <a:solidFill>
                    <a:srgbClr val="000000"/>
                  </a:solidFill>
                </a:uFill>
                <a:latin typeface="Arial"/>
                <a:cs typeface="Arial"/>
              </a:rPr>
              <a:t> </a:t>
            </a:r>
            <a:r>
              <a:rPr sz="2000" dirty="0">
                <a:latin typeface="Arial"/>
                <a:cs typeface="Arial"/>
              </a:rPr>
              <a:t>running</a:t>
            </a:r>
            <a:r>
              <a:rPr sz="2000" spc="-35" dirty="0">
                <a:latin typeface="Arial"/>
                <a:cs typeface="Arial"/>
              </a:rPr>
              <a:t> </a:t>
            </a:r>
            <a:r>
              <a:rPr sz="2000" dirty="0">
                <a:latin typeface="Arial"/>
                <a:cs typeface="Arial"/>
              </a:rPr>
              <a:t>on</a:t>
            </a:r>
            <a:r>
              <a:rPr sz="2000" spc="-10" dirty="0">
                <a:latin typeface="Arial"/>
                <a:cs typeface="Arial"/>
              </a:rPr>
              <a:t> systems </a:t>
            </a:r>
            <a:r>
              <a:rPr sz="2000" dirty="0">
                <a:latin typeface="Arial"/>
                <a:cs typeface="Arial"/>
              </a:rPr>
              <a:t>with</a:t>
            </a:r>
            <a:r>
              <a:rPr sz="2000" spc="-15" dirty="0">
                <a:latin typeface="Arial"/>
                <a:cs typeface="Arial"/>
              </a:rPr>
              <a:t> </a:t>
            </a:r>
            <a:r>
              <a:rPr sz="2000" dirty="0">
                <a:latin typeface="Arial"/>
                <a:cs typeface="Arial"/>
              </a:rPr>
              <a:t>limited</a:t>
            </a:r>
            <a:r>
              <a:rPr sz="2000" spc="-25" dirty="0">
                <a:latin typeface="Arial"/>
                <a:cs typeface="Arial"/>
              </a:rPr>
              <a:t> </a:t>
            </a:r>
            <a:r>
              <a:rPr sz="2000" dirty="0">
                <a:latin typeface="Arial"/>
                <a:cs typeface="Arial"/>
              </a:rPr>
              <a:t>resources,</a:t>
            </a:r>
            <a:r>
              <a:rPr sz="2000" spc="-55" dirty="0">
                <a:latin typeface="Arial"/>
                <a:cs typeface="Arial"/>
              </a:rPr>
              <a:t> </a:t>
            </a:r>
            <a:r>
              <a:rPr sz="2000" dirty="0">
                <a:latin typeface="Arial"/>
                <a:cs typeface="Arial"/>
              </a:rPr>
              <a:t>e.g.,</a:t>
            </a:r>
            <a:r>
              <a:rPr sz="2000" spc="-35" dirty="0">
                <a:latin typeface="Arial"/>
                <a:cs typeface="Arial"/>
              </a:rPr>
              <a:t> </a:t>
            </a:r>
            <a:r>
              <a:rPr sz="2000" dirty="0">
                <a:latin typeface="Arial"/>
                <a:cs typeface="Arial"/>
              </a:rPr>
              <a:t>wireless</a:t>
            </a:r>
            <a:r>
              <a:rPr sz="2000" spc="-50" dirty="0">
                <a:latin typeface="Arial"/>
                <a:cs typeface="Arial"/>
              </a:rPr>
              <a:t> </a:t>
            </a:r>
            <a:r>
              <a:rPr sz="2000" dirty="0">
                <a:latin typeface="Arial"/>
                <a:cs typeface="Arial"/>
              </a:rPr>
              <a:t>devices</a:t>
            </a:r>
            <a:r>
              <a:rPr sz="2000" spc="-20" dirty="0">
                <a:latin typeface="Arial"/>
                <a:cs typeface="Arial"/>
              </a:rPr>
              <a:t> </a:t>
            </a:r>
            <a:r>
              <a:rPr sz="2000" dirty="0">
                <a:latin typeface="Arial"/>
                <a:cs typeface="Arial"/>
              </a:rPr>
              <a:t>such</a:t>
            </a:r>
            <a:r>
              <a:rPr sz="2000" spc="-40" dirty="0">
                <a:latin typeface="Arial"/>
                <a:cs typeface="Arial"/>
              </a:rPr>
              <a:t> </a:t>
            </a:r>
            <a:r>
              <a:rPr sz="2000" dirty="0">
                <a:latin typeface="Arial"/>
                <a:cs typeface="Arial"/>
              </a:rPr>
              <a:t>as</a:t>
            </a:r>
            <a:r>
              <a:rPr sz="2000" spc="-25" dirty="0">
                <a:latin typeface="Arial"/>
                <a:cs typeface="Arial"/>
              </a:rPr>
              <a:t> </a:t>
            </a:r>
            <a:r>
              <a:rPr sz="2000" dirty="0">
                <a:latin typeface="Arial"/>
                <a:cs typeface="Arial"/>
              </a:rPr>
              <a:t>smart</a:t>
            </a:r>
            <a:r>
              <a:rPr sz="2000" spc="-60" dirty="0">
                <a:latin typeface="Arial"/>
                <a:cs typeface="Arial"/>
              </a:rPr>
              <a:t> </a:t>
            </a:r>
            <a:r>
              <a:rPr sz="2000" spc="-10" dirty="0">
                <a:latin typeface="Arial"/>
                <a:cs typeface="Arial"/>
              </a:rPr>
              <a:t>phones </a:t>
            </a:r>
            <a:r>
              <a:rPr sz="2000" dirty="0">
                <a:latin typeface="Arial"/>
                <a:cs typeface="Arial"/>
              </a:rPr>
              <a:t>and</a:t>
            </a:r>
            <a:r>
              <a:rPr sz="2000" spc="-25" dirty="0">
                <a:latin typeface="Arial"/>
                <a:cs typeface="Arial"/>
              </a:rPr>
              <a:t> </a:t>
            </a:r>
            <a:r>
              <a:rPr sz="2000" spc="-10" dirty="0">
                <a:latin typeface="Arial"/>
                <a:cs typeface="Arial"/>
              </a:rPr>
              <a:t>tablets.</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The</a:t>
            </a:r>
            <a:r>
              <a:rPr sz="2000" spc="-25" dirty="0">
                <a:latin typeface="Arial"/>
                <a:cs typeface="Arial"/>
              </a:rPr>
              <a:t> </a:t>
            </a:r>
            <a:r>
              <a:rPr sz="2000" dirty="0">
                <a:latin typeface="Arial"/>
                <a:cs typeface="Arial"/>
              </a:rPr>
              <a:t>infrastructure</a:t>
            </a:r>
            <a:r>
              <a:rPr sz="2000" spc="-45" dirty="0">
                <a:latin typeface="Arial"/>
                <a:cs typeface="Arial"/>
              </a:rPr>
              <a:t> </a:t>
            </a:r>
            <a:r>
              <a:rPr sz="2000" dirty="0">
                <a:latin typeface="Arial"/>
                <a:cs typeface="Arial"/>
              </a:rPr>
              <a:t>should</a:t>
            </a:r>
            <a:r>
              <a:rPr sz="2000" spc="-20" dirty="0">
                <a:latin typeface="Arial"/>
                <a:cs typeface="Arial"/>
              </a:rPr>
              <a:t> </a:t>
            </a:r>
            <a:r>
              <a:rPr sz="2000" dirty="0">
                <a:latin typeface="Arial"/>
                <a:cs typeface="Arial"/>
              </a:rPr>
              <a:t>support</a:t>
            </a:r>
            <a:r>
              <a:rPr sz="2000" spc="-55" dirty="0">
                <a:latin typeface="Arial"/>
                <a:cs typeface="Arial"/>
              </a:rPr>
              <a:t> </a:t>
            </a:r>
            <a:r>
              <a:rPr sz="2000" dirty="0">
                <a:latin typeface="Arial"/>
                <a:cs typeface="Arial"/>
              </a:rPr>
              <a:t>some</a:t>
            </a:r>
            <a:r>
              <a:rPr sz="2000" spc="-35" dirty="0">
                <a:latin typeface="Arial"/>
                <a:cs typeface="Arial"/>
              </a:rPr>
              <a:t> </a:t>
            </a:r>
            <a:r>
              <a:rPr sz="2000" dirty="0">
                <a:latin typeface="Arial"/>
                <a:cs typeface="Arial"/>
              </a:rPr>
              <a:t>form</a:t>
            </a:r>
            <a:r>
              <a:rPr sz="2000" spc="-35" dirty="0">
                <a:latin typeface="Arial"/>
                <a:cs typeface="Arial"/>
              </a:rPr>
              <a:t> </a:t>
            </a:r>
            <a:r>
              <a:rPr sz="2000" dirty="0">
                <a:latin typeface="Arial"/>
                <a:cs typeface="Arial"/>
              </a:rPr>
              <a:t>of</a:t>
            </a:r>
            <a:r>
              <a:rPr sz="2000" spc="-10" dirty="0">
                <a:latin typeface="Arial"/>
                <a:cs typeface="Arial"/>
              </a:rPr>
              <a:t> </a:t>
            </a:r>
            <a:r>
              <a:rPr sz="2000" u="sng" spc="-10" dirty="0">
                <a:uFill>
                  <a:solidFill>
                    <a:srgbClr val="000000"/>
                  </a:solidFill>
                </a:uFill>
                <a:latin typeface="Arial"/>
                <a:cs typeface="Arial"/>
              </a:rPr>
              <a:t>workflow</a:t>
            </a:r>
            <a:endParaRPr sz="2000">
              <a:latin typeface="Arial"/>
              <a:cs typeface="Arial"/>
            </a:endParaRPr>
          </a:p>
          <a:p>
            <a:pPr marL="355600">
              <a:lnSpc>
                <a:spcPct val="100000"/>
              </a:lnSpc>
            </a:pPr>
            <a:r>
              <a:rPr sz="2000" u="sng" spc="-10" dirty="0">
                <a:uFill>
                  <a:solidFill>
                    <a:srgbClr val="000000"/>
                  </a:solidFill>
                </a:uFill>
                <a:latin typeface="Arial"/>
                <a:cs typeface="Arial"/>
              </a:rPr>
              <a:t>management.</a:t>
            </a:r>
            <a:endParaRPr sz="20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Evolution</a:t>
            </a:r>
            <a:r>
              <a:rPr spc="-40" dirty="0"/>
              <a:t> </a:t>
            </a:r>
            <a:r>
              <a:rPr dirty="0"/>
              <a:t>of</a:t>
            </a:r>
            <a:r>
              <a:rPr spc="-30" dirty="0"/>
              <a:t> </a:t>
            </a:r>
            <a:r>
              <a:rPr dirty="0"/>
              <a:t>concepts</a:t>
            </a:r>
            <a:r>
              <a:rPr spc="-55" dirty="0"/>
              <a:t> </a:t>
            </a:r>
            <a:r>
              <a:rPr dirty="0"/>
              <a:t>and</a:t>
            </a:r>
            <a:r>
              <a:rPr spc="-20" dirty="0"/>
              <a:t> </a:t>
            </a:r>
            <a:r>
              <a:rPr spc="-10" dirty="0"/>
              <a:t>technologies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6</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530857"/>
            <a:ext cx="7917815" cy="3691890"/>
          </a:xfrm>
          <a:prstGeom prst="rect">
            <a:avLst/>
          </a:prstGeom>
        </p:spPr>
        <p:txBody>
          <a:bodyPr vert="horz" wrap="square" lIns="0" tIns="13335" rIns="0" bIns="0" rtlCol="0">
            <a:spAutoFit/>
          </a:bodyPr>
          <a:lstStyle/>
          <a:p>
            <a:pPr marL="355600" marR="147955" indent="-343535">
              <a:lnSpc>
                <a:spcPct val="100000"/>
              </a:lnSpc>
              <a:spcBef>
                <a:spcPts val="105"/>
              </a:spcBef>
              <a:buClr>
                <a:srgbClr val="00007C"/>
              </a:buClr>
              <a:buSzPct val="75000"/>
              <a:buFont typeface="Wingdings"/>
              <a:buChar char=""/>
              <a:tabLst>
                <a:tab pos="355600" algn="l"/>
              </a:tabLst>
            </a:pPr>
            <a:r>
              <a:rPr sz="2000" dirty="0">
                <a:latin typeface="Arial"/>
                <a:cs typeface="Arial"/>
              </a:rPr>
              <a:t>The</a:t>
            </a:r>
            <a:r>
              <a:rPr sz="2000" spc="-30" dirty="0">
                <a:latin typeface="Arial"/>
                <a:cs typeface="Arial"/>
              </a:rPr>
              <a:t> </a:t>
            </a:r>
            <a:r>
              <a:rPr sz="2000" dirty="0">
                <a:latin typeface="Arial"/>
                <a:cs typeface="Arial"/>
              </a:rPr>
              <a:t>concepts</a:t>
            </a:r>
            <a:r>
              <a:rPr sz="2000" spc="-50" dirty="0">
                <a:latin typeface="Arial"/>
                <a:cs typeface="Arial"/>
              </a:rPr>
              <a:t> </a:t>
            </a:r>
            <a:r>
              <a:rPr sz="2000" dirty="0">
                <a:latin typeface="Arial"/>
                <a:cs typeface="Arial"/>
              </a:rPr>
              <a:t>and</a:t>
            </a:r>
            <a:r>
              <a:rPr sz="2000" spc="-25" dirty="0">
                <a:latin typeface="Arial"/>
                <a:cs typeface="Arial"/>
              </a:rPr>
              <a:t> </a:t>
            </a:r>
            <a:r>
              <a:rPr sz="2000" dirty="0">
                <a:latin typeface="Arial"/>
                <a:cs typeface="Arial"/>
              </a:rPr>
              <a:t>technologies</a:t>
            </a:r>
            <a:r>
              <a:rPr sz="2000" spc="-50" dirty="0">
                <a:latin typeface="Arial"/>
                <a:cs typeface="Arial"/>
              </a:rPr>
              <a:t> </a:t>
            </a:r>
            <a:r>
              <a:rPr sz="2000" dirty="0">
                <a:latin typeface="Arial"/>
                <a:cs typeface="Arial"/>
              </a:rPr>
              <a:t>for</a:t>
            </a:r>
            <a:r>
              <a:rPr sz="2000" spc="-25" dirty="0">
                <a:latin typeface="Arial"/>
                <a:cs typeface="Arial"/>
              </a:rPr>
              <a:t> </a:t>
            </a:r>
            <a:r>
              <a:rPr sz="2000" dirty="0">
                <a:latin typeface="Arial"/>
                <a:cs typeface="Arial"/>
              </a:rPr>
              <a:t>network-centric</a:t>
            </a:r>
            <a:r>
              <a:rPr sz="2000" spc="-50" dirty="0">
                <a:latin typeface="Arial"/>
                <a:cs typeface="Arial"/>
              </a:rPr>
              <a:t> </a:t>
            </a:r>
            <a:r>
              <a:rPr sz="2000" dirty="0">
                <a:latin typeface="Arial"/>
                <a:cs typeface="Arial"/>
              </a:rPr>
              <a:t>computing</a:t>
            </a:r>
            <a:r>
              <a:rPr sz="2000" spc="-55" dirty="0">
                <a:latin typeface="Arial"/>
                <a:cs typeface="Arial"/>
              </a:rPr>
              <a:t> </a:t>
            </a:r>
            <a:r>
              <a:rPr sz="2000" spc="-25" dirty="0">
                <a:latin typeface="Arial"/>
                <a:cs typeface="Arial"/>
              </a:rPr>
              <a:t>and </a:t>
            </a:r>
            <a:r>
              <a:rPr sz="2000" dirty="0">
                <a:latin typeface="Arial"/>
                <a:cs typeface="Arial"/>
              </a:rPr>
              <a:t>content</a:t>
            </a:r>
            <a:r>
              <a:rPr sz="2000" spc="-60" dirty="0">
                <a:latin typeface="Arial"/>
                <a:cs typeface="Arial"/>
              </a:rPr>
              <a:t> </a:t>
            </a:r>
            <a:r>
              <a:rPr sz="2000" dirty="0">
                <a:latin typeface="Arial"/>
                <a:cs typeface="Arial"/>
              </a:rPr>
              <a:t>evolved</a:t>
            </a:r>
            <a:r>
              <a:rPr sz="2000" spc="-10" dirty="0">
                <a:latin typeface="Arial"/>
                <a:cs typeface="Arial"/>
              </a:rPr>
              <a:t> </a:t>
            </a:r>
            <a:r>
              <a:rPr sz="2000" dirty="0">
                <a:latin typeface="Arial"/>
                <a:cs typeface="Arial"/>
              </a:rPr>
              <a:t>along</a:t>
            </a:r>
            <a:r>
              <a:rPr sz="2000" spc="-25" dirty="0">
                <a:latin typeface="Arial"/>
                <a:cs typeface="Arial"/>
              </a:rPr>
              <a:t> </a:t>
            </a:r>
            <a:r>
              <a:rPr sz="2000" dirty="0">
                <a:latin typeface="Arial"/>
                <a:cs typeface="Arial"/>
              </a:rPr>
              <a:t>the</a:t>
            </a:r>
            <a:r>
              <a:rPr sz="2000" spc="-25" dirty="0">
                <a:latin typeface="Arial"/>
                <a:cs typeface="Arial"/>
              </a:rPr>
              <a:t> </a:t>
            </a:r>
            <a:r>
              <a:rPr sz="2000" spc="-10" dirty="0">
                <a:latin typeface="Arial"/>
                <a:cs typeface="Arial"/>
              </a:rPr>
              <a:t>years.</a:t>
            </a:r>
            <a:endParaRPr sz="2000">
              <a:latin typeface="Arial"/>
              <a:cs typeface="Arial"/>
            </a:endParaRPr>
          </a:p>
          <a:p>
            <a:pPr>
              <a:lnSpc>
                <a:spcPct val="100000"/>
              </a:lnSpc>
              <a:spcBef>
                <a:spcPts val="1019"/>
              </a:spcBef>
              <a:buClr>
                <a:srgbClr val="00007C"/>
              </a:buClr>
              <a:buFont typeface="Wingdings"/>
              <a:buChar char=""/>
            </a:pPr>
            <a:endParaRPr sz="2000">
              <a:latin typeface="Arial"/>
              <a:cs typeface="Arial"/>
            </a:endParaRPr>
          </a:p>
          <a:p>
            <a:pPr marL="755015" marR="5080" lvl="1" indent="-285750">
              <a:lnSpc>
                <a:spcPct val="100000"/>
              </a:lnSpc>
              <a:buClr>
                <a:srgbClr val="9999CC"/>
              </a:buClr>
              <a:buSzPct val="80555"/>
              <a:buFont typeface="Wingdings"/>
              <a:buChar char=""/>
              <a:tabLst>
                <a:tab pos="756285" algn="l"/>
              </a:tabLst>
            </a:pPr>
            <a:r>
              <a:rPr sz="1800" dirty="0">
                <a:latin typeface="Arial"/>
                <a:cs typeface="Arial"/>
              </a:rPr>
              <a:t>The</a:t>
            </a:r>
            <a:r>
              <a:rPr sz="1800" spc="-50" dirty="0">
                <a:latin typeface="Arial"/>
                <a:cs typeface="Arial"/>
              </a:rPr>
              <a:t> </a:t>
            </a:r>
            <a:r>
              <a:rPr sz="1800" dirty="0">
                <a:latin typeface="Arial"/>
                <a:cs typeface="Arial"/>
              </a:rPr>
              <a:t>web</a:t>
            </a:r>
            <a:r>
              <a:rPr sz="1800" spc="10" dirty="0">
                <a:latin typeface="Arial"/>
                <a:cs typeface="Arial"/>
              </a:rPr>
              <a:t> </a:t>
            </a:r>
            <a:r>
              <a:rPr sz="1800" dirty="0">
                <a:latin typeface="Arial"/>
                <a:cs typeface="Arial"/>
              </a:rPr>
              <a:t>and</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semantic</a:t>
            </a:r>
            <a:r>
              <a:rPr sz="1800" spc="-20" dirty="0">
                <a:latin typeface="Arial"/>
                <a:cs typeface="Arial"/>
              </a:rPr>
              <a:t> </a:t>
            </a:r>
            <a:r>
              <a:rPr sz="1800" dirty="0">
                <a:latin typeface="Arial"/>
                <a:cs typeface="Arial"/>
              </a:rPr>
              <a:t>web</a:t>
            </a:r>
            <a:r>
              <a:rPr sz="1800" spc="10" dirty="0">
                <a:latin typeface="Arial"/>
                <a:cs typeface="Arial"/>
              </a:rPr>
              <a:t> </a:t>
            </a:r>
            <a:r>
              <a:rPr sz="1800" dirty="0">
                <a:latin typeface="Arial"/>
                <a:cs typeface="Arial"/>
              </a:rPr>
              <a:t>-</a:t>
            </a:r>
            <a:r>
              <a:rPr sz="1800" spc="-35" dirty="0">
                <a:latin typeface="Arial"/>
                <a:cs typeface="Arial"/>
              </a:rPr>
              <a:t> </a:t>
            </a:r>
            <a:r>
              <a:rPr sz="1800" dirty="0">
                <a:latin typeface="Arial"/>
                <a:cs typeface="Arial"/>
              </a:rPr>
              <a:t>expected</a:t>
            </a:r>
            <a:r>
              <a:rPr sz="1800" spc="-15"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support</a:t>
            </a:r>
            <a:r>
              <a:rPr sz="1800" spc="-10" dirty="0">
                <a:latin typeface="Arial"/>
                <a:cs typeface="Arial"/>
              </a:rPr>
              <a:t> </a:t>
            </a:r>
            <a:r>
              <a:rPr sz="1800" dirty="0">
                <a:latin typeface="Arial"/>
                <a:cs typeface="Arial"/>
              </a:rPr>
              <a:t>composition</a:t>
            </a:r>
            <a:r>
              <a:rPr sz="1800" spc="-25" dirty="0">
                <a:latin typeface="Arial"/>
                <a:cs typeface="Arial"/>
              </a:rPr>
              <a:t> of 	</a:t>
            </a:r>
            <a:r>
              <a:rPr sz="1800" dirty="0">
                <a:latin typeface="Arial"/>
                <a:cs typeface="Arial"/>
              </a:rPr>
              <a:t>services.</a:t>
            </a:r>
            <a:r>
              <a:rPr sz="1800" spc="-25"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web</a:t>
            </a:r>
            <a:r>
              <a:rPr sz="1800" spc="15" dirty="0">
                <a:latin typeface="Arial"/>
                <a:cs typeface="Arial"/>
              </a:rPr>
              <a:t> </a:t>
            </a:r>
            <a:r>
              <a:rPr sz="1800" dirty="0">
                <a:latin typeface="Arial"/>
                <a:cs typeface="Arial"/>
              </a:rPr>
              <a:t>is</a:t>
            </a:r>
            <a:r>
              <a:rPr sz="1800" spc="-20" dirty="0">
                <a:latin typeface="Arial"/>
                <a:cs typeface="Arial"/>
              </a:rPr>
              <a:t> </a:t>
            </a:r>
            <a:r>
              <a:rPr sz="1800" dirty="0">
                <a:latin typeface="Arial"/>
                <a:cs typeface="Arial"/>
              </a:rPr>
              <a:t>dominated</a:t>
            </a:r>
            <a:r>
              <a:rPr sz="1800" spc="-5" dirty="0">
                <a:latin typeface="Arial"/>
                <a:cs typeface="Arial"/>
              </a:rPr>
              <a:t> </a:t>
            </a:r>
            <a:r>
              <a:rPr sz="1800" dirty="0">
                <a:latin typeface="Arial"/>
                <a:cs typeface="Arial"/>
              </a:rPr>
              <a:t>by</a:t>
            </a:r>
            <a:r>
              <a:rPr sz="1800" spc="-25" dirty="0">
                <a:latin typeface="Arial"/>
                <a:cs typeface="Arial"/>
              </a:rPr>
              <a:t> </a:t>
            </a:r>
            <a:r>
              <a:rPr sz="1800" dirty="0">
                <a:latin typeface="Arial"/>
                <a:cs typeface="Arial"/>
              </a:rPr>
              <a:t>unstructured</a:t>
            </a:r>
            <a:r>
              <a:rPr sz="1800" spc="-20" dirty="0">
                <a:latin typeface="Arial"/>
                <a:cs typeface="Arial"/>
              </a:rPr>
              <a:t> </a:t>
            </a:r>
            <a:r>
              <a:rPr sz="1800" dirty="0">
                <a:latin typeface="Arial"/>
                <a:cs typeface="Arial"/>
              </a:rPr>
              <a:t>or</a:t>
            </a:r>
            <a:r>
              <a:rPr sz="1800" spc="-25" dirty="0">
                <a:latin typeface="Arial"/>
                <a:cs typeface="Arial"/>
              </a:rPr>
              <a:t> </a:t>
            </a:r>
            <a:r>
              <a:rPr sz="1800" spc="-10" dirty="0">
                <a:latin typeface="Arial"/>
                <a:cs typeface="Arial"/>
              </a:rPr>
              <a:t>semi-structured 	</a:t>
            </a:r>
            <a:r>
              <a:rPr sz="1800" dirty="0">
                <a:latin typeface="Arial"/>
                <a:cs typeface="Arial"/>
              </a:rPr>
              <a:t>data,</a:t>
            </a:r>
            <a:r>
              <a:rPr sz="1800" spc="-45" dirty="0">
                <a:latin typeface="Arial"/>
                <a:cs typeface="Arial"/>
              </a:rPr>
              <a:t> </a:t>
            </a:r>
            <a:r>
              <a:rPr sz="1800" dirty="0">
                <a:latin typeface="Arial"/>
                <a:cs typeface="Arial"/>
              </a:rPr>
              <a:t>while</a:t>
            </a:r>
            <a:r>
              <a:rPr sz="1800" spc="10"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semantic</a:t>
            </a:r>
            <a:r>
              <a:rPr sz="1800" spc="-30" dirty="0">
                <a:latin typeface="Arial"/>
                <a:cs typeface="Arial"/>
              </a:rPr>
              <a:t> </a:t>
            </a:r>
            <a:r>
              <a:rPr sz="1800" dirty="0">
                <a:latin typeface="Arial"/>
                <a:cs typeface="Arial"/>
              </a:rPr>
              <a:t>web</a:t>
            </a:r>
            <a:r>
              <a:rPr sz="1800" spc="10" dirty="0">
                <a:latin typeface="Arial"/>
                <a:cs typeface="Arial"/>
              </a:rPr>
              <a:t> </a:t>
            </a:r>
            <a:r>
              <a:rPr sz="1800" dirty="0">
                <a:latin typeface="Arial"/>
                <a:cs typeface="Arial"/>
              </a:rPr>
              <a:t>advocates</a:t>
            </a:r>
            <a:r>
              <a:rPr sz="1800" spc="-25" dirty="0">
                <a:latin typeface="Arial"/>
                <a:cs typeface="Arial"/>
              </a:rPr>
              <a:t> </a:t>
            </a:r>
            <a:r>
              <a:rPr sz="1800" dirty="0">
                <a:latin typeface="Arial"/>
                <a:cs typeface="Arial"/>
              </a:rPr>
              <a:t>inclusion</a:t>
            </a:r>
            <a:r>
              <a:rPr sz="1800" spc="-10" dirty="0">
                <a:latin typeface="Arial"/>
                <a:cs typeface="Arial"/>
              </a:rPr>
              <a:t> </a:t>
            </a:r>
            <a:r>
              <a:rPr sz="1800" dirty="0">
                <a:latin typeface="Arial"/>
                <a:cs typeface="Arial"/>
              </a:rPr>
              <a:t>of</a:t>
            </a:r>
            <a:r>
              <a:rPr sz="1800" spc="-40" dirty="0">
                <a:latin typeface="Arial"/>
                <a:cs typeface="Arial"/>
              </a:rPr>
              <a:t> </a:t>
            </a:r>
            <a:r>
              <a:rPr sz="1800" dirty="0">
                <a:latin typeface="Arial"/>
                <a:cs typeface="Arial"/>
              </a:rPr>
              <a:t>sematic</a:t>
            </a:r>
            <a:r>
              <a:rPr sz="1800" spc="-20" dirty="0">
                <a:latin typeface="Arial"/>
                <a:cs typeface="Arial"/>
              </a:rPr>
              <a:t> </a:t>
            </a:r>
            <a:r>
              <a:rPr sz="1800" dirty="0">
                <a:latin typeface="Arial"/>
                <a:cs typeface="Arial"/>
              </a:rPr>
              <a:t>content</a:t>
            </a:r>
            <a:r>
              <a:rPr sz="1800" spc="-25" dirty="0">
                <a:latin typeface="Arial"/>
                <a:cs typeface="Arial"/>
              </a:rPr>
              <a:t> in 	</a:t>
            </a:r>
            <a:r>
              <a:rPr sz="1800" dirty="0">
                <a:latin typeface="Arial"/>
                <a:cs typeface="Arial"/>
              </a:rPr>
              <a:t>web</a:t>
            </a:r>
            <a:r>
              <a:rPr sz="1800" spc="-20" dirty="0">
                <a:latin typeface="Arial"/>
                <a:cs typeface="Arial"/>
              </a:rPr>
              <a:t> </a:t>
            </a:r>
            <a:r>
              <a:rPr sz="1800" spc="-10" dirty="0">
                <a:latin typeface="Arial"/>
                <a:cs typeface="Arial"/>
              </a:rPr>
              <a:t>pages.</a:t>
            </a:r>
            <a:endParaRPr sz="1800">
              <a:latin typeface="Arial"/>
              <a:cs typeface="Arial"/>
            </a:endParaRPr>
          </a:p>
          <a:p>
            <a:pPr marL="755015" marR="145415" lvl="1" indent="-285750">
              <a:lnSpc>
                <a:spcPct val="100000"/>
              </a:lnSpc>
              <a:spcBef>
                <a:spcPts val="434"/>
              </a:spcBef>
              <a:buClr>
                <a:srgbClr val="9999CC"/>
              </a:buClr>
              <a:buSzPct val="80555"/>
              <a:buFont typeface="Wingdings"/>
              <a:buChar char=""/>
              <a:tabLst>
                <a:tab pos="756285" algn="l"/>
              </a:tabLst>
            </a:pPr>
            <a:r>
              <a:rPr sz="1800" dirty="0">
                <a:latin typeface="Arial"/>
                <a:cs typeface="Arial"/>
              </a:rPr>
              <a:t>The</a:t>
            </a:r>
            <a:r>
              <a:rPr sz="1800" spc="-45" dirty="0">
                <a:latin typeface="Arial"/>
                <a:cs typeface="Arial"/>
              </a:rPr>
              <a:t> </a:t>
            </a:r>
            <a:r>
              <a:rPr sz="1800" dirty="0">
                <a:latin typeface="Arial"/>
                <a:cs typeface="Arial"/>
              </a:rPr>
              <a:t>Grid</a:t>
            </a:r>
            <a:r>
              <a:rPr sz="1800" spc="-30" dirty="0">
                <a:latin typeface="Arial"/>
                <a:cs typeface="Arial"/>
              </a:rPr>
              <a:t> </a:t>
            </a:r>
            <a:r>
              <a:rPr sz="1800" dirty="0">
                <a:latin typeface="Arial"/>
                <a:cs typeface="Arial"/>
              </a:rPr>
              <a:t>-</a:t>
            </a:r>
            <a:r>
              <a:rPr sz="1800" spc="-20" dirty="0">
                <a:latin typeface="Arial"/>
                <a:cs typeface="Arial"/>
              </a:rPr>
              <a:t> </a:t>
            </a:r>
            <a:r>
              <a:rPr sz="1800" dirty="0">
                <a:latin typeface="Arial"/>
                <a:cs typeface="Arial"/>
              </a:rPr>
              <a:t>initiated</a:t>
            </a:r>
            <a:r>
              <a:rPr sz="1800" spc="-20" dirty="0">
                <a:latin typeface="Arial"/>
                <a:cs typeface="Arial"/>
              </a:rPr>
              <a:t> </a:t>
            </a:r>
            <a:r>
              <a:rPr sz="1800" dirty="0">
                <a:latin typeface="Arial"/>
                <a:cs typeface="Arial"/>
              </a:rPr>
              <a:t>in</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early</a:t>
            </a:r>
            <a:r>
              <a:rPr sz="1800" spc="-10" dirty="0">
                <a:latin typeface="Arial"/>
                <a:cs typeface="Arial"/>
              </a:rPr>
              <a:t> </a:t>
            </a:r>
            <a:r>
              <a:rPr sz="1800" dirty="0">
                <a:latin typeface="Arial"/>
                <a:cs typeface="Arial"/>
              </a:rPr>
              <a:t>1990s</a:t>
            </a:r>
            <a:r>
              <a:rPr sz="1800" spc="-5" dirty="0">
                <a:latin typeface="Arial"/>
                <a:cs typeface="Arial"/>
              </a:rPr>
              <a:t> </a:t>
            </a:r>
            <a:r>
              <a:rPr sz="1800" dirty="0">
                <a:latin typeface="Arial"/>
                <a:cs typeface="Arial"/>
              </a:rPr>
              <a:t>by</a:t>
            </a:r>
            <a:r>
              <a:rPr sz="1800" spc="-30" dirty="0">
                <a:latin typeface="Arial"/>
                <a:cs typeface="Arial"/>
              </a:rPr>
              <a:t> </a:t>
            </a:r>
            <a:r>
              <a:rPr sz="1800" dirty="0">
                <a:latin typeface="Arial"/>
                <a:cs typeface="Arial"/>
              </a:rPr>
              <a:t>National</a:t>
            </a:r>
            <a:r>
              <a:rPr sz="1800" spc="-10" dirty="0">
                <a:latin typeface="Arial"/>
                <a:cs typeface="Arial"/>
              </a:rPr>
              <a:t> </a:t>
            </a:r>
            <a:r>
              <a:rPr sz="1800" dirty="0">
                <a:latin typeface="Arial"/>
                <a:cs typeface="Arial"/>
              </a:rPr>
              <a:t>Laboratories </a:t>
            </a:r>
            <a:r>
              <a:rPr sz="1800" spc="-25" dirty="0">
                <a:latin typeface="Arial"/>
                <a:cs typeface="Arial"/>
              </a:rPr>
              <a:t>and 	</a:t>
            </a:r>
            <a:r>
              <a:rPr sz="1800" dirty="0">
                <a:latin typeface="Arial"/>
                <a:cs typeface="Arial"/>
              </a:rPr>
              <a:t>Universities;</a:t>
            </a:r>
            <a:r>
              <a:rPr sz="1800" spc="-20" dirty="0">
                <a:latin typeface="Arial"/>
                <a:cs typeface="Arial"/>
              </a:rPr>
              <a:t> </a:t>
            </a:r>
            <a:r>
              <a:rPr sz="1800" dirty="0">
                <a:latin typeface="Arial"/>
                <a:cs typeface="Arial"/>
              </a:rPr>
              <a:t>used</a:t>
            </a:r>
            <a:r>
              <a:rPr sz="1800" spc="-30" dirty="0">
                <a:latin typeface="Arial"/>
                <a:cs typeface="Arial"/>
              </a:rPr>
              <a:t> </a:t>
            </a:r>
            <a:r>
              <a:rPr sz="1800" dirty="0">
                <a:latin typeface="Arial"/>
                <a:cs typeface="Arial"/>
              </a:rPr>
              <a:t>primarily</a:t>
            </a:r>
            <a:r>
              <a:rPr sz="1800" spc="-30" dirty="0">
                <a:latin typeface="Arial"/>
                <a:cs typeface="Arial"/>
              </a:rPr>
              <a:t> </a:t>
            </a:r>
            <a:r>
              <a:rPr sz="1800" dirty="0">
                <a:latin typeface="Arial"/>
                <a:cs typeface="Arial"/>
              </a:rPr>
              <a:t>for</a:t>
            </a:r>
            <a:r>
              <a:rPr sz="1800" spc="-35" dirty="0">
                <a:latin typeface="Arial"/>
                <a:cs typeface="Arial"/>
              </a:rPr>
              <a:t> </a:t>
            </a:r>
            <a:r>
              <a:rPr sz="1800" dirty="0">
                <a:latin typeface="Arial"/>
                <a:cs typeface="Arial"/>
              </a:rPr>
              <a:t>applications</a:t>
            </a:r>
            <a:r>
              <a:rPr sz="1800" spc="-10" dirty="0">
                <a:latin typeface="Arial"/>
                <a:cs typeface="Arial"/>
              </a:rPr>
              <a:t> </a:t>
            </a:r>
            <a:r>
              <a:rPr sz="1800" dirty="0">
                <a:latin typeface="Arial"/>
                <a:cs typeface="Arial"/>
              </a:rPr>
              <a:t>in</a:t>
            </a:r>
            <a:r>
              <a:rPr sz="1800" spc="-25" dirty="0">
                <a:latin typeface="Arial"/>
                <a:cs typeface="Arial"/>
              </a:rPr>
              <a:t> </a:t>
            </a:r>
            <a:r>
              <a:rPr sz="1800" dirty="0">
                <a:latin typeface="Arial"/>
                <a:cs typeface="Arial"/>
              </a:rPr>
              <a:t>the</a:t>
            </a:r>
            <a:r>
              <a:rPr sz="1800" spc="-45" dirty="0">
                <a:latin typeface="Arial"/>
                <a:cs typeface="Arial"/>
              </a:rPr>
              <a:t> </a:t>
            </a:r>
            <a:r>
              <a:rPr sz="1800" dirty="0">
                <a:latin typeface="Arial"/>
                <a:cs typeface="Arial"/>
              </a:rPr>
              <a:t>area</a:t>
            </a:r>
            <a:r>
              <a:rPr sz="1800" spc="-35" dirty="0">
                <a:latin typeface="Arial"/>
                <a:cs typeface="Arial"/>
              </a:rPr>
              <a:t> </a:t>
            </a:r>
            <a:r>
              <a:rPr sz="1800" dirty="0">
                <a:latin typeface="Arial"/>
                <a:cs typeface="Arial"/>
              </a:rPr>
              <a:t>of</a:t>
            </a:r>
            <a:r>
              <a:rPr sz="1800" spc="-25" dirty="0">
                <a:latin typeface="Arial"/>
                <a:cs typeface="Arial"/>
              </a:rPr>
              <a:t> </a:t>
            </a:r>
            <a:r>
              <a:rPr sz="1800" dirty="0">
                <a:latin typeface="Arial"/>
                <a:cs typeface="Arial"/>
              </a:rPr>
              <a:t>science</a:t>
            </a:r>
            <a:r>
              <a:rPr sz="1800" spc="-30" dirty="0">
                <a:latin typeface="Arial"/>
                <a:cs typeface="Arial"/>
              </a:rPr>
              <a:t> </a:t>
            </a:r>
            <a:r>
              <a:rPr sz="1800" spc="-25" dirty="0">
                <a:latin typeface="Arial"/>
                <a:cs typeface="Arial"/>
              </a:rPr>
              <a:t>and 	</a:t>
            </a:r>
            <a:r>
              <a:rPr sz="1800" spc="-10" dirty="0">
                <a:latin typeface="Arial"/>
                <a:cs typeface="Arial"/>
              </a:rPr>
              <a:t>engineering.</a:t>
            </a:r>
            <a:endParaRPr sz="1800">
              <a:latin typeface="Arial"/>
              <a:cs typeface="Arial"/>
            </a:endParaRPr>
          </a:p>
          <a:p>
            <a:pPr marL="755650" lvl="1" indent="-285750">
              <a:lnSpc>
                <a:spcPct val="100000"/>
              </a:lnSpc>
              <a:spcBef>
                <a:spcPts val="430"/>
              </a:spcBef>
              <a:buClr>
                <a:srgbClr val="9999CC"/>
              </a:buClr>
              <a:buSzPct val="80555"/>
              <a:buFont typeface="Wingdings"/>
              <a:buChar char=""/>
              <a:tabLst>
                <a:tab pos="755650" algn="l"/>
              </a:tabLst>
            </a:pPr>
            <a:r>
              <a:rPr sz="1800" spc="-10" dirty="0">
                <a:latin typeface="Arial"/>
                <a:cs typeface="Arial"/>
              </a:rPr>
              <a:t>Peer-to-</a:t>
            </a:r>
            <a:r>
              <a:rPr sz="1800" dirty="0">
                <a:latin typeface="Arial"/>
                <a:cs typeface="Arial"/>
              </a:rPr>
              <a:t>peer</a:t>
            </a:r>
            <a:r>
              <a:rPr sz="1800" spc="30" dirty="0">
                <a:latin typeface="Arial"/>
                <a:cs typeface="Arial"/>
              </a:rPr>
              <a:t> </a:t>
            </a:r>
            <a:r>
              <a:rPr sz="1800" spc="-10" dirty="0">
                <a:latin typeface="Arial"/>
                <a:cs typeface="Arial"/>
              </a:rPr>
              <a:t>systems.</a:t>
            </a:r>
            <a:endParaRPr sz="1800">
              <a:latin typeface="Arial"/>
              <a:cs typeface="Arial"/>
            </a:endParaRPr>
          </a:p>
          <a:p>
            <a:pPr marL="755650" lvl="1" indent="-285750">
              <a:lnSpc>
                <a:spcPct val="100000"/>
              </a:lnSpc>
              <a:spcBef>
                <a:spcPts val="434"/>
              </a:spcBef>
              <a:buClr>
                <a:srgbClr val="9999CC"/>
              </a:buClr>
              <a:buSzPct val="80555"/>
              <a:buFont typeface="Wingdings"/>
              <a:buChar char=""/>
              <a:tabLst>
                <a:tab pos="755650" algn="l"/>
              </a:tabLst>
            </a:pPr>
            <a:r>
              <a:rPr sz="1800" dirty="0">
                <a:latin typeface="Arial"/>
                <a:cs typeface="Arial"/>
              </a:rPr>
              <a:t>Computer</a:t>
            </a:r>
            <a:r>
              <a:rPr sz="1800" spc="-35" dirty="0">
                <a:latin typeface="Arial"/>
                <a:cs typeface="Arial"/>
              </a:rPr>
              <a:t> </a:t>
            </a:r>
            <a:r>
              <a:rPr sz="1800" spc="-10" dirty="0">
                <a:latin typeface="Arial"/>
                <a:cs typeface="Arial"/>
              </a:rPr>
              <a:t>clouds.</a:t>
            </a:r>
            <a:endParaRPr sz="18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Cloud</a:t>
            </a:r>
            <a:r>
              <a:rPr spc="-25" dirty="0"/>
              <a:t> </a:t>
            </a:r>
            <a:r>
              <a:rPr spc="-10" dirty="0"/>
              <a:t>computing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7</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64591" y="1479905"/>
            <a:ext cx="7976870" cy="3989070"/>
          </a:xfrm>
          <a:prstGeom prst="rect">
            <a:avLst/>
          </a:prstGeom>
        </p:spPr>
        <p:txBody>
          <a:bodyPr vert="horz" wrap="square" lIns="0" tIns="43180" rIns="0" bIns="0" rtlCol="0">
            <a:spAutoFit/>
          </a:bodyPr>
          <a:lstStyle/>
          <a:p>
            <a:pPr marL="355600" marR="5080" indent="-342900">
              <a:lnSpc>
                <a:spcPct val="110000"/>
              </a:lnSpc>
              <a:spcBef>
                <a:spcPts val="340"/>
              </a:spcBef>
              <a:buClr>
                <a:srgbClr val="00007C"/>
              </a:buClr>
              <a:buSzPct val="75000"/>
              <a:buFont typeface="Wingdings"/>
              <a:buChar char=""/>
              <a:tabLst>
                <a:tab pos="355600" algn="l"/>
                <a:tab pos="4448175" algn="l"/>
                <a:tab pos="5854700" algn="l"/>
              </a:tabLst>
            </a:pPr>
            <a:r>
              <a:rPr lang="en-IN" sz="2000" dirty="0">
                <a:latin typeface="Arial"/>
                <a:cs typeface="Arial"/>
              </a:rPr>
              <a:t>Uses</a:t>
            </a:r>
            <a:r>
              <a:rPr lang="en-IN" sz="2000" spc="-50" dirty="0">
                <a:latin typeface="Arial"/>
                <a:cs typeface="Arial"/>
              </a:rPr>
              <a:t> </a:t>
            </a:r>
            <a:r>
              <a:rPr lang="en-IN" sz="2000" dirty="0">
                <a:latin typeface="Arial"/>
                <a:cs typeface="Arial"/>
              </a:rPr>
              <a:t>Internet</a:t>
            </a:r>
            <a:r>
              <a:rPr lang="en-IN" sz="2000" spc="-65" dirty="0">
                <a:latin typeface="Arial"/>
                <a:cs typeface="Arial"/>
              </a:rPr>
              <a:t> </a:t>
            </a:r>
            <a:r>
              <a:rPr lang="en-IN" sz="2000" dirty="0">
                <a:latin typeface="Arial"/>
                <a:cs typeface="Arial"/>
              </a:rPr>
              <a:t>technologies</a:t>
            </a:r>
            <a:r>
              <a:rPr lang="en-IN" sz="2000" spc="-40" dirty="0">
                <a:latin typeface="Arial"/>
                <a:cs typeface="Arial"/>
              </a:rPr>
              <a:t> </a:t>
            </a:r>
            <a:r>
              <a:rPr lang="en-IN" sz="2000" dirty="0">
                <a:latin typeface="Arial"/>
                <a:cs typeface="Arial"/>
              </a:rPr>
              <a:t>to</a:t>
            </a:r>
            <a:r>
              <a:rPr lang="en-IN" sz="2000" spc="-40" dirty="0">
                <a:latin typeface="Arial"/>
                <a:cs typeface="Arial"/>
              </a:rPr>
              <a:t> </a:t>
            </a:r>
            <a:r>
              <a:rPr lang="en-IN" sz="2000" dirty="0">
                <a:latin typeface="Arial"/>
                <a:cs typeface="Arial"/>
              </a:rPr>
              <a:t>offer</a:t>
            </a:r>
            <a:r>
              <a:rPr lang="en-IN" sz="2000" spc="-50" dirty="0">
                <a:latin typeface="Arial"/>
                <a:cs typeface="Arial"/>
              </a:rPr>
              <a:t> </a:t>
            </a:r>
            <a:r>
              <a:rPr lang="en-IN" sz="2000" dirty="0">
                <a:latin typeface="Arial"/>
                <a:cs typeface="Arial"/>
              </a:rPr>
              <a:t>scalable</a:t>
            </a:r>
            <a:r>
              <a:rPr lang="en-IN" sz="2000" spc="-35" dirty="0">
                <a:latin typeface="Arial"/>
                <a:cs typeface="Arial"/>
              </a:rPr>
              <a:t> </a:t>
            </a:r>
            <a:r>
              <a:rPr lang="en-IN" sz="2000" spc="-25" dirty="0">
                <a:latin typeface="Arial"/>
                <a:cs typeface="Arial"/>
              </a:rPr>
              <a:t>and</a:t>
            </a:r>
            <a:r>
              <a:rPr lang="en-IN" sz="2000" dirty="0">
                <a:latin typeface="Arial"/>
                <a:cs typeface="Arial"/>
              </a:rPr>
              <a:t>	elastic</a:t>
            </a:r>
            <a:r>
              <a:rPr lang="en-IN" sz="2000" spc="-35" dirty="0">
                <a:latin typeface="Arial"/>
                <a:cs typeface="Arial"/>
              </a:rPr>
              <a:t> </a:t>
            </a:r>
            <a:r>
              <a:rPr lang="en-IN" sz="2000" spc="-10" dirty="0">
                <a:latin typeface="Arial"/>
                <a:cs typeface="Arial"/>
              </a:rPr>
              <a:t>services. </a:t>
            </a:r>
            <a:r>
              <a:rPr sz="2000" dirty="0">
                <a:latin typeface="Arial"/>
                <a:cs typeface="Arial"/>
              </a:rPr>
              <a:t>The</a:t>
            </a:r>
            <a:r>
              <a:rPr sz="2000" spc="-30" dirty="0">
                <a:latin typeface="Arial"/>
                <a:cs typeface="Arial"/>
              </a:rPr>
              <a:t> </a:t>
            </a:r>
            <a:r>
              <a:rPr sz="2000" dirty="0">
                <a:latin typeface="Arial"/>
                <a:cs typeface="Arial"/>
              </a:rPr>
              <a:t>term</a:t>
            </a:r>
            <a:r>
              <a:rPr sz="2000" spc="-30" dirty="0">
                <a:latin typeface="Arial"/>
                <a:cs typeface="Arial"/>
              </a:rPr>
              <a:t> </a:t>
            </a:r>
            <a:r>
              <a:rPr sz="2000" dirty="0">
                <a:latin typeface="Arial"/>
                <a:cs typeface="Arial"/>
              </a:rPr>
              <a:t>“</a:t>
            </a:r>
            <a:r>
              <a:rPr lang="en-IN" sz="2000" dirty="0">
                <a:latin typeface="Arial"/>
                <a:cs typeface="Arial"/>
              </a:rPr>
              <a:t>elastic</a:t>
            </a:r>
            <a:r>
              <a:rPr sz="2000" spc="-45" dirty="0">
                <a:latin typeface="Arial"/>
                <a:cs typeface="Arial"/>
              </a:rPr>
              <a:t> </a:t>
            </a:r>
            <a:r>
              <a:rPr sz="2000" dirty="0">
                <a:latin typeface="Arial"/>
                <a:cs typeface="Arial"/>
              </a:rPr>
              <a:t>computing”</a:t>
            </a:r>
            <a:r>
              <a:rPr sz="2000" spc="-60" dirty="0">
                <a:latin typeface="Arial"/>
                <a:cs typeface="Arial"/>
              </a:rPr>
              <a:t> </a:t>
            </a:r>
            <a:r>
              <a:rPr sz="2000" dirty="0">
                <a:latin typeface="Arial"/>
                <a:cs typeface="Arial"/>
              </a:rPr>
              <a:t>refers</a:t>
            </a:r>
            <a:r>
              <a:rPr sz="2000" spc="-50" dirty="0">
                <a:latin typeface="Arial"/>
                <a:cs typeface="Arial"/>
              </a:rPr>
              <a:t> </a:t>
            </a:r>
            <a:r>
              <a:rPr sz="2000" dirty="0">
                <a:latin typeface="Arial"/>
                <a:cs typeface="Arial"/>
              </a:rPr>
              <a:t>to</a:t>
            </a:r>
            <a:r>
              <a:rPr sz="2000" spc="-20"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ability</a:t>
            </a:r>
            <a:r>
              <a:rPr sz="2000" spc="-15" dirty="0">
                <a:latin typeface="Arial"/>
                <a:cs typeface="Arial"/>
              </a:rPr>
              <a:t> </a:t>
            </a:r>
            <a:r>
              <a:rPr sz="2000" dirty="0">
                <a:latin typeface="Arial"/>
                <a:cs typeface="Arial"/>
              </a:rPr>
              <a:t>of</a:t>
            </a:r>
            <a:r>
              <a:rPr sz="2000" spc="-15" dirty="0">
                <a:latin typeface="Arial"/>
                <a:cs typeface="Arial"/>
              </a:rPr>
              <a:t> </a:t>
            </a:r>
            <a:r>
              <a:rPr sz="2000" i="1" spc="-10" dirty="0">
                <a:latin typeface="Arial"/>
                <a:cs typeface="Arial"/>
              </a:rPr>
              <a:t>dynamically </a:t>
            </a:r>
            <a:r>
              <a:rPr sz="2000" i="1" dirty="0">
                <a:latin typeface="Arial"/>
                <a:cs typeface="Arial"/>
              </a:rPr>
              <a:t>acquiring</a:t>
            </a:r>
            <a:r>
              <a:rPr sz="2000" i="1" spc="-40" dirty="0">
                <a:latin typeface="Arial"/>
                <a:cs typeface="Arial"/>
              </a:rPr>
              <a:t> </a:t>
            </a:r>
            <a:r>
              <a:rPr sz="2000" i="1" dirty="0">
                <a:latin typeface="Arial"/>
                <a:cs typeface="Arial"/>
              </a:rPr>
              <a:t>computing</a:t>
            </a:r>
            <a:r>
              <a:rPr sz="2000" i="1" spc="-25" dirty="0">
                <a:latin typeface="Arial"/>
                <a:cs typeface="Arial"/>
              </a:rPr>
              <a:t> </a:t>
            </a:r>
            <a:r>
              <a:rPr sz="2000" i="1" dirty="0">
                <a:latin typeface="Arial"/>
                <a:cs typeface="Arial"/>
              </a:rPr>
              <a:t>resources</a:t>
            </a:r>
            <a:r>
              <a:rPr sz="2000" i="1" spc="-35" dirty="0">
                <a:latin typeface="Arial"/>
                <a:cs typeface="Arial"/>
              </a:rPr>
              <a:t> </a:t>
            </a:r>
            <a:r>
              <a:rPr sz="2000" spc="-25" dirty="0">
                <a:latin typeface="Arial"/>
                <a:cs typeface="Arial"/>
              </a:rPr>
              <a:t>and</a:t>
            </a:r>
            <a:r>
              <a:rPr sz="2000" dirty="0">
                <a:latin typeface="Arial"/>
                <a:cs typeface="Arial"/>
              </a:rPr>
              <a:t>	supporting</a:t>
            </a:r>
            <a:r>
              <a:rPr sz="2000" spc="-90" dirty="0">
                <a:latin typeface="Arial"/>
                <a:cs typeface="Arial"/>
              </a:rPr>
              <a:t> </a:t>
            </a:r>
            <a:r>
              <a:rPr sz="2000" dirty="0">
                <a:latin typeface="Arial"/>
                <a:cs typeface="Arial"/>
              </a:rPr>
              <a:t>a</a:t>
            </a:r>
            <a:r>
              <a:rPr sz="2000" spc="-35" dirty="0">
                <a:latin typeface="Arial"/>
                <a:cs typeface="Arial"/>
              </a:rPr>
              <a:t> </a:t>
            </a:r>
            <a:r>
              <a:rPr sz="2000" dirty="0">
                <a:latin typeface="Arial"/>
                <a:cs typeface="Arial"/>
              </a:rPr>
              <a:t>variable</a:t>
            </a:r>
            <a:r>
              <a:rPr sz="2000" spc="-50" dirty="0">
                <a:latin typeface="Arial"/>
                <a:cs typeface="Arial"/>
              </a:rPr>
              <a:t> </a:t>
            </a:r>
            <a:r>
              <a:rPr sz="2000" spc="-10" dirty="0">
                <a:latin typeface="Arial"/>
                <a:cs typeface="Arial"/>
              </a:rPr>
              <a:t>workload.</a:t>
            </a:r>
            <a:endParaRPr sz="2000" dirty="0">
              <a:latin typeface="Arial"/>
              <a:cs typeface="Arial"/>
            </a:endParaRPr>
          </a:p>
          <a:p>
            <a:pPr>
              <a:lnSpc>
                <a:spcPct val="100000"/>
              </a:lnSpc>
              <a:spcBef>
                <a:spcPts val="1055"/>
              </a:spcBef>
              <a:buClr>
                <a:srgbClr val="00007C"/>
              </a:buClr>
              <a:buFont typeface="Wingdings"/>
              <a:buChar char=""/>
            </a:pPr>
            <a:endParaRPr sz="2000" dirty="0">
              <a:latin typeface="Arial"/>
              <a:cs typeface="Arial"/>
            </a:endParaRPr>
          </a:p>
          <a:p>
            <a:pPr marL="342265" marR="988694" indent="-342265" algn="r">
              <a:lnSpc>
                <a:spcPct val="100000"/>
              </a:lnSpc>
              <a:spcBef>
                <a:spcPts val="5"/>
              </a:spcBef>
              <a:buClr>
                <a:srgbClr val="00007C"/>
              </a:buClr>
              <a:buSzPct val="75000"/>
              <a:buFont typeface="Wingdings"/>
              <a:buChar char=""/>
              <a:tabLst>
                <a:tab pos="342265" algn="l"/>
              </a:tabLst>
            </a:pPr>
            <a:r>
              <a:rPr lang="en-IN" sz="2000" dirty="0">
                <a:latin typeface="Arial"/>
                <a:cs typeface="Arial"/>
              </a:rPr>
              <a:t>The</a:t>
            </a:r>
            <a:r>
              <a:rPr lang="en-IN" sz="2000" spc="-25" dirty="0">
                <a:latin typeface="Arial"/>
                <a:cs typeface="Arial"/>
              </a:rPr>
              <a:t> </a:t>
            </a:r>
            <a:r>
              <a:rPr lang="en-IN" sz="2000" dirty="0">
                <a:latin typeface="Arial"/>
                <a:cs typeface="Arial"/>
              </a:rPr>
              <a:t>resources</a:t>
            </a:r>
            <a:r>
              <a:rPr lang="en-IN" sz="2000" spc="-60" dirty="0">
                <a:latin typeface="Arial"/>
                <a:cs typeface="Arial"/>
              </a:rPr>
              <a:t> </a:t>
            </a:r>
            <a:r>
              <a:rPr lang="en-IN" sz="2000" dirty="0">
                <a:latin typeface="Arial"/>
                <a:cs typeface="Arial"/>
              </a:rPr>
              <a:t>used</a:t>
            </a:r>
            <a:r>
              <a:rPr lang="en-IN" sz="2000" spc="-20" dirty="0">
                <a:latin typeface="Arial"/>
                <a:cs typeface="Arial"/>
              </a:rPr>
              <a:t> </a:t>
            </a:r>
            <a:r>
              <a:rPr lang="en-IN" sz="2000" dirty="0">
                <a:latin typeface="Arial"/>
                <a:cs typeface="Arial"/>
              </a:rPr>
              <a:t>for</a:t>
            </a:r>
            <a:r>
              <a:rPr lang="en-IN" sz="2000" spc="-35" dirty="0">
                <a:latin typeface="Arial"/>
                <a:cs typeface="Arial"/>
              </a:rPr>
              <a:t> </a:t>
            </a:r>
            <a:r>
              <a:rPr lang="en-IN" sz="2000" dirty="0">
                <a:latin typeface="Arial"/>
                <a:cs typeface="Arial"/>
              </a:rPr>
              <a:t>these</a:t>
            </a:r>
            <a:r>
              <a:rPr lang="en-IN" sz="2000" spc="-35" dirty="0">
                <a:latin typeface="Arial"/>
                <a:cs typeface="Arial"/>
              </a:rPr>
              <a:t> </a:t>
            </a:r>
            <a:r>
              <a:rPr lang="en-IN" sz="2000" dirty="0">
                <a:latin typeface="Arial"/>
                <a:cs typeface="Arial"/>
              </a:rPr>
              <a:t>services</a:t>
            </a:r>
            <a:r>
              <a:rPr lang="en-IN" sz="2000" spc="-25" dirty="0">
                <a:latin typeface="Arial"/>
                <a:cs typeface="Arial"/>
              </a:rPr>
              <a:t> </a:t>
            </a:r>
            <a:r>
              <a:rPr lang="en-IN" sz="2000" dirty="0">
                <a:latin typeface="Arial"/>
                <a:cs typeface="Arial"/>
              </a:rPr>
              <a:t>can</a:t>
            </a:r>
            <a:r>
              <a:rPr lang="en-IN" sz="2000" spc="-35" dirty="0">
                <a:latin typeface="Arial"/>
                <a:cs typeface="Arial"/>
              </a:rPr>
              <a:t> </a:t>
            </a:r>
            <a:r>
              <a:rPr lang="en-IN" sz="2000" dirty="0">
                <a:latin typeface="Arial"/>
                <a:cs typeface="Arial"/>
              </a:rPr>
              <a:t>be</a:t>
            </a:r>
            <a:r>
              <a:rPr lang="en-IN" sz="2000" spc="-5" dirty="0">
                <a:latin typeface="Arial"/>
                <a:cs typeface="Arial"/>
              </a:rPr>
              <a:t> </a:t>
            </a:r>
            <a:r>
              <a:rPr lang="en-IN" sz="2000" dirty="0">
                <a:latin typeface="Arial"/>
                <a:cs typeface="Arial"/>
              </a:rPr>
              <a:t>metered</a:t>
            </a:r>
            <a:r>
              <a:rPr lang="en-IN" sz="2000" spc="-45" dirty="0">
                <a:latin typeface="Arial"/>
                <a:cs typeface="Arial"/>
              </a:rPr>
              <a:t> </a:t>
            </a:r>
            <a:r>
              <a:rPr lang="en-IN" sz="2000" spc="-25" dirty="0">
                <a:latin typeface="Arial"/>
                <a:cs typeface="Arial"/>
              </a:rPr>
              <a:t>and</a:t>
            </a:r>
            <a:endParaRPr lang="en-IN" sz="2000" dirty="0">
              <a:latin typeface="Arial"/>
              <a:cs typeface="Arial"/>
            </a:endParaRPr>
          </a:p>
          <a:p>
            <a:pPr marR="992505" algn="r">
              <a:lnSpc>
                <a:spcPct val="100000"/>
              </a:lnSpc>
              <a:spcBef>
                <a:spcPts val="480"/>
              </a:spcBef>
            </a:pPr>
            <a:r>
              <a:rPr lang="en-IN" sz="2000" dirty="0">
                <a:latin typeface="Arial"/>
                <a:cs typeface="Arial"/>
              </a:rPr>
              <a:t>the</a:t>
            </a:r>
            <a:r>
              <a:rPr lang="en-IN" sz="2000" spc="-20" dirty="0">
                <a:latin typeface="Arial"/>
                <a:cs typeface="Arial"/>
              </a:rPr>
              <a:t> </a:t>
            </a:r>
            <a:r>
              <a:rPr lang="en-IN" sz="2000" i="1" dirty="0">
                <a:latin typeface="Arial"/>
                <a:cs typeface="Arial"/>
              </a:rPr>
              <a:t>users</a:t>
            </a:r>
            <a:r>
              <a:rPr lang="en-IN" sz="2000" i="1" spc="-35" dirty="0">
                <a:latin typeface="Arial"/>
                <a:cs typeface="Arial"/>
              </a:rPr>
              <a:t> </a:t>
            </a:r>
            <a:r>
              <a:rPr lang="en-IN" sz="2000" i="1" dirty="0">
                <a:latin typeface="Arial"/>
                <a:cs typeface="Arial"/>
              </a:rPr>
              <a:t>can</a:t>
            </a:r>
            <a:r>
              <a:rPr lang="en-IN" sz="2000" i="1" spc="-10" dirty="0">
                <a:latin typeface="Arial"/>
                <a:cs typeface="Arial"/>
              </a:rPr>
              <a:t> </a:t>
            </a:r>
            <a:r>
              <a:rPr lang="en-IN" sz="2000" i="1" dirty="0">
                <a:latin typeface="Arial"/>
                <a:cs typeface="Arial"/>
              </a:rPr>
              <a:t>be</a:t>
            </a:r>
            <a:r>
              <a:rPr lang="en-IN" sz="2000" i="1" spc="-15" dirty="0">
                <a:latin typeface="Arial"/>
                <a:cs typeface="Arial"/>
              </a:rPr>
              <a:t> </a:t>
            </a:r>
            <a:r>
              <a:rPr lang="en-IN" sz="2000" i="1" dirty="0">
                <a:latin typeface="Arial"/>
                <a:cs typeface="Arial"/>
              </a:rPr>
              <a:t>charged</a:t>
            </a:r>
            <a:r>
              <a:rPr lang="en-IN" sz="2000" i="1" spc="-40" dirty="0">
                <a:latin typeface="Arial"/>
                <a:cs typeface="Arial"/>
              </a:rPr>
              <a:t> </a:t>
            </a:r>
            <a:r>
              <a:rPr lang="en-IN" sz="2000" i="1" dirty="0">
                <a:latin typeface="Arial"/>
                <a:cs typeface="Arial"/>
              </a:rPr>
              <a:t>only</a:t>
            </a:r>
            <a:r>
              <a:rPr lang="en-IN" sz="2000" i="1" spc="-15" dirty="0">
                <a:latin typeface="Arial"/>
                <a:cs typeface="Arial"/>
              </a:rPr>
              <a:t> </a:t>
            </a:r>
            <a:r>
              <a:rPr lang="en-IN" sz="2000" i="1" dirty="0">
                <a:latin typeface="Arial"/>
                <a:cs typeface="Arial"/>
              </a:rPr>
              <a:t>for</a:t>
            </a:r>
            <a:r>
              <a:rPr lang="en-IN" sz="2000" i="1" spc="-20" dirty="0">
                <a:latin typeface="Arial"/>
                <a:cs typeface="Arial"/>
              </a:rPr>
              <a:t> </a:t>
            </a:r>
            <a:r>
              <a:rPr lang="en-IN" sz="2000" i="1" dirty="0">
                <a:latin typeface="Arial"/>
                <a:cs typeface="Arial"/>
              </a:rPr>
              <a:t>the</a:t>
            </a:r>
            <a:r>
              <a:rPr lang="en-IN" sz="2000" i="1" spc="-20" dirty="0">
                <a:latin typeface="Arial"/>
                <a:cs typeface="Arial"/>
              </a:rPr>
              <a:t> </a:t>
            </a:r>
            <a:r>
              <a:rPr lang="en-IN" sz="2000" i="1" dirty="0">
                <a:latin typeface="Arial"/>
                <a:cs typeface="Arial"/>
              </a:rPr>
              <a:t>resources</a:t>
            </a:r>
            <a:r>
              <a:rPr lang="en-IN" sz="2000" i="1" spc="-55" dirty="0">
                <a:latin typeface="Arial"/>
                <a:cs typeface="Arial"/>
              </a:rPr>
              <a:t> </a:t>
            </a:r>
            <a:r>
              <a:rPr lang="en-IN" sz="2000" i="1" dirty="0">
                <a:latin typeface="Arial"/>
                <a:cs typeface="Arial"/>
              </a:rPr>
              <a:t>they</a:t>
            </a:r>
            <a:r>
              <a:rPr lang="en-IN" sz="2000" i="1" spc="-25" dirty="0">
                <a:latin typeface="Arial"/>
                <a:cs typeface="Arial"/>
              </a:rPr>
              <a:t> </a:t>
            </a:r>
            <a:r>
              <a:rPr lang="en-IN" sz="2000" i="1" spc="-10" dirty="0">
                <a:latin typeface="Arial"/>
                <a:cs typeface="Arial"/>
              </a:rPr>
              <a:t>used</a:t>
            </a:r>
            <a:r>
              <a:rPr lang="en-IN" sz="2000" spc="-10" dirty="0">
                <a:latin typeface="Arial"/>
                <a:cs typeface="Arial"/>
              </a:rPr>
              <a:t>.</a:t>
            </a:r>
            <a:endParaRPr lang="en-IN" sz="2000" dirty="0">
              <a:latin typeface="Arial"/>
              <a:cs typeface="Arial"/>
            </a:endParaRPr>
          </a:p>
          <a:p>
            <a:pPr>
              <a:lnSpc>
                <a:spcPct val="100000"/>
              </a:lnSpc>
              <a:spcBef>
                <a:spcPts val="1060"/>
              </a:spcBef>
            </a:pPr>
            <a:endParaRPr sz="2000" dirty="0">
              <a:latin typeface="Arial"/>
              <a:cs typeface="Arial"/>
            </a:endParaRPr>
          </a:p>
          <a:p>
            <a:pPr marL="354965" indent="-342265">
              <a:lnSpc>
                <a:spcPct val="100000"/>
              </a:lnSpc>
              <a:buClr>
                <a:srgbClr val="00007C"/>
              </a:buClr>
              <a:buSzPct val="75000"/>
              <a:buFont typeface="Wingdings"/>
              <a:buChar char=""/>
              <a:tabLst>
                <a:tab pos="354965" algn="l"/>
              </a:tabLst>
            </a:pPr>
            <a:r>
              <a:rPr sz="2000" dirty="0">
                <a:latin typeface="Arial"/>
                <a:cs typeface="Arial"/>
              </a:rPr>
              <a:t>The</a:t>
            </a:r>
            <a:r>
              <a:rPr sz="2000" spc="-30" dirty="0">
                <a:latin typeface="Arial"/>
                <a:cs typeface="Arial"/>
              </a:rPr>
              <a:t> </a:t>
            </a:r>
            <a:r>
              <a:rPr sz="2000" dirty="0">
                <a:latin typeface="Arial"/>
                <a:cs typeface="Arial"/>
              </a:rPr>
              <a:t>maintenance</a:t>
            </a:r>
            <a:r>
              <a:rPr sz="2000" spc="-45" dirty="0">
                <a:latin typeface="Arial"/>
                <a:cs typeface="Arial"/>
              </a:rPr>
              <a:t> </a:t>
            </a:r>
            <a:r>
              <a:rPr sz="2000" dirty="0">
                <a:latin typeface="Arial"/>
                <a:cs typeface="Arial"/>
              </a:rPr>
              <a:t>and</a:t>
            </a:r>
            <a:r>
              <a:rPr sz="2000" spc="-20" dirty="0">
                <a:latin typeface="Arial"/>
                <a:cs typeface="Arial"/>
              </a:rPr>
              <a:t> </a:t>
            </a:r>
            <a:r>
              <a:rPr sz="2000" dirty="0">
                <a:latin typeface="Arial"/>
                <a:cs typeface="Arial"/>
              </a:rPr>
              <a:t>security</a:t>
            </a:r>
            <a:r>
              <a:rPr sz="2000" spc="-45" dirty="0">
                <a:latin typeface="Arial"/>
                <a:cs typeface="Arial"/>
              </a:rPr>
              <a:t> </a:t>
            </a:r>
            <a:r>
              <a:rPr sz="2000" dirty="0">
                <a:latin typeface="Arial"/>
                <a:cs typeface="Arial"/>
              </a:rPr>
              <a:t>are</a:t>
            </a:r>
            <a:r>
              <a:rPr sz="2000" spc="-20" dirty="0">
                <a:latin typeface="Arial"/>
                <a:cs typeface="Arial"/>
              </a:rPr>
              <a:t> </a:t>
            </a:r>
            <a:r>
              <a:rPr sz="2000" dirty="0">
                <a:latin typeface="Arial"/>
                <a:cs typeface="Arial"/>
              </a:rPr>
              <a:t>ensured</a:t>
            </a:r>
            <a:r>
              <a:rPr sz="2000" spc="-55" dirty="0">
                <a:latin typeface="Arial"/>
                <a:cs typeface="Arial"/>
              </a:rPr>
              <a:t> </a:t>
            </a:r>
            <a:r>
              <a:rPr sz="2000" dirty="0">
                <a:latin typeface="Arial"/>
                <a:cs typeface="Arial"/>
              </a:rPr>
              <a:t>by</a:t>
            </a:r>
            <a:r>
              <a:rPr sz="2000" spc="-15" dirty="0">
                <a:latin typeface="Arial"/>
                <a:cs typeface="Arial"/>
              </a:rPr>
              <a:t> </a:t>
            </a:r>
            <a:r>
              <a:rPr sz="2000" dirty="0">
                <a:latin typeface="Arial"/>
                <a:cs typeface="Arial"/>
              </a:rPr>
              <a:t>service</a:t>
            </a:r>
            <a:r>
              <a:rPr sz="2000" spc="-25" dirty="0">
                <a:latin typeface="Arial"/>
                <a:cs typeface="Arial"/>
              </a:rPr>
              <a:t> </a:t>
            </a:r>
            <a:r>
              <a:rPr sz="2000" spc="-10" dirty="0">
                <a:latin typeface="Arial"/>
                <a:cs typeface="Arial"/>
              </a:rPr>
              <a:t>providers.</a:t>
            </a:r>
            <a:endParaRPr sz="2000" dirty="0">
              <a:latin typeface="Arial"/>
              <a:cs typeface="Arial"/>
            </a:endParaRPr>
          </a:p>
          <a:p>
            <a:pPr>
              <a:lnSpc>
                <a:spcPct val="100000"/>
              </a:lnSpc>
              <a:spcBef>
                <a:spcPts val="580"/>
              </a:spcBef>
              <a:buClr>
                <a:srgbClr val="00007C"/>
              </a:buClr>
              <a:buFont typeface="Wingdings"/>
              <a:buChar char=""/>
            </a:pPr>
            <a:endParaRPr sz="2000" dirty="0">
              <a:latin typeface="Arial"/>
              <a:cs typeface="Arial"/>
            </a:endParaRPr>
          </a:p>
          <a:p>
            <a:pPr marL="354965" marR="1226185" indent="-342900">
              <a:lnSpc>
                <a:spcPct val="120000"/>
              </a:lnSpc>
              <a:spcBef>
                <a:spcPts val="5"/>
              </a:spcBef>
              <a:buClr>
                <a:srgbClr val="00007C"/>
              </a:buClr>
              <a:buSzPct val="75000"/>
              <a:buFont typeface="Wingdings"/>
              <a:buChar char=""/>
              <a:tabLst>
                <a:tab pos="361315" algn="l"/>
              </a:tabLst>
            </a:pPr>
            <a:r>
              <a:rPr sz="2000" dirty="0">
                <a:latin typeface="Arial"/>
                <a:cs typeface="Arial"/>
              </a:rPr>
              <a:t>The</a:t>
            </a:r>
            <a:r>
              <a:rPr sz="2000" spc="-35" dirty="0">
                <a:latin typeface="Arial"/>
                <a:cs typeface="Arial"/>
              </a:rPr>
              <a:t> </a:t>
            </a:r>
            <a:r>
              <a:rPr sz="2000" dirty="0">
                <a:latin typeface="Arial"/>
                <a:cs typeface="Arial"/>
              </a:rPr>
              <a:t>service</a:t>
            </a:r>
            <a:r>
              <a:rPr sz="2000" spc="-40" dirty="0">
                <a:latin typeface="Arial"/>
                <a:cs typeface="Arial"/>
              </a:rPr>
              <a:t> </a:t>
            </a:r>
            <a:r>
              <a:rPr sz="2000" dirty="0">
                <a:latin typeface="Arial"/>
                <a:cs typeface="Arial"/>
              </a:rPr>
              <a:t>providers</a:t>
            </a:r>
            <a:r>
              <a:rPr sz="2000" spc="-40" dirty="0">
                <a:latin typeface="Arial"/>
                <a:cs typeface="Arial"/>
              </a:rPr>
              <a:t> </a:t>
            </a:r>
            <a:r>
              <a:rPr sz="2000" dirty="0">
                <a:latin typeface="Arial"/>
                <a:cs typeface="Arial"/>
              </a:rPr>
              <a:t>can</a:t>
            </a:r>
            <a:r>
              <a:rPr sz="2000" spc="-45" dirty="0">
                <a:latin typeface="Arial"/>
                <a:cs typeface="Arial"/>
              </a:rPr>
              <a:t> </a:t>
            </a:r>
            <a:r>
              <a:rPr sz="2000" dirty="0">
                <a:latin typeface="Arial"/>
                <a:cs typeface="Arial"/>
              </a:rPr>
              <a:t>operate</a:t>
            </a:r>
            <a:r>
              <a:rPr sz="2000" spc="-45" dirty="0">
                <a:latin typeface="Arial"/>
                <a:cs typeface="Arial"/>
              </a:rPr>
              <a:t> </a:t>
            </a:r>
            <a:r>
              <a:rPr sz="2000" dirty="0">
                <a:latin typeface="Arial"/>
                <a:cs typeface="Arial"/>
              </a:rPr>
              <a:t>more</a:t>
            </a:r>
            <a:r>
              <a:rPr sz="2000" spc="-40" dirty="0">
                <a:latin typeface="Arial"/>
                <a:cs typeface="Arial"/>
              </a:rPr>
              <a:t> </a:t>
            </a:r>
            <a:r>
              <a:rPr sz="2000" dirty="0">
                <a:latin typeface="Arial"/>
                <a:cs typeface="Arial"/>
              </a:rPr>
              <a:t>efficiently</a:t>
            </a:r>
            <a:r>
              <a:rPr sz="2000" spc="-50" dirty="0">
                <a:latin typeface="Arial"/>
                <a:cs typeface="Arial"/>
              </a:rPr>
              <a:t> </a:t>
            </a:r>
            <a:r>
              <a:rPr sz="2000" dirty="0">
                <a:latin typeface="Arial"/>
                <a:cs typeface="Arial"/>
              </a:rPr>
              <a:t>due</a:t>
            </a:r>
            <a:r>
              <a:rPr sz="2000" spc="-30" dirty="0">
                <a:latin typeface="Arial"/>
                <a:cs typeface="Arial"/>
              </a:rPr>
              <a:t> </a:t>
            </a:r>
            <a:r>
              <a:rPr sz="2000" spc="-25" dirty="0">
                <a:latin typeface="Arial"/>
                <a:cs typeface="Arial"/>
              </a:rPr>
              <a:t>to 	</a:t>
            </a:r>
            <a:r>
              <a:rPr sz="2000" dirty="0">
                <a:latin typeface="Arial"/>
                <a:cs typeface="Arial"/>
              </a:rPr>
              <a:t>specialization</a:t>
            </a:r>
            <a:r>
              <a:rPr sz="2000" spc="-80" dirty="0">
                <a:latin typeface="Arial"/>
                <a:cs typeface="Arial"/>
              </a:rPr>
              <a:t> </a:t>
            </a:r>
            <a:r>
              <a:rPr sz="2000" dirty="0">
                <a:latin typeface="Arial"/>
                <a:cs typeface="Arial"/>
              </a:rPr>
              <a:t>and</a:t>
            </a:r>
            <a:r>
              <a:rPr sz="2000" spc="-65" dirty="0">
                <a:latin typeface="Arial"/>
                <a:cs typeface="Arial"/>
              </a:rPr>
              <a:t> </a:t>
            </a:r>
            <a:r>
              <a:rPr sz="2000" spc="-10" dirty="0">
                <a:latin typeface="Arial"/>
                <a:cs typeface="Arial"/>
              </a:rPr>
              <a:t>centralization.</a:t>
            </a:r>
            <a:endParaRPr sz="20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Cloud</a:t>
            </a:r>
            <a:r>
              <a:rPr spc="-60" dirty="0"/>
              <a:t> </a:t>
            </a:r>
            <a:r>
              <a:rPr dirty="0"/>
              <a:t>computing</a:t>
            </a:r>
            <a:r>
              <a:rPr spc="-60" dirty="0"/>
              <a:t> </a:t>
            </a:r>
            <a:r>
              <a:rPr spc="-10" dirty="0"/>
              <a:t>(cont’d)</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8</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549653"/>
            <a:ext cx="8184515" cy="2831465"/>
          </a:xfrm>
          <a:prstGeom prst="rect">
            <a:avLst/>
          </a:prstGeom>
        </p:spPr>
        <p:txBody>
          <a:bodyPr vert="horz" wrap="square" lIns="0" tIns="13335" rIns="0" bIns="0" rtlCol="0">
            <a:spAutoFit/>
          </a:bodyPr>
          <a:lstStyle/>
          <a:p>
            <a:pPr marL="355600" indent="-342900">
              <a:lnSpc>
                <a:spcPct val="100000"/>
              </a:lnSpc>
              <a:spcBef>
                <a:spcPts val="105"/>
              </a:spcBef>
              <a:buClr>
                <a:srgbClr val="00007C"/>
              </a:buClr>
              <a:buSzPct val="75000"/>
              <a:buFont typeface="Wingdings"/>
              <a:buChar char=""/>
              <a:tabLst>
                <a:tab pos="355600" algn="l"/>
              </a:tabLst>
            </a:pPr>
            <a:r>
              <a:rPr sz="2000" dirty="0">
                <a:latin typeface="Arial"/>
                <a:cs typeface="Arial"/>
              </a:rPr>
              <a:t>Lower</a:t>
            </a:r>
            <a:r>
              <a:rPr sz="2000" spc="-35" dirty="0">
                <a:latin typeface="Arial"/>
                <a:cs typeface="Arial"/>
              </a:rPr>
              <a:t> </a:t>
            </a:r>
            <a:r>
              <a:rPr sz="2000" dirty="0">
                <a:latin typeface="Arial"/>
                <a:cs typeface="Arial"/>
              </a:rPr>
              <a:t>costs</a:t>
            </a:r>
            <a:r>
              <a:rPr sz="2000" spc="-50" dirty="0">
                <a:latin typeface="Arial"/>
                <a:cs typeface="Arial"/>
              </a:rPr>
              <a:t> </a:t>
            </a:r>
            <a:r>
              <a:rPr sz="2000" dirty="0">
                <a:latin typeface="Arial"/>
                <a:cs typeface="Arial"/>
              </a:rPr>
              <a:t>for</a:t>
            </a:r>
            <a:r>
              <a:rPr sz="2000" spc="-30" dirty="0">
                <a:latin typeface="Arial"/>
                <a:cs typeface="Arial"/>
              </a:rPr>
              <a:t> </a:t>
            </a:r>
            <a:r>
              <a:rPr sz="2000" dirty="0">
                <a:latin typeface="Arial"/>
                <a:cs typeface="Arial"/>
              </a:rPr>
              <a:t>the</a:t>
            </a:r>
            <a:r>
              <a:rPr sz="2000" spc="-20" dirty="0">
                <a:latin typeface="Arial"/>
                <a:cs typeface="Arial"/>
              </a:rPr>
              <a:t> </a:t>
            </a:r>
            <a:r>
              <a:rPr sz="2000" dirty="0">
                <a:latin typeface="Arial"/>
                <a:cs typeface="Arial"/>
              </a:rPr>
              <a:t>cloud</a:t>
            </a:r>
            <a:r>
              <a:rPr sz="2000" spc="-30" dirty="0">
                <a:latin typeface="Arial"/>
                <a:cs typeface="Arial"/>
              </a:rPr>
              <a:t> </a:t>
            </a:r>
            <a:r>
              <a:rPr sz="2000" dirty="0">
                <a:latin typeface="Arial"/>
                <a:cs typeface="Arial"/>
              </a:rPr>
              <a:t>service</a:t>
            </a:r>
            <a:r>
              <a:rPr sz="2000" spc="-25" dirty="0">
                <a:latin typeface="Arial"/>
                <a:cs typeface="Arial"/>
              </a:rPr>
              <a:t> </a:t>
            </a:r>
            <a:r>
              <a:rPr sz="2000" dirty="0">
                <a:latin typeface="Arial"/>
                <a:cs typeface="Arial"/>
              </a:rPr>
              <a:t>provider</a:t>
            </a:r>
            <a:r>
              <a:rPr sz="2000" spc="-40" dirty="0">
                <a:latin typeface="Arial"/>
                <a:cs typeface="Arial"/>
              </a:rPr>
              <a:t> </a:t>
            </a:r>
            <a:r>
              <a:rPr sz="2000" dirty="0">
                <a:latin typeface="Arial"/>
                <a:cs typeface="Arial"/>
              </a:rPr>
              <a:t>are</a:t>
            </a:r>
            <a:r>
              <a:rPr sz="2000" spc="-40" dirty="0">
                <a:latin typeface="Arial"/>
                <a:cs typeface="Arial"/>
              </a:rPr>
              <a:t> </a:t>
            </a:r>
            <a:r>
              <a:rPr sz="2000" dirty="0">
                <a:latin typeface="Arial"/>
                <a:cs typeface="Arial"/>
              </a:rPr>
              <a:t>past</a:t>
            </a:r>
            <a:r>
              <a:rPr sz="2000" spc="-35" dirty="0">
                <a:latin typeface="Arial"/>
                <a:cs typeface="Arial"/>
              </a:rPr>
              <a:t> </a:t>
            </a:r>
            <a:r>
              <a:rPr sz="2000" dirty="0">
                <a:latin typeface="Arial"/>
                <a:cs typeface="Arial"/>
              </a:rPr>
              <a:t>to</a:t>
            </a:r>
            <a:r>
              <a:rPr sz="2000" spc="-35"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cloud</a:t>
            </a:r>
            <a:r>
              <a:rPr sz="2000" spc="-30" dirty="0">
                <a:latin typeface="Arial"/>
                <a:cs typeface="Arial"/>
              </a:rPr>
              <a:t> </a:t>
            </a:r>
            <a:r>
              <a:rPr sz="2000" spc="-10" dirty="0">
                <a:latin typeface="Arial"/>
                <a:cs typeface="Arial"/>
              </a:rPr>
              <a:t>users.</a:t>
            </a:r>
            <a:endParaRPr sz="2000">
              <a:latin typeface="Arial"/>
              <a:cs typeface="Arial"/>
            </a:endParaRPr>
          </a:p>
          <a:p>
            <a:pPr>
              <a:lnSpc>
                <a:spcPct val="100000"/>
              </a:lnSpc>
              <a:spcBef>
                <a:spcPts val="1060"/>
              </a:spcBef>
              <a:buClr>
                <a:srgbClr val="00007C"/>
              </a:buClr>
              <a:buFont typeface="Wingdings"/>
              <a:buChar char=""/>
            </a:pPr>
            <a:endParaRPr sz="2000">
              <a:latin typeface="Arial"/>
              <a:cs typeface="Arial"/>
            </a:endParaRPr>
          </a:p>
          <a:p>
            <a:pPr marL="355600" indent="-342900">
              <a:lnSpc>
                <a:spcPct val="100000"/>
              </a:lnSpc>
              <a:buClr>
                <a:srgbClr val="00007C"/>
              </a:buClr>
              <a:buSzPct val="75000"/>
              <a:buFont typeface="Wingdings"/>
              <a:buChar char=""/>
              <a:tabLst>
                <a:tab pos="355600" algn="l"/>
              </a:tabLst>
            </a:pPr>
            <a:r>
              <a:rPr sz="2000" dirty="0">
                <a:latin typeface="Arial"/>
                <a:cs typeface="Arial"/>
              </a:rPr>
              <a:t>Data</a:t>
            </a:r>
            <a:r>
              <a:rPr sz="2000" spc="-45" dirty="0">
                <a:latin typeface="Arial"/>
                <a:cs typeface="Arial"/>
              </a:rPr>
              <a:t> </a:t>
            </a:r>
            <a:r>
              <a:rPr sz="2000" dirty="0">
                <a:latin typeface="Arial"/>
                <a:cs typeface="Arial"/>
              </a:rPr>
              <a:t>is</a:t>
            </a:r>
            <a:r>
              <a:rPr sz="2000" spc="-30" dirty="0">
                <a:latin typeface="Arial"/>
                <a:cs typeface="Arial"/>
              </a:rPr>
              <a:t> </a:t>
            </a:r>
            <a:r>
              <a:rPr sz="2000" spc="-10" dirty="0">
                <a:latin typeface="Arial"/>
                <a:cs typeface="Arial"/>
              </a:rPr>
              <a:t>stored:</a:t>
            </a:r>
            <a:endParaRPr sz="2000">
              <a:latin typeface="Arial"/>
              <a:cs typeface="Arial"/>
            </a:endParaRPr>
          </a:p>
          <a:p>
            <a:pPr marL="755650" lvl="1" indent="-285750">
              <a:lnSpc>
                <a:spcPct val="100000"/>
              </a:lnSpc>
              <a:spcBef>
                <a:spcPts val="480"/>
              </a:spcBef>
              <a:buClr>
                <a:srgbClr val="9999CC"/>
              </a:buClr>
              <a:buSzPct val="80000"/>
              <a:buFont typeface="Wingdings"/>
              <a:buChar char=""/>
              <a:tabLst>
                <a:tab pos="755650" algn="l"/>
              </a:tabLst>
            </a:pPr>
            <a:r>
              <a:rPr sz="2000" dirty="0">
                <a:latin typeface="Arial"/>
                <a:cs typeface="Arial"/>
              </a:rPr>
              <a:t>closer</a:t>
            </a:r>
            <a:r>
              <a:rPr sz="2000" spc="-35" dirty="0">
                <a:latin typeface="Arial"/>
                <a:cs typeface="Arial"/>
              </a:rPr>
              <a:t> </a:t>
            </a:r>
            <a:r>
              <a:rPr sz="2000" dirty="0">
                <a:latin typeface="Arial"/>
                <a:cs typeface="Arial"/>
              </a:rPr>
              <a:t>to</a:t>
            </a:r>
            <a:r>
              <a:rPr sz="2000" spc="-35"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site</a:t>
            </a:r>
            <a:r>
              <a:rPr sz="2000" spc="-25" dirty="0">
                <a:latin typeface="Arial"/>
                <a:cs typeface="Arial"/>
              </a:rPr>
              <a:t> </a:t>
            </a:r>
            <a:r>
              <a:rPr sz="2000" dirty="0">
                <a:latin typeface="Arial"/>
                <a:cs typeface="Arial"/>
              </a:rPr>
              <a:t>where</a:t>
            </a:r>
            <a:r>
              <a:rPr sz="2000" spc="-45" dirty="0">
                <a:latin typeface="Arial"/>
                <a:cs typeface="Arial"/>
              </a:rPr>
              <a:t> </a:t>
            </a:r>
            <a:r>
              <a:rPr sz="2000" dirty="0">
                <a:latin typeface="Arial"/>
                <a:cs typeface="Arial"/>
              </a:rPr>
              <a:t>it</a:t>
            </a:r>
            <a:r>
              <a:rPr sz="2000" spc="-30" dirty="0">
                <a:latin typeface="Arial"/>
                <a:cs typeface="Arial"/>
              </a:rPr>
              <a:t> </a:t>
            </a:r>
            <a:r>
              <a:rPr sz="2000" dirty="0">
                <a:latin typeface="Arial"/>
                <a:cs typeface="Arial"/>
              </a:rPr>
              <a:t>is</a:t>
            </a:r>
            <a:r>
              <a:rPr sz="2000" spc="-5" dirty="0">
                <a:latin typeface="Arial"/>
                <a:cs typeface="Arial"/>
              </a:rPr>
              <a:t> </a:t>
            </a:r>
            <a:r>
              <a:rPr sz="2000" spc="-10" dirty="0">
                <a:latin typeface="Arial"/>
                <a:cs typeface="Arial"/>
              </a:rPr>
              <a:t>used.</a:t>
            </a:r>
            <a:endParaRPr sz="2000">
              <a:latin typeface="Arial"/>
              <a:cs typeface="Arial"/>
            </a:endParaRPr>
          </a:p>
          <a:p>
            <a:pPr marL="826135" lvl="1" indent="-356235">
              <a:lnSpc>
                <a:spcPct val="100000"/>
              </a:lnSpc>
              <a:spcBef>
                <a:spcPts val="484"/>
              </a:spcBef>
              <a:buClr>
                <a:srgbClr val="9999CC"/>
              </a:buClr>
              <a:buSzPct val="80000"/>
              <a:buFont typeface="Wingdings"/>
              <a:buChar char=""/>
              <a:tabLst>
                <a:tab pos="826135" algn="l"/>
                <a:tab pos="3154045" algn="l"/>
              </a:tabLst>
            </a:pPr>
            <a:r>
              <a:rPr sz="2000" dirty="0">
                <a:latin typeface="Arial"/>
                <a:cs typeface="Arial"/>
              </a:rPr>
              <a:t>in</a:t>
            </a:r>
            <a:r>
              <a:rPr sz="2000" spc="-20" dirty="0">
                <a:latin typeface="Arial"/>
                <a:cs typeface="Arial"/>
              </a:rPr>
              <a:t> </a:t>
            </a:r>
            <a:r>
              <a:rPr sz="2000" dirty="0">
                <a:latin typeface="Arial"/>
                <a:cs typeface="Arial"/>
              </a:rPr>
              <a:t>a</a:t>
            </a:r>
            <a:r>
              <a:rPr sz="2000" spc="-35" dirty="0">
                <a:latin typeface="Arial"/>
                <a:cs typeface="Arial"/>
              </a:rPr>
              <a:t> </a:t>
            </a:r>
            <a:r>
              <a:rPr sz="2000" dirty="0">
                <a:latin typeface="Arial"/>
                <a:cs typeface="Arial"/>
              </a:rPr>
              <a:t>device</a:t>
            </a:r>
            <a:r>
              <a:rPr sz="2000" spc="-15" dirty="0">
                <a:latin typeface="Arial"/>
                <a:cs typeface="Arial"/>
              </a:rPr>
              <a:t> </a:t>
            </a:r>
            <a:r>
              <a:rPr sz="2000" dirty="0">
                <a:latin typeface="Arial"/>
                <a:cs typeface="Arial"/>
              </a:rPr>
              <a:t>and</a:t>
            </a:r>
            <a:r>
              <a:rPr sz="2000" spc="-35" dirty="0">
                <a:latin typeface="Arial"/>
                <a:cs typeface="Arial"/>
              </a:rPr>
              <a:t> </a:t>
            </a:r>
            <a:r>
              <a:rPr sz="2000" dirty="0">
                <a:latin typeface="Arial"/>
                <a:cs typeface="Arial"/>
              </a:rPr>
              <a:t>in</a:t>
            </a:r>
            <a:r>
              <a:rPr sz="2000" spc="-20" dirty="0">
                <a:latin typeface="Arial"/>
                <a:cs typeface="Arial"/>
              </a:rPr>
              <a:t> </a:t>
            </a:r>
            <a:r>
              <a:rPr sz="2000" spc="-50" dirty="0">
                <a:latin typeface="Arial"/>
                <a:cs typeface="Arial"/>
              </a:rPr>
              <a:t>a</a:t>
            </a:r>
            <a:r>
              <a:rPr sz="2000" dirty="0">
                <a:latin typeface="Arial"/>
                <a:cs typeface="Arial"/>
              </a:rPr>
              <a:t>	</a:t>
            </a:r>
            <a:r>
              <a:rPr sz="2000" spc="-10" dirty="0">
                <a:latin typeface="Arial"/>
                <a:cs typeface="Arial"/>
              </a:rPr>
              <a:t>location-</a:t>
            </a:r>
            <a:r>
              <a:rPr sz="2000" dirty="0">
                <a:latin typeface="Arial"/>
                <a:cs typeface="Arial"/>
              </a:rPr>
              <a:t>independent</a:t>
            </a:r>
            <a:r>
              <a:rPr sz="2000" spc="-55" dirty="0">
                <a:latin typeface="Arial"/>
                <a:cs typeface="Arial"/>
              </a:rPr>
              <a:t> </a:t>
            </a:r>
            <a:r>
              <a:rPr sz="2000" spc="-10" dirty="0">
                <a:latin typeface="Arial"/>
                <a:cs typeface="Arial"/>
              </a:rPr>
              <a:t>manner.</a:t>
            </a:r>
            <a:endParaRPr sz="2000">
              <a:latin typeface="Arial"/>
              <a:cs typeface="Arial"/>
            </a:endParaRPr>
          </a:p>
          <a:p>
            <a:pPr lvl="1">
              <a:lnSpc>
                <a:spcPct val="100000"/>
              </a:lnSpc>
              <a:spcBef>
                <a:spcPts val="1055"/>
              </a:spcBef>
              <a:buClr>
                <a:srgbClr val="9999CC"/>
              </a:buClr>
              <a:buFont typeface="Wingdings"/>
              <a:buChar char=""/>
            </a:pPr>
            <a:endParaRPr sz="2000">
              <a:latin typeface="Arial"/>
              <a:cs typeface="Arial"/>
            </a:endParaRPr>
          </a:p>
          <a:p>
            <a:pPr marL="355600" indent="-342900">
              <a:lnSpc>
                <a:spcPct val="100000"/>
              </a:lnSpc>
              <a:spcBef>
                <a:spcPts val="5"/>
              </a:spcBef>
              <a:buClr>
                <a:srgbClr val="00007C"/>
              </a:buClr>
              <a:buSzPct val="75000"/>
              <a:buFont typeface="Wingdings"/>
              <a:buChar char=""/>
              <a:tabLst>
                <a:tab pos="355600" algn="l"/>
              </a:tabLst>
            </a:pPr>
            <a:r>
              <a:rPr sz="2000" dirty="0">
                <a:latin typeface="Arial"/>
                <a:cs typeface="Arial"/>
              </a:rPr>
              <a:t>The</a:t>
            </a:r>
            <a:r>
              <a:rPr sz="2000" spc="-35" dirty="0">
                <a:latin typeface="Arial"/>
                <a:cs typeface="Arial"/>
              </a:rPr>
              <a:t> </a:t>
            </a:r>
            <a:r>
              <a:rPr sz="2000" dirty="0">
                <a:latin typeface="Arial"/>
                <a:cs typeface="Arial"/>
              </a:rPr>
              <a:t>data</a:t>
            </a:r>
            <a:r>
              <a:rPr sz="2000" spc="-40" dirty="0">
                <a:latin typeface="Arial"/>
                <a:cs typeface="Arial"/>
              </a:rPr>
              <a:t> </a:t>
            </a:r>
            <a:r>
              <a:rPr sz="2000" dirty="0">
                <a:latin typeface="Arial"/>
                <a:cs typeface="Arial"/>
              </a:rPr>
              <a:t>storage</a:t>
            </a:r>
            <a:r>
              <a:rPr sz="2000" spc="-55" dirty="0">
                <a:latin typeface="Arial"/>
                <a:cs typeface="Arial"/>
              </a:rPr>
              <a:t> </a:t>
            </a:r>
            <a:r>
              <a:rPr sz="2000" dirty="0">
                <a:latin typeface="Arial"/>
                <a:cs typeface="Arial"/>
              </a:rPr>
              <a:t>strategy</a:t>
            </a:r>
            <a:r>
              <a:rPr sz="2000" spc="-60" dirty="0">
                <a:latin typeface="Arial"/>
                <a:cs typeface="Arial"/>
              </a:rPr>
              <a:t> </a:t>
            </a:r>
            <a:r>
              <a:rPr sz="2000" dirty="0">
                <a:latin typeface="Arial"/>
                <a:cs typeface="Arial"/>
              </a:rPr>
              <a:t>can</a:t>
            </a:r>
            <a:r>
              <a:rPr sz="2000" spc="-50" dirty="0">
                <a:latin typeface="Arial"/>
                <a:cs typeface="Arial"/>
              </a:rPr>
              <a:t> </a:t>
            </a:r>
            <a:r>
              <a:rPr sz="2000" dirty="0">
                <a:latin typeface="Arial"/>
                <a:cs typeface="Arial"/>
              </a:rPr>
              <a:t>increase</a:t>
            </a:r>
            <a:r>
              <a:rPr sz="2000" spc="-40" dirty="0">
                <a:latin typeface="Arial"/>
                <a:cs typeface="Arial"/>
              </a:rPr>
              <a:t> </a:t>
            </a:r>
            <a:r>
              <a:rPr sz="2000" dirty="0">
                <a:latin typeface="Arial"/>
                <a:cs typeface="Arial"/>
              </a:rPr>
              <a:t>reliability,</a:t>
            </a:r>
            <a:r>
              <a:rPr sz="2000" spc="-20" dirty="0">
                <a:latin typeface="Arial"/>
                <a:cs typeface="Arial"/>
              </a:rPr>
              <a:t> </a:t>
            </a:r>
            <a:r>
              <a:rPr sz="2000" dirty="0">
                <a:latin typeface="Arial"/>
                <a:cs typeface="Arial"/>
              </a:rPr>
              <a:t>as</a:t>
            </a:r>
            <a:r>
              <a:rPr sz="2000" spc="-30" dirty="0">
                <a:latin typeface="Arial"/>
                <a:cs typeface="Arial"/>
              </a:rPr>
              <a:t> </a:t>
            </a:r>
            <a:r>
              <a:rPr sz="2000" dirty="0">
                <a:latin typeface="Arial"/>
                <a:cs typeface="Arial"/>
              </a:rPr>
              <a:t>well</a:t>
            </a:r>
            <a:r>
              <a:rPr sz="2000" spc="-25" dirty="0">
                <a:latin typeface="Arial"/>
                <a:cs typeface="Arial"/>
              </a:rPr>
              <a:t> </a:t>
            </a:r>
            <a:r>
              <a:rPr sz="2000" dirty="0">
                <a:latin typeface="Arial"/>
                <a:cs typeface="Arial"/>
              </a:rPr>
              <a:t>as</a:t>
            </a:r>
            <a:r>
              <a:rPr sz="2000" spc="-25" dirty="0">
                <a:latin typeface="Arial"/>
                <a:cs typeface="Arial"/>
              </a:rPr>
              <a:t> </a:t>
            </a:r>
            <a:r>
              <a:rPr sz="2000" spc="-10" dirty="0">
                <a:latin typeface="Arial"/>
                <a:cs typeface="Arial"/>
              </a:rPr>
              <a:t>security,</a:t>
            </a:r>
            <a:endParaRPr sz="2000">
              <a:latin typeface="Arial"/>
              <a:cs typeface="Arial"/>
            </a:endParaRPr>
          </a:p>
          <a:p>
            <a:pPr marL="355600">
              <a:lnSpc>
                <a:spcPct val="100000"/>
              </a:lnSpc>
            </a:pPr>
            <a:r>
              <a:rPr sz="2000" dirty="0">
                <a:latin typeface="Arial"/>
                <a:cs typeface="Arial"/>
              </a:rPr>
              <a:t>and</a:t>
            </a:r>
            <a:r>
              <a:rPr sz="2000" spc="-50" dirty="0">
                <a:latin typeface="Arial"/>
                <a:cs typeface="Arial"/>
              </a:rPr>
              <a:t> </a:t>
            </a:r>
            <a:r>
              <a:rPr sz="2000" dirty="0">
                <a:latin typeface="Arial"/>
                <a:cs typeface="Arial"/>
              </a:rPr>
              <a:t>can</a:t>
            </a:r>
            <a:r>
              <a:rPr sz="2000" spc="-35" dirty="0">
                <a:latin typeface="Arial"/>
                <a:cs typeface="Arial"/>
              </a:rPr>
              <a:t> </a:t>
            </a:r>
            <a:r>
              <a:rPr sz="2000" dirty="0">
                <a:latin typeface="Arial"/>
                <a:cs typeface="Arial"/>
              </a:rPr>
              <a:t>lower</a:t>
            </a:r>
            <a:r>
              <a:rPr sz="2000" spc="-40" dirty="0">
                <a:latin typeface="Arial"/>
                <a:cs typeface="Arial"/>
              </a:rPr>
              <a:t> </a:t>
            </a:r>
            <a:r>
              <a:rPr sz="2000" dirty="0">
                <a:latin typeface="Arial"/>
                <a:cs typeface="Arial"/>
              </a:rPr>
              <a:t>communication</a:t>
            </a:r>
            <a:r>
              <a:rPr sz="2000" spc="-55" dirty="0">
                <a:latin typeface="Arial"/>
                <a:cs typeface="Arial"/>
              </a:rPr>
              <a:t> </a:t>
            </a:r>
            <a:r>
              <a:rPr sz="2000" spc="-10" dirty="0">
                <a:latin typeface="Arial"/>
                <a:cs typeface="Arial"/>
              </a:rPr>
              <a:t>costs.</a:t>
            </a:r>
            <a:endParaRPr sz="20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74319"/>
            <a:ext cx="2869565" cy="514350"/>
          </a:xfrm>
          <a:prstGeom prst="rect">
            <a:avLst/>
          </a:prstGeom>
        </p:spPr>
        <p:txBody>
          <a:bodyPr vert="horz" wrap="square" lIns="0" tIns="13335" rIns="0" bIns="0" rtlCol="0">
            <a:spAutoFit/>
          </a:bodyPr>
          <a:lstStyle/>
          <a:p>
            <a:pPr marL="12700">
              <a:lnSpc>
                <a:spcPct val="100000"/>
              </a:lnSpc>
              <a:spcBef>
                <a:spcPts val="105"/>
              </a:spcBef>
            </a:pPr>
            <a:r>
              <a:rPr dirty="0"/>
              <a:t>Types</a:t>
            </a:r>
            <a:r>
              <a:rPr spc="-50" dirty="0"/>
              <a:t> </a:t>
            </a:r>
            <a:r>
              <a:rPr dirty="0"/>
              <a:t>of</a:t>
            </a:r>
            <a:r>
              <a:rPr spc="-25" dirty="0"/>
              <a:t> </a:t>
            </a:r>
            <a:r>
              <a:rPr spc="-10" dirty="0"/>
              <a:t>clouds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9</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378457"/>
            <a:ext cx="7707630" cy="1385636"/>
          </a:xfrm>
          <a:prstGeom prst="rect">
            <a:avLst/>
          </a:prstGeom>
        </p:spPr>
        <p:txBody>
          <a:bodyPr vert="horz" wrap="square" lIns="0" tIns="13335" rIns="0" bIns="0" rtlCol="0">
            <a:spAutoFit/>
          </a:bodyPr>
          <a:lstStyle/>
          <a:p>
            <a:pPr marL="354330" marR="73025" indent="-342265" algn="just">
              <a:lnSpc>
                <a:spcPct val="100000"/>
              </a:lnSpc>
              <a:spcBef>
                <a:spcPts val="105"/>
              </a:spcBef>
              <a:buClr>
                <a:srgbClr val="00007C"/>
              </a:buClr>
              <a:buSzPct val="75000"/>
              <a:buFont typeface="Wingdings"/>
              <a:buChar char=""/>
              <a:tabLst>
                <a:tab pos="355600" algn="l"/>
              </a:tabLst>
            </a:pPr>
            <a:r>
              <a:rPr sz="2000" dirty="0">
                <a:latin typeface="Arial"/>
                <a:cs typeface="Arial"/>
              </a:rPr>
              <a:t>Public</a:t>
            </a:r>
            <a:r>
              <a:rPr sz="2000" spc="-35" dirty="0">
                <a:latin typeface="Arial"/>
                <a:cs typeface="Arial"/>
              </a:rPr>
              <a:t> </a:t>
            </a:r>
            <a:r>
              <a:rPr sz="2000" dirty="0">
                <a:latin typeface="Arial"/>
                <a:cs typeface="Arial"/>
              </a:rPr>
              <a:t>Cloud</a:t>
            </a:r>
            <a:r>
              <a:rPr sz="2000" spc="-45" dirty="0">
                <a:latin typeface="Arial"/>
                <a:cs typeface="Arial"/>
              </a:rPr>
              <a:t> </a:t>
            </a:r>
            <a:r>
              <a:rPr sz="2000" dirty="0">
                <a:latin typeface="Arial"/>
                <a:cs typeface="Arial"/>
              </a:rPr>
              <a:t>-</a:t>
            </a:r>
            <a:r>
              <a:rPr sz="2000" spc="-45" dirty="0">
                <a:latin typeface="Arial"/>
                <a:cs typeface="Arial"/>
              </a:rPr>
              <a:t> </a:t>
            </a:r>
            <a:r>
              <a:rPr sz="2000" dirty="0">
                <a:latin typeface="Arial"/>
                <a:cs typeface="Arial"/>
              </a:rPr>
              <a:t>the</a:t>
            </a:r>
            <a:r>
              <a:rPr sz="2000" spc="-50" dirty="0">
                <a:latin typeface="Arial"/>
                <a:cs typeface="Arial"/>
              </a:rPr>
              <a:t> </a:t>
            </a:r>
            <a:r>
              <a:rPr sz="2000" dirty="0">
                <a:latin typeface="Arial"/>
                <a:cs typeface="Arial"/>
              </a:rPr>
              <a:t>infrastructure</a:t>
            </a:r>
            <a:r>
              <a:rPr sz="2000" spc="-75" dirty="0">
                <a:latin typeface="Arial"/>
                <a:cs typeface="Arial"/>
              </a:rPr>
              <a:t> </a:t>
            </a:r>
            <a:r>
              <a:rPr sz="2000" dirty="0">
                <a:latin typeface="Arial"/>
                <a:cs typeface="Arial"/>
              </a:rPr>
              <a:t>is</a:t>
            </a:r>
            <a:r>
              <a:rPr sz="2000" spc="-35" dirty="0">
                <a:latin typeface="Arial"/>
                <a:cs typeface="Arial"/>
              </a:rPr>
              <a:t> </a:t>
            </a:r>
            <a:r>
              <a:rPr sz="2000" dirty="0">
                <a:latin typeface="Arial"/>
                <a:cs typeface="Arial"/>
              </a:rPr>
              <a:t>made</a:t>
            </a:r>
            <a:r>
              <a:rPr sz="2000" spc="-55" dirty="0">
                <a:latin typeface="Arial"/>
                <a:cs typeface="Arial"/>
              </a:rPr>
              <a:t> </a:t>
            </a:r>
            <a:r>
              <a:rPr sz="2000" dirty="0">
                <a:latin typeface="Arial"/>
                <a:cs typeface="Arial"/>
              </a:rPr>
              <a:t>available</a:t>
            </a:r>
            <a:r>
              <a:rPr sz="2000" spc="-30" dirty="0">
                <a:latin typeface="Arial"/>
                <a:cs typeface="Arial"/>
              </a:rPr>
              <a:t> </a:t>
            </a:r>
            <a:r>
              <a:rPr sz="2000" dirty="0">
                <a:latin typeface="Arial"/>
                <a:cs typeface="Arial"/>
              </a:rPr>
              <a:t>to</a:t>
            </a:r>
            <a:r>
              <a:rPr sz="2000" spc="-50" dirty="0">
                <a:latin typeface="Arial"/>
                <a:cs typeface="Arial"/>
              </a:rPr>
              <a:t> </a:t>
            </a:r>
            <a:r>
              <a:rPr sz="2000" dirty="0">
                <a:latin typeface="Arial"/>
                <a:cs typeface="Arial"/>
              </a:rPr>
              <a:t>the</a:t>
            </a:r>
            <a:r>
              <a:rPr sz="2000" spc="-55" dirty="0">
                <a:latin typeface="Arial"/>
                <a:cs typeface="Arial"/>
              </a:rPr>
              <a:t> </a:t>
            </a:r>
            <a:r>
              <a:rPr sz="2000" spc="-10" dirty="0">
                <a:latin typeface="Arial"/>
                <a:cs typeface="Arial"/>
              </a:rPr>
              <a:t>general 	</a:t>
            </a:r>
            <a:r>
              <a:rPr sz="2000" dirty="0">
                <a:latin typeface="Arial"/>
                <a:cs typeface="Arial"/>
              </a:rPr>
              <a:t>public</a:t>
            </a:r>
            <a:r>
              <a:rPr sz="2000" spc="-25" dirty="0">
                <a:latin typeface="Arial"/>
                <a:cs typeface="Arial"/>
              </a:rPr>
              <a:t> </a:t>
            </a:r>
            <a:r>
              <a:rPr sz="2000" dirty="0">
                <a:latin typeface="Arial"/>
                <a:cs typeface="Arial"/>
              </a:rPr>
              <a:t>or</a:t>
            </a:r>
            <a:r>
              <a:rPr sz="2000" spc="-30" dirty="0">
                <a:latin typeface="Arial"/>
                <a:cs typeface="Arial"/>
              </a:rPr>
              <a:t> </a:t>
            </a:r>
            <a:r>
              <a:rPr sz="2000" dirty="0">
                <a:latin typeface="Arial"/>
                <a:cs typeface="Arial"/>
              </a:rPr>
              <a:t>a</a:t>
            </a:r>
            <a:r>
              <a:rPr sz="2000" spc="-15" dirty="0">
                <a:latin typeface="Arial"/>
                <a:cs typeface="Arial"/>
              </a:rPr>
              <a:t> </a:t>
            </a:r>
            <a:r>
              <a:rPr sz="2000" dirty="0">
                <a:latin typeface="Arial"/>
                <a:cs typeface="Arial"/>
              </a:rPr>
              <a:t>large</a:t>
            </a:r>
            <a:r>
              <a:rPr sz="2000" spc="-40" dirty="0">
                <a:latin typeface="Arial"/>
                <a:cs typeface="Arial"/>
              </a:rPr>
              <a:t> </a:t>
            </a:r>
            <a:r>
              <a:rPr sz="2000" dirty="0">
                <a:latin typeface="Arial"/>
                <a:cs typeface="Arial"/>
              </a:rPr>
              <a:t>industry</a:t>
            </a:r>
            <a:r>
              <a:rPr sz="2000" spc="-45" dirty="0">
                <a:latin typeface="Arial"/>
                <a:cs typeface="Arial"/>
              </a:rPr>
              <a:t> </a:t>
            </a:r>
            <a:r>
              <a:rPr sz="2000" dirty="0">
                <a:latin typeface="Arial"/>
                <a:cs typeface="Arial"/>
              </a:rPr>
              <a:t>group</a:t>
            </a:r>
            <a:r>
              <a:rPr sz="2000" spc="-40" dirty="0">
                <a:latin typeface="Arial"/>
                <a:cs typeface="Arial"/>
              </a:rPr>
              <a:t> </a:t>
            </a:r>
            <a:r>
              <a:rPr sz="2000" dirty="0">
                <a:latin typeface="Arial"/>
                <a:cs typeface="Arial"/>
              </a:rPr>
              <a:t>and</a:t>
            </a:r>
            <a:r>
              <a:rPr sz="2000" spc="-30" dirty="0">
                <a:latin typeface="Arial"/>
                <a:cs typeface="Arial"/>
              </a:rPr>
              <a:t> </a:t>
            </a:r>
            <a:r>
              <a:rPr sz="2000" dirty="0">
                <a:latin typeface="Arial"/>
                <a:cs typeface="Arial"/>
              </a:rPr>
              <a:t>is</a:t>
            </a:r>
            <a:r>
              <a:rPr sz="2000" spc="-15" dirty="0">
                <a:latin typeface="Arial"/>
                <a:cs typeface="Arial"/>
              </a:rPr>
              <a:t> </a:t>
            </a:r>
            <a:r>
              <a:rPr sz="2000" dirty="0">
                <a:latin typeface="Arial"/>
                <a:cs typeface="Arial"/>
              </a:rPr>
              <a:t>owned</a:t>
            </a:r>
            <a:r>
              <a:rPr sz="2000" spc="-35" dirty="0">
                <a:latin typeface="Arial"/>
                <a:cs typeface="Arial"/>
              </a:rPr>
              <a:t> </a:t>
            </a:r>
            <a:r>
              <a:rPr sz="2000" dirty="0">
                <a:latin typeface="Arial"/>
                <a:cs typeface="Arial"/>
              </a:rPr>
              <a:t>by</a:t>
            </a:r>
            <a:r>
              <a:rPr sz="2000" spc="-5" dirty="0">
                <a:latin typeface="Arial"/>
                <a:cs typeface="Arial"/>
              </a:rPr>
              <a:t> </a:t>
            </a:r>
            <a:r>
              <a:rPr sz="2000" dirty="0">
                <a:latin typeface="Arial"/>
                <a:cs typeface="Arial"/>
              </a:rPr>
              <a:t>the</a:t>
            </a:r>
            <a:r>
              <a:rPr sz="2000" spc="-35" dirty="0">
                <a:latin typeface="Arial"/>
                <a:cs typeface="Arial"/>
              </a:rPr>
              <a:t> </a:t>
            </a:r>
            <a:r>
              <a:rPr sz="2000" spc="-10" dirty="0">
                <a:latin typeface="Arial"/>
                <a:cs typeface="Arial"/>
              </a:rPr>
              <a:t>organization 	</a:t>
            </a:r>
            <a:r>
              <a:rPr sz="2000" dirty="0">
                <a:latin typeface="Arial"/>
                <a:cs typeface="Arial"/>
              </a:rPr>
              <a:t>selling</a:t>
            </a:r>
            <a:r>
              <a:rPr sz="2000" spc="-40" dirty="0">
                <a:latin typeface="Arial"/>
                <a:cs typeface="Arial"/>
              </a:rPr>
              <a:t> </a:t>
            </a:r>
            <a:r>
              <a:rPr sz="2000" dirty="0">
                <a:latin typeface="Arial"/>
                <a:cs typeface="Arial"/>
              </a:rPr>
              <a:t>cloud</a:t>
            </a:r>
            <a:r>
              <a:rPr sz="2000" spc="-55" dirty="0">
                <a:latin typeface="Arial"/>
                <a:cs typeface="Arial"/>
              </a:rPr>
              <a:t> </a:t>
            </a:r>
            <a:r>
              <a:rPr sz="2000" spc="-10" dirty="0">
                <a:latin typeface="Arial"/>
                <a:cs typeface="Arial"/>
              </a:rPr>
              <a:t>services.</a:t>
            </a:r>
            <a:endParaRPr sz="2000" dirty="0">
              <a:latin typeface="Arial"/>
              <a:cs typeface="Arial"/>
            </a:endParaRPr>
          </a:p>
          <a:p>
            <a:pPr>
              <a:lnSpc>
                <a:spcPct val="100000"/>
              </a:lnSpc>
              <a:spcBef>
                <a:spcPts val="1060"/>
              </a:spcBef>
              <a:buClr>
                <a:srgbClr val="00007C"/>
              </a:buClr>
            </a:pPr>
            <a:endParaRPr sz="2000" dirty="0">
              <a:latin typeface="Arial"/>
              <a:cs typeface="Arial"/>
            </a:endParaRPr>
          </a:p>
        </p:txBody>
      </p:sp>
      <p:pic>
        <p:nvPicPr>
          <p:cNvPr id="2050" name="Picture 2" descr="What is public cloud Explained | PPTX">
            <a:extLst>
              <a:ext uri="{FF2B5EF4-FFF2-40B4-BE49-F238E27FC236}">
                <a16:creationId xmlns:a16="http://schemas.microsoft.com/office/drawing/2014/main" id="{F011FD15-BBAC-7894-BDC2-47847E08E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609507"/>
            <a:ext cx="5500370" cy="3600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71168-E8AB-C947-3481-45ED540B9D5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B67FEF-FFFF-7274-E202-7C9F5642BE41}"/>
              </a:ext>
            </a:extLst>
          </p:cNvPr>
          <p:cNvSpPr txBox="1">
            <a:spLocks noGrp="1"/>
          </p:cNvSpPr>
          <p:nvPr>
            <p:ph type="title"/>
          </p:nvPr>
        </p:nvSpPr>
        <p:spPr>
          <a:xfrm>
            <a:off x="535940" y="674319"/>
            <a:ext cx="2869565" cy="514350"/>
          </a:xfrm>
          <a:prstGeom prst="rect">
            <a:avLst/>
          </a:prstGeom>
        </p:spPr>
        <p:txBody>
          <a:bodyPr vert="horz" wrap="square" lIns="0" tIns="13335" rIns="0" bIns="0" rtlCol="0">
            <a:spAutoFit/>
          </a:bodyPr>
          <a:lstStyle/>
          <a:p>
            <a:pPr marL="12700">
              <a:lnSpc>
                <a:spcPct val="100000"/>
              </a:lnSpc>
              <a:spcBef>
                <a:spcPts val="105"/>
              </a:spcBef>
            </a:pPr>
            <a:r>
              <a:rPr dirty="0"/>
              <a:t>Types</a:t>
            </a:r>
            <a:r>
              <a:rPr spc="-50" dirty="0"/>
              <a:t> </a:t>
            </a:r>
            <a:r>
              <a:rPr dirty="0"/>
              <a:t>of</a:t>
            </a:r>
            <a:r>
              <a:rPr spc="-25" dirty="0"/>
              <a:t> </a:t>
            </a:r>
            <a:r>
              <a:rPr spc="-10" dirty="0"/>
              <a:t>clouds</a:t>
            </a:r>
          </a:p>
        </p:txBody>
      </p:sp>
      <p:sp>
        <p:nvSpPr>
          <p:cNvPr id="4" name="object 4">
            <a:extLst>
              <a:ext uri="{FF2B5EF4-FFF2-40B4-BE49-F238E27FC236}">
                <a16:creationId xmlns:a16="http://schemas.microsoft.com/office/drawing/2014/main" id="{C46FE668-6132-E4C9-26EB-E07A536405C8}"/>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BA5C1709-FA1C-2B6A-D216-3103DF200C1C}"/>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10</a:t>
            </a:fld>
            <a:endParaRPr spc="-25" dirty="0"/>
          </a:p>
        </p:txBody>
      </p:sp>
      <p:sp>
        <p:nvSpPr>
          <p:cNvPr id="6" name="object 6">
            <a:extLst>
              <a:ext uri="{FF2B5EF4-FFF2-40B4-BE49-F238E27FC236}">
                <a16:creationId xmlns:a16="http://schemas.microsoft.com/office/drawing/2014/main" id="{85BAF806-E9BE-F879-BAD6-44DB5C7B3DFC}"/>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a:extLst>
              <a:ext uri="{FF2B5EF4-FFF2-40B4-BE49-F238E27FC236}">
                <a16:creationId xmlns:a16="http://schemas.microsoft.com/office/drawing/2014/main" id="{37D6FF16-5BD5-F822-0858-FAAE56A19920}"/>
              </a:ext>
            </a:extLst>
          </p:cNvPr>
          <p:cNvSpPr txBox="1"/>
          <p:nvPr/>
        </p:nvSpPr>
        <p:spPr>
          <a:xfrm>
            <a:off x="535940" y="1378456"/>
            <a:ext cx="7769860" cy="1385636"/>
          </a:xfrm>
          <a:prstGeom prst="rect">
            <a:avLst/>
          </a:prstGeom>
        </p:spPr>
        <p:txBody>
          <a:bodyPr vert="horz" wrap="square" lIns="0" tIns="13335" rIns="0" bIns="0" rtlCol="0">
            <a:spAutoFit/>
          </a:bodyPr>
          <a:lstStyle/>
          <a:p>
            <a:pPr>
              <a:lnSpc>
                <a:spcPct val="100000"/>
              </a:lnSpc>
              <a:spcBef>
                <a:spcPts val="1060"/>
              </a:spcBef>
              <a:buClr>
                <a:srgbClr val="00007C"/>
              </a:buClr>
            </a:pPr>
            <a:endParaRPr sz="2000" dirty="0">
              <a:latin typeface="Arial"/>
              <a:cs typeface="Arial"/>
            </a:endParaRPr>
          </a:p>
          <a:p>
            <a:pPr marL="355600" marR="871219" indent="-343535">
              <a:lnSpc>
                <a:spcPct val="100000"/>
              </a:lnSpc>
              <a:buClr>
                <a:srgbClr val="00007C"/>
              </a:buClr>
              <a:buSzPct val="75000"/>
              <a:buFont typeface="Wingdings"/>
              <a:buChar char=""/>
              <a:tabLst>
                <a:tab pos="355600" algn="l"/>
              </a:tabLst>
            </a:pPr>
            <a:r>
              <a:rPr sz="2000" dirty="0">
                <a:latin typeface="Arial"/>
                <a:cs typeface="Arial"/>
              </a:rPr>
              <a:t>Private</a:t>
            </a:r>
            <a:r>
              <a:rPr sz="2000" spc="-30" dirty="0">
                <a:latin typeface="Arial"/>
                <a:cs typeface="Arial"/>
              </a:rPr>
              <a:t> </a:t>
            </a:r>
            <a:r>
              <a:rPr sz="2000" dirty="0">
                <a:latin typeface="Arial"/>
                <a:cs typeface="Arial"/>
              </a:rPr>
              <a:t>Cloud</a:t>
            </a:r>
            <a:r>
              <a:rPr sz="2000" spc="-35" dirty="0">
                <a:latin typeface="Arial"/>
                <a:cs typeface="Arial"/>
              </a:rPr>
              <a:t> </a:t>
            </a:r>
            <a:r>
              <a:rPr sz="2000" dirty="0">
                <a:latin typeface="Arial"/>
                <a:cs typeface="Arial"/>
              </a:rPr>
              <a:t>–</a:t>
            </a:r>
            <a:r>
              <a:rPr sz="2000" spc="-30" dirty="0">
                <a:latin typeface="Arial"/>
                <a:cs typeface="Arial"/>
              </a:rPr>
              <a:t> </a:t>
            </a:r>
            <a:r>
              <a:rPr lang="en-US" sz="2000" spc="-30" dirty="0">
                <a:latin typeface="Arial"/>
                <a:cs typeface="Arial"/>
              </a:rPr>
              <a:t>T</a:t>
            </a:r>
            <a:r>
              <a:rPr sz="2000" dirty="0">
                <a:latin typeface="Arial"/>
                <a:cs typeface="Arial"/>
              </a:rPr>
              <a:t>he</a:t>
            </a:r>
            <a:r>
              <a:rPr sz="2000" spc="-25" dirty="0">
                <a:latin typeface="Arial"/>
                <a:cs typeface="Arial"/>
              </a:rPr>
              <a:t> </a:t>
            </a:r>
            <a:r>
              <a:rPr sz="2000" dirty="0">
                <a:latin typeface="Arial"/>
                <a:cs typeface="Arial"/>
              </a:rPr>
              <a:t>infrastructure</a:t>
            </a:r>
            <a:r>
              <a:rPr sz="2000" spc="-60" dirty="0">
                <a:latin typeface="Arial"/>
                <a:cs typeface="Arial"/>
              </a:rPr>
              <a:t> </a:t>
            </a:r>
            <a:r>
              <a:rPr sz="2000" dirty="0">
                <a:latin typeface="Arial"/>
                <a:cs typeface="Arial"/>
              </a:rPr>
              <a:t>is</a:t>
            </a:r>
            <a:r>
              <a:rPr sz="2000" spc="-20" dirty="0">
                <a:latin typeface="Arial"/>
                <a:cs typeface="Arial"/>
              </a:rPr>
              <a:t> </a:t>
            </a:r>
            <a:r>
              <a:rPr sz="2000" dirty="0">
                <a:latin typeface="Arial"/>
                <a:cs typeface="Arial"/>
              </a:rPr>
              <a:t>operated</a:t>
            </a:r>
            <a:r>
              <a:rPr sz="2000" spc="-60" dirty="0">
                <a:latin typeface="Arial"/>
                <a:cs typeface="Arial"/>
              </a:rPr>
              <a:t> </a:t>
            </a:r>
            <a:r>
              <a:rPr sz="2000" dirty="0">
                <a:latin typeface="Arial"/>
                <a:cs typeface="Arial"/>
              </a:rPr>
              <a:t>solely</a:t>
            </a:r>
            <a:r>
              <a:rPr sz="2000" spc="-30" dirty="0">
                <a:latin typeface="Arial"/>
                <a:cs typeface="Arial"/>
              </a:rPr>
              <a:t> </a:t>
            </a:r>
            <a:r>
              <a:rPr sz="2000" dirty="0">
                <a:latin typeface="Arial"/>
                <a:cs typeface="Arial"/>
              </a:rPr>
              <a:t>for</a:t>
            </a:r>
            <a:r>
              <a:rPr sz="2000" spc="-50" dirty="0">
                <a:latin typeface="Arial"/>
                <a:cs typeface="Arial"/>
              </a:rPr>
              <a:t> </a:t>
            </a:r>
            <a:r>
              <a:rPr sz="2000" spc="-25" dirty="0">
                <a:latin typeface="Arial"/>
                <a:cs typeface="Arial"/>
              </a:rPr>
              <a:t>an </a:t>
            </a:r>
            <a:r>
              <a:rPr sz="2000" spc="-10" dirty="0">
                <a:latin typeface="Arial"/>
                <a:cs typeface="Arial"/>
              </a:rPr>
              <a:t>organization.</a:t>
            </a:r>
            <a:endParaRPr sz="2000" dirty="0">
              <a:latin typeface="Arial"/>
              <a:cs typeface="Arial"/>
            </a:endParaRPr>
          </a:p>
          <a:p>
            <a:pPr>
              <a:lnSpc>
                <a:spcPct val="100000"/>
              </a:lnSpc>
              <a:spcBef>
                <a:spcPts val="1060"/>
              </a:spcBef>
              <a:buClr>
                <a:srgbClr val="00007C"/>
              </a:buClr>
            </a:pPr>
            <a:endParaRPr sz="2000" dirty="0">
              <a:latin typeface="Arial"/>
              <a:cs typeface="Arial"/>
            </a:endParaRPr>
          </a:p>
        </p:txBody>
      </p:sp>
      <p:pic>
        <p:nvPicPr>
          <p:cNvPr id="3080" name="Picture 8" descr="Private Cloud: What is it and How Does ...">
            <a:extLst>
              <a:ext uri="{FF2B5EF4-FFF2-40B4-BE49-F238E27FC236}">
                <a16:creationId xmlns:a16="http://schemas.microsoft.com/office/drawing/2014/main" id="{6EAAAD20-C1EA-C4DE-DF3A-1E560DBA5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161352"/>
            <a:ext cx="3114793" cy="3865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613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C89A-72B9-6961-5B6A-7F080CF4DF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1D7C47-99A7-B9E1-B490-F30D902AD7CD}"/>
              </a:ext>
            </a:extLst>
          </p:cNvPr>
          <p:cNvSpPr txBox="1">
            <a:spLocks noGrp="1"/>
          </p:cNvSpPr>
          <p:nvPr>
            <p:ph type="title"/>
          </p:nvPr>
        </p:nvSpPr>
        <p:spPr>
          <a:xfrm>
            <a:off x="535940" y="674319"/>
            <a:ext cx="2869565" cy="514350"/>
          </a:xfrm>
          <a:prstGeom prst="rect">
            <a:avLst/>
          </a:prstGeom>
        </p:spPr>
        <p:txBody>
          <a:bodyPr vert="horz" wrap="square" lIns="0" tIns="13335" rIns="0" bIns="0" rtlCol="0">
            <a:spAutoFit/>
          </a:bodyPr>
          <a:lstStyle/>
          <a:p>
            <a:pPr marL="12700">
              <a:lnSpc>
                <a:spcPct val="100000"/>
              </a:lnSpc>
              <a:spcBef>
                <a:spcPts val="105"/>
              </a:spcBef>
            </a:pPr>
            <a:r>
              <a:rPr dirty="0"/>
              <a:t>Types</a:t>
            </a:r>
            <a:r>
              <a:rPr spc="-50" dirty="0"/>
              <a:t> </a:t>
            </a:r>
            <a:r>
              <a:rPr dirty="0"/>
              <a:t>of</a:t>
            </a:r>
            <a:r>
              <a:rPr spc="-25" dirty="0"/>
              <a:t> </a:t>
            </a:r>
            <a:r>
              <a:rPr spc="-10" dirty="0"/>
              <a:t>clouds</a:t>
            </a:r>
          </a:p>
        </p:txBody>
      </p:sp>
      <p:sp>
        <p:nvSpPr>
          <p:cNvPr id="4" name="object 4">
            <a:extLst>
              <a:ext uri="{FF2B5EF4-FFF2-40B4-BE49-F238E27FC236}">
                <a16:creationId xmlns:a16="http://schemas.microsoft.com/office/drawing/2014/main" id="{6D1BE652-9C13-2A18-CEC5-87C7D6008165}"/>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B1E65244-3B63-41E0-4F66-BC0B2614BEE5}"/>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11</a:t>
            </a:fld>
            <a:endParaRPr spc="-25" dirty="0"/>
          </a:p>
        </p:txBody>
      </p:sp>
      <p:sp>
        <p:nvSpPr>
          <p:cNvPr id="6" name="object 6">
            <a:extLst>
              <a:ext uri="{FF2B5EF4-FFF2-40B4-BE49-F238E27FC236}">
                <a16:creationId xmlns:a16="http://schemas.microsoft.com/office/drawing/2014/main" id="{85C6C1BC-8243-B499-3BDC-487F8A5C2060}"/>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a:extLst>
              <a:ext uri="{FF2B5EF4-FFF2-40B4-BE49-F238E27FC236}">
                <a16:creationId xmlns:a16="http://schemas.microsoft.com/office/drawing/2014/main" id="{129E971A-0ACE-19AB-DFD7-41B0E3F627C0}"/>
              </a:ext>
            </a:extLst>
          </p:cNvPr>
          <p:cNvSpPr txBox="1"/>
          <p:nvPr/>
        </p:nvSpPr>
        <p:spPr>
          <a:xfrm>
            <a:off x="535940" y="1378457"/>
            <a:ext cx="7707630" cy="2616742"/>
          </a:xfrm>
          <a:prstGeom prst="rect">
            <a:avLst/>
          </a:prstGeom>
        </p:spPr>
        <p:txBody>
          <a:bodyPr vert="horz" wrap="square" lIns="0" tIns="13335" rIns="0" bIns="0" rtlCol="0">
            <a:spAutoFit/>
          </a:bodyPr>
          <a:lstStyle/>
          <a:p>
            <a:pPr>
              <a:lnSpc>
                <a:spcPct val="100000"/>
              </a:lnSpc>
              <a:spcBef>
                <a:spcPts val="1060"/>
              </a:spcBef>
              <a:buClr>
                <a:srgbClr val="00007C"/>
              </a:buClr>
            </a:pPr>
            <a:endParaRPr sz="2000" dirty="0">
              <a:latin typeface="Arial"/>
              <a:cs typeface="Arial"/>
            </a:endParaRPr>
          </a:p>
          <a:p>
            <a:pPr marL="355600" marR="869950" indent="-343535">
              <a:lnSpc>
                <a:spcPct val="100000"/>
              </a:lnSpc>
              <a:buClr>
                <a:srgbClr val="00007C"/>
              </a:buClr>
              <a:buSzPct val="75000"/>
              <a:buFont typeface="Wingdings"/>
              <a:buChar char=""/>
              <a:tabLst>
                <a:tab pos="355600" algn="l"/>
              </a:tabLst>
            </a:pPr>
            <a:r>
              <a:rPr sz="2000" dirty="0">
                <a:latin typeface="Arial"/>
                <a:cs typeface="Arial"/>
              </a:rPr>
              <a:t>Community</a:t>
            </a:r>
            <a:r>
              <a:rPr sz="2000" spc="-50" dirty="0">
                <a:latin typeface="Arial"/>
                <a:cs typeface="Arial"/>
              </a:rPr>
              <a:t> </a:t>
            </a:r>
            <a:r>
              <a:rPr sz="2000" dirty="0">
                <a:latin typeface="Arial"/>
                <a:cs typeface="Arial"/>
              </a:rPr>
              <a:t>Cloud</a:t>
            </a:r>
            <a:r>
              <a:rPr sz="2000" spc="-25" dirty="0">
                <a:latin typeface="Arial"/>
                <a:cs typeface="Arial"/>
              </a:rPr>
              <a:t> </a:t>
            </a:r>
            <a:r>
              <a:rPr sz="2000" dirty="0">
                <a:latin typeface="Arial"/>
                <a:cs typeface="Arial"/>
              </a:rPr>
              <a:t>-</a:t>
            </a:r>
            <a:r>
              <a:rPr sz="2000" spc="-30"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infrastructure</a:t>
            </a:r>
            <a:r>
              <a:rPr sz="2000" spc="-60" dirty="0">
                <a:latin typeface="Arial"/>
                <a:cs typeface="Arial"/>
              </a:rPr>
              <a:t> </a:t>
            </a:r>
            <a:r>
              <a:rPr sz="2000" dirty="0">
                <a:latin typeface="Arial"/>
                <a:cs typeface="Arial"/>
              </a:rPr>
              <a:t>is</a:t>
            </a:r>
            <a:r>
              <a:rPr sz="2000" spc="-30" dirty="0">
                <a:latin typeface="Arial"/>
                <a:cs typeface="Arial"/>
              </a:rPr>
              <a:t> </a:t>
            </a:r>
            <a:r>
              <a:rPr sz="2000" dirty="0">
                <a:latin typeface="Arial"/>
                <a:cs typeface="Arial"/>
              </a:rPr>
              <a:t>shared</a:t>
            </a:r>
            <a:r>
              <a:rPr sz="2000" spc="-45" dirty="0">
                <a:latin typeface="Arial"/>
                <a:cs typeface="Arial"/>
              </a:rPr>
              <a:t> </a:t>
            </a:r>
            <a:r>
              <a:rPr sz="2000" dirty="0">
                <a:latin typeface="Arial"/>
                <a:cs typeface="Arial"/>
              </a:rPr>
              <a:t>by</a:t>
            </a:r>
            <a:r>
              <a:rPr sz="2000" spc="-40" dirty="0">
                <a:latin typeface="Arial"/>
                <a:cs typeface="Arial"/>
              </a:rPr>
              <a:t> </a:t>
            </a:r>
            <a:r>
              <a:rPr sz="2000" spc="-10" dirty="0">
                <a:latin typeface="Arial"/>
                <a:cs typeface="Arial"/>
              </a:rPr>
              <a:t>several </a:t>
            </a:r>
            <a:r>
              <a:rPr sz="2000" dirty="0">
                <a:latin typeface="Arial"/>
                <a:cs typeface="Arial"/>
              </a:rPr>
              <a:t>organizations</a:t>
            </a:r>
            <a:r>
              <a:rPr sz="2000" spc="-45" dirty="0">
                <a:latin typeface="Arial"/>
                <a:cs typeface="Arial"/>
              </a:rPr>
              <a:t> </a:t>
            </a:r>
            <a:r>
              <a:rPr sz="2000" dirty="0">
                <a:latin typeface="Arial"/>
                <a:cs typeface="Arial"/>
              </a:rPr>
              <a:t>and</a:t>
            </a:r>
            <a:r>
              <a:rPr sz="2000" spc="-25" dirty="0">
                <a:latin typeface="Arial"/>
                <a:cs typeface="Arial"/>
              </a:rPr>
              <a:t> </a:t>
            </a:r>
            <a:r>
              <a:rPr sz="2000" dirty="0">
                <a:latin typeface="Arial"/>
                <a:cs typeface="Arial"/>
              </a:rPr>
              <a:t>supports</a:t>
            </a:r>
            <a:r>
              <a:rPr sz="2000" spc="-30" dirty="0">
                <a:latin typeface="Arial"/>
                <a:cs typeface="Arial"/>
              </a:rPr>
              <a:t> </a:t>
            </a:r>
            <a:r>
              <a:rPr sz="2000" dirty="0">
                <a:latin typeface="Arial"/>
                <a:cs typeface="Arial"/>
              </a:rPr>
              <a:t>a</a:t>
            </a:r>
            <a:r>
              <a:rPr sz="2000" spc="-15" dirty="0">
                <a:latin typeface="Arial"/>
                <a:cs typeface="Arial"/>
              </a:rPr>
              <a:t> </a:t>
            </a:r>
            <a:r>
              <a:rPr sz="2000" dirty="0">
                <a:latin typeface="Arial"/>
                <a:cs typeface="Arial"/>
              </a:rPr>
              <a:t>community</a:t>
            </a:r>
            <a:r>
              <a:rPr sz="2000" spc="-40" dirty="0">
                <a:latin typeface="Arial"/>
                <a:cs typeface="Arial"/>
              </a:rPr>
              <a:t> </a:t>
            </a:r>
            <a:r>
              <a:rPr sz="2000" dirty="0">
                <a:latin typeface="Arial"/>
                <a:cs typeface="Arial"/>
              </a:rPr>
              <a:t>that</a:t>
            </a:r>
            <a:r>
              <a:rPr sz="2000" spc="-25" dirty="0">
                <a:latin typeface="Arial"/>
                <a:cs typeface="Arial"/>
              </a:rPr>
              <a:t> </a:t>
            </a:r>
            <a:r>
              <a:rPr sz="2000" dirty="0">
                <a:latin typeface="Arial"/>
                <a:cs typeface="Arial"/>
              </a:rPr>
              <a:t>has</a:t>
            </a:r>
            <a:r>
              <a:rPr sz="2000" spc="-10" dirty="0">
                <a:latin typeface="Arial"/>
                <a:cs typeface="Arial"/>
              </a:rPr>
              <a:t> shared concerns.</a:t>
            </a:r>
            <a:br>
              <a:rPr lang="en-US" sz="2000" spc="-10" dirty="0">
                <a:latin typeface="Arial"/>
                <a:cs typeface="Arial"/>
              </a:rPr>
            </a:br>
            <a:br>
              <a:rPr lang="en-US" sz="2000" spc="-10" dirty="0">
                <a:latin typeface="Arial"/>
                <a:cs typeface="Arial"/>
              </a:rPr>
            </a:br>
            <a:br>
              <a:rPr lang="en-US" sz="2000" spc="-10" dirty="0">
                <a:latin typeface="Arial"/>
                <a:cs typeface="Arial"/>
              </a:rPr>
            </a:br>
            <a:endParaRPr sz="2000" dirty="0">
              <a:latin typeface="Arial"/>
              <a:cs typeface="Arial"/>
            </a:endParaRPr>
          </a:p>
          <a:p>
            <a:pPr>
              <a:lnSpc>
                <a:spcPct val="100000"/>
              </a:lnSpc>
              <a:spcBef>
                <a:spcPts val="1065"/>
              </a:spcBef>
              <a:buClr>
                <a:srgbClr val="00007C"/>
              </a:buClr>
            </a:pPr>
            <a:endParaRPr sz="2000" dirty="0">
              <a:latin typeface="Arial"/>
              <a:cs typeface="Arial"/>
            </a:endParaRPr>
          </a:p>
        </p:txBody>
      </p:sp>
      <p:pic>
        <p:nvPicPr>
          <p:cNvPr id="8" name="Picture 7" descr="A diagram of a cloud computing model&#10;&#10;AI-generated content may be incorrect.">
            <a:extLst>
              <a:ext uri="{FF2B5EF4-FFF2-40B4-BE49-F238E27FC236}">
                <a16:creationId xmlns:a16="http://schemas.microsoft.com/office/drawing/2014/main" id="{4BE3E213-D9CC-9C70-47F2-449B286F9A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2686828"/>
            <a:ext cx="3581400" cy="3151923"/>
          </a:xfrm>
          <a:prstGeom prst="rect">
            <a:avLst/>
          </a:prstGeom>
        </p:spPr>
      </p:pic>
    </p:spTree>
    <p:extLst>
      <p:ext uri="{BB962C8B-B14F-4D97-AF65-F5344CB8AC3E}">
        <p14:creationId xmlns:p14="http://schemas.microsoft.com/office/powerpoint/2010/main" val="219155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85F9-E40C-A672-B400-2F7B9C123A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137B21-C633-7C88-C11B-51AB20149BB4}"/>
              </a:ext>
            </a:extLst>
          </p:cNvPr>
          <p:cNvSpPr txBox="1">
            <a:spLocks noGrp="1"/>
          </p:cNvSpPr>
          <p:nvPr>
            <p:ph type="title"/>
          </p:nvPr>
        </p:nvSpPr>
        <p:spPr>
          <a:xfrm>
            <a:off x="535940" y="674319"/>
            <a:ext cx="2869565" cy="514350"/>
          </a:xfrm>
          <a:prstGeom prst="rect">
            <a:avLst/>
          </a:prstGeom>
        </p:spPr>
        <p:txBody>
          <a:bodyPr vert="horz" wrap="square" lIns="0" tIns="13335" rIns="0" bIns="0" rtlCol="0">
            <a:spAutoFit/>
          </a:bodyPr>
          <a:lstStyle/>
          <a:p>
            <a:pPr marL="12700">
              <a:lnSpc>
                <a:spcPct val="100000"/>
              </a:lnSpc>
              <a:spcBef>
                <a:spcPts val="105"/>
              </a:spcBef>
            </a:pPr>
            <a:r>
              <a:rPr dirty="0"/>
              <a:t>Types</a:t>
            </a:r>
            <a:r>
              <a:rPr spc="-50" dirty="0"/>
              <a:t> </a:t>
            </a:r>
            <a:r>
              <a:rPr dirty="0"/>
              <a:t>of</a:t>
            </a:r>
            <a:r>
              <a:rPr spc="-25" dirty="0"/>
              <a:t> </a:t>
            </a:r>
            <a:r>
              <a:rPr spc="-10" dirty="0"/>
              <a:t>clouds</a:t>
            </a:r>
          </a:p>
        </p:txBody>
      </p:sp>
      <p:sp>
        <p:nvSpPr>
          <p:cNvPr id="4" name="object 4">
            <a:extLst>
              <a:ext uri="{FF2B5EF4-FFF2-40B4-BE49-F238E27FC236}">
                <a16:creationId xmlns:a16="http://schemas.microsoft.com/office/drawing/2014/main" id="{5380785C-CBDA-76E5-CD04-1B6F27C9FFD2}"/>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71804BCA-FB99-2C26-1AF9-51343C6F1524}"/>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12</a:t>
            </a:fld>
            <a:endParaRPr spc="-25" dirty="0"/>
          </a:p>
        </p:txBody>
      </p:sp>
      <p:sp>
        <p:nvSpPr>
          <p:cNvPr id="6" name="object 6">
            <a:extLst>
              <a:ext uri="{FF2B5EF4-FFF2-40B4-BE49-F238E27FC236}">
                <a16:creationId xmlns:a16="http://schemas.microsoft.com/office/drawing/2014/main" id="{49123B6D-0B65-B4F6-5F44-EC73EE7CF05E}"/>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a:extLst>
              <a:ext uri="{FF2B5EF4-FFF2-40B4-BE49-F238E27FC236}">
                <a16:creationId xmlns:a16="http://schemas.microsoft.com/office/drawing/2014/main" id="{BAC0B713-CCA4-F89A-F5C7-78BF45AF0597}"/>
              </a:ext>
            </a:extLst>
          </p:cNvPr>
          <p:cNvSpPr txBox="1"/>
          <p:nvPr/>
        </p:nvSpPr>
        <p:spPr>
          <a:xfrm>
            <a:off x="535940" y="1378457"/>
            <a:ext cx="7707630" cy="1860125"/>
          </a:xfrm>
          <a:prstGeom prst="rect">
            <a:avLst/>
          </a:prstGeom>
        </p:spPr>
        <p:txBody>
          <a:bodyPr vert="horz" wrap="square" lIns="0" tIns="13335" rIns="0" bIns="0" rtlCol="0">
            <a:spAutoFit/>
          </a:bodyPr>
          <a:lstStyle/>
          <a:p>
            <a:pPr>
              <a:lnSpc>
                <a:spcPct val="100000"/>
              </a:lnSpc>
              <a:spcBef>
                <a:spcPts val="1065"/>
              </a:spcBef>
              <a:buClr>
                <a:srgbClr val="00007C"/>
              </a:buClr>
            </a:pPr>
            <a:endParaRPr lang="en-IN" sz="2000" dirty="0">
              <a:latin typeface="Arial"/>
              <a:cs typeface="Arial"/>
            </a:endParaRPr>
          </a:p>
          <a:p>
            <a:pPr marL="355600" marR="5080" indent="-343535">
              <a:lnSpc>
                <a:spcPct val="100000"/>
              </a:lnSpc>
              <a:buClr>
                <a:srgbClr val="00007C"/>
              </a:buClr>
              <a:buSzPct val="75000"/>
              <a:buFont typeface="Wingdings"/>
              <a:buChar char=""/>
              <a:tabLst>
                <a:tab pos="355600" algn="l"/>
              </a:tabLst>
            </a:pPr>
            <a:r>
              <a:rPr sz="2000" dirty="0">
                <a:latin typeface="Arial"/>
                <a:cs typeface="Arial"/>
              </a:rPr>
              <a:t>Hybrid</a:t>
            </a:r>
            <a:r>
              <a:rPr sz="2000" spc="-40" dirty="0">
                <a:latin typeface="Arial"/>
                <a:cs typeface="Arial"/>
              </a:rPr>
              <a:t> </a:t>
            </a:r>
            <a:r>
              <a:rPr sz="2000" dirty="0">
                <a:latin typeface="Arial"/>
                <a:cs typeface="Arial"/>
              </a:rPr>
              <a:t>Cloud</a:t>
            </a:r>
            <a:r>
              <a:rPr sz="2000" spc="-30" dirty="0">
                <a:latin typeface="Arial"/>
                <a:cs typeface="Arial"/>
              </a:rPr>
              <a:t> </a:t>
            </a:r>
            <a:r>
              <a:rPr sz="2000" dirty="0">
                <a:latin typeface="Arial"/>
                <a:cs typeface="Arial"/>
              </a:rPr>
              <a:t>-</a:t>
            </a:r>
            <a:r>
              <a:rPr sz="2000" spc="-35" dirty="0">
                <a:latin typeface="Arial"/>
                <a:cs typeface="Arial"/>
              </a:rPr>
              <a:t> </a:t>
            </a:r>
            <a:r>
              <a:rPr sz="2000" dirty="0">
                <a:latin typeface="Arial"/>
                <a:cs typeface="Arial"/>
              </a:rPr>
              <a:t>composition</a:t>
            </a:r>
            <a:r>
              <a:rPr sz="2000" spc="-40" dirty="0">
                <a:latin typeface="Arial"/>
                <a:cs typeface="Arial"/>
              </a:rPr>
              <a:t> </a:t>
            </a:r>
            <a:r>
              <a:rPr sz="2000" dirty="0">
                <a:latin typeface="Arial"/>
                <a:cs typeface="Arial"/>
              </a:rPr>
              <a:t>of</a:t>
            </a:r>
            <a:r>
              <a:rPr sz="2000" spc="-40" dirty="0">
                <a:latin typeface="Arial"/>
                <a:cs typeface="Arial"/>
              </a:rPr>
              <a:t> </a:t>
            </a:r>
            <a:r>
              <a:rPr sz="2000" dirty="0">
                <a:latin typeface="Arial"/>
                <a:cs typeface="Arial"/>
              </a:rPr>
              <a:t>two</a:t>
            </a:r>
            <a:r>
              <a:rPr sz="2000" spc="-35" dirty="0">
                <a:latin typeface="Arial"/>
                <a:cs typeface="Arial"/>
              </a:rPr>
              <a:t> </a:t>
            </a:r>
            <a:r>
              <a:rPr sz="2000" dirty="0">
                <a:latin typeface="Arial"/>
                <a:cs typeface="Arial"/>
              </a:rPr>
              <a:t>or</a:t>
            </a:r>
            <a:r>
              <a:rPr sz="2000" spc="-40" dirty="0">
                <a:latin typeface="Arial"/>
                <a:cs typeface="Arial"/>
              </a:rPr>
              <a:t> </a:t>
            </a:r>
            <a:r>
              <a:rPr sz="2000" dirty="0">
                <a:latin typeface="Arial"/>
                <a:cs typeface="Arial"/>
              </a:rPr>
              <a:t>more</a:t>
            </a:r>
            <a:r>
              <a:rPr sz="2000" spc="-45" dirty="0">
                <a:latin typeface="Arial"/>
                <a:cs typeface="Arial"/>
              </a:rPr>
              <a:t> </a:t>
            </a:r>
            <a:r>
              <a:rPr sz="2000" dirty="0">
                <a:latin typeface="Arial"/>
                <a:cs typeface="Arial"/>
              </a:rPr>
              <a:t>clouds</a:t>
            </a:r>
            <a:r>
              <a:rPr sz="2000" spc="-25" dirty="0">
                <a:latin typeface="Arial"/>
                <a:cs typeface="Arial"/>
              </a:rPr>
              <a:t> </a:t>
            </a:r>
            <a:r>
              <a:rPr sz="2000" dirty="0">
                <a:latin typeface="Arial"/>
                <a:cs typeface="Arial"/>
              </a:rPr>
              <a:t>(public,</a:t>
            </a:r>
            <a:r>
              <a:rPr sz="2000" spc="-45" dirty="0">
                <a:latin typeface="Arial"/>
                <a:cs typeface="Arial"/>
              </a:rPr>
              <a:t> </a:t>
            </a:r>
            <a:r>
              <a:rPr sz="2000" spc="-10" dirty="0">
                <a:latin typeface="Arial"/>
                <a:cs typeface="Arial"/>
              </a:rPr>
              <a:t>private, </a:t>
            </a:r>
            <a:r>
              <a:rPr sz="2000" dirty="0">
                <a:latin typeface="Arial"/>
                <a:cs typeface="Arial"/>
              </a:rPr>
              <a:t>or</a:t>
            </a:r>
            <a:r>
              <a:rPr sz="2000" spc="-30" dirty="0">
                <a:latin typeface="Arial"/>
                <a:cs typeface="Arial"/>
              </a:rPr>
              <a:t> </a:t>
            </a:r>
            <a:r>
              <a:rPr sz="2000" dirty="0">
                <a:latin typeface="Arial"/>
                <a:cs typeface="Arial"/>
              </a:rPr>
              <a:t>community)</a:t>
            </a:r>
            <a:r>
              <a:rPr sz="2000" spc="-40" dirty="0">
                <a:latin typeface="Arial"/>
                <a:cs typeface="Arial"/>
              </a:rPr>
              <a:t> </a:t>
            </a:r>
            <a:r>
              <a:rPr sz="2000" dirty="0">
                <a:latin typeface="Arial"/>
                <a:cs typeface="Arial"/>
              </a:rPr>
              <a:t>as</a:t>
            </a:r>
            <a:r>
              <a:rPr sz="2000" spc="-25" dirty="0">
                <a:latin typeface="Arial"/>
                <a:cs typeface="Arial"/>
              </a:rPr>
              <a:t> </a:t>
            </a:r>
            <a:r>
              <a:rPr sz="2000" dirty="0">
                <a:latin typeface="Arial"/>
                <a:cs typeface="Arial"/>
              </a:rPr>
              <a:t>unique</a:t>
            </a:r>
            <a:r>
              <a:rPr sz="2000" spc="-30" dirty="0">
                <a:latin typeface="Arial"/>
                <a:cs typeface="Arial"/>
              </a:rPr>
              <a:t> </a:t>
            </a:r>
            <a:r>
              <a:rPr sz="2000" dirty="0">
                <a:latin typeface="Arial"/>
                <a:cs typeface="Arial"/>
              </a:rPr>
              <a:t>entities</a:t>
            </a:r>
            <a:r>
              <a:rPr sz="2000" spc="-25" dirty="0">
                <a:latin typeface="Arial"/>
                <a:cs typeface="Arial"/>
              </a:rPr>
              <a:t> </a:t>
            </a:r>
            <a:r>
              <a:rPr sz="2000" dirty="0">
                <a:latin typeface="Arial"/>
                <a:cs typeface="Arial"/>
              </a:rPr>
              <a:t>but</a:t>
            </a:r>
            <a:r>
              <a:rPr sz="2000" spc="-30" dirty="0">
                <a:latin typeface="Arial"/>
                <a:cs typeface="Arial"/>
              </a:rPr>
              <a:t> </a:t>
            </a:r>
            <a:r>
              <a:rPr sz="2000" dirty="0">
                <a:latin typeface="Arial"/>
                <a:cs typeface="Arial"/>
              </a:rPr>
              <a:t>bound</a:t>
            </a:r>
            <a:r>
              <a:rPr sz="2000" spc="-40" dirty="0">
                <a:latin typeface="Arial"/>
                <a:cs typeface="Arial"/>
              </a:rPr>
              <a:t> </a:t>
            </a:r>
            <a:r>
              <a:rPr sz="2000" dirty="0">
                <a:latin typeface="Arial"/>
                <a:cs typeface="Arial"/>
              </a:rPr>
              <a:t>by</a:t>
            </a:r>
            <a:r>
              <a:rPr sz="2000" spc="-5" dirty="0">
                <a:latin typeface="Arial"/>
                <a:cs typeface="Arial"/>
              </a:rPr>
              <a:t> </a:t>
            </a:r>
            <a:r>
              <a:rPr sz="2000" spc="-10" dirty="0">
                <a:latin typeface="Arial"/>
                <a:cs typeface="Arial"/>
              </a:rPr>
              <a:t>standardized </a:t>
            </a:r>
            <a:r>
              <a:rPr sz="2000" dirty="0">
                <a:latin typeface="Arial"/>
                <a:cs typeface="Arial"/>
              </a:rPr>
              <a:t>technology</a:t>
            </a:r>
            <a:r>
              <a:rPr sz="2000" spc="-55" dirty="0">
                <a:latin typeface="Arial"/>
                <a:cs typeface="Arial"/>
              </a:rPr>
              <a:t> </a:t>
            </a:r>
            <a:r>
              <a:rPr sz="2000" dirty="0">
                <a:latin typeface="Arial"/>
                <a:cs typeface="Arial"/>
              </a:rPr>
              <a:t>that</a:t>
            </a:r>
            <a:r>
              <a:rPr sz="2000" spc="-50" dirty="0">
                <a:latin typeface="Arial"/>
                <a:cs typeface="Arial"/>
              </a:rPr>
              <a:t> </a:t>
            </a:r>
            <a:r>
              <a:rPr sz="2000" dirty="0">
                <a:latin typeface="Arial"/>
                <a:cs typeface="Arial"/>
              </a:rPr>
              <a:t>enables</a:t>
            </a:r>
            <a:r>
              <a:rPr sz="2000" spc="-50" dirty="0">
                <a:latin typeface="Arial"/>
                <a:cs typeface="Arial"/>
              </a:rPr>
              <a:t> </a:t>
            </a:r>
            <a:r>
              <a:rPr sz="2000" dirty="0">
                <a:latin typeface="Arial"/>
                <a:cs typeface="Arial"/>
              </a:rPr>
              <a:t>data</a:t>
            </a:r>
            <a:r>
              <a:rPr sz="2000" spc="-40" dirty="0">
                <a:latin typeface="Arial"/>
                <a:cs typeface="Arial"/>
              </a:rPr>
              <a:t> </a:t>
            </a:r>
            <a:r>
              <a:rPr sz="2000" dirty="0">
                <a:latin typeface="Arial"/>
                <a:cs typeface="Arial"/>
              </a:rPr>
              <a:t>and</a:t>
            </a:r>
            <a:r>
              <a:rPr sz="2000" spc="-30" dirty="0">
                <a:latin typeface="Arial"/>
                <a:cs typeface="Arial"/>
              </a:rPr>
              <a:t> </a:t>
            </a:r>
            <a:r>
              <a:rPr sz="2000" dirty="0">
                <a:latin typeface="Arial"/>
                <a:cs typeface="Arial"/>
              </a:rPr>
              <a:t>application</a:t>
            </a:r>
            <a:r>
              <a:rPr sz="2000" spc="-45" dirty="0">
                <a:latin typeface="Arial"/>
                <a:cs typeface="Arial"/>
              </a:rPr>
              <a:t> </a:t>
            </a:r>
            <a:r>
              <a:rPr sz="2000" spc="-10" dirty="0">
                <a:latin typeface="Arial"/>
                <a:cs typeface="Arial"/>
              </a:rPr>
              <a:t>portability.</a:t>
            </a:r>
            <a:br>
              <a:rPr lang="en-US" sz="2000" spc="-10" dirty="0">
                <a:latin typeface="Arial"/>
                <a:cs typeface="Arial"/>
              </a:rPr>
            </a:br>
            <a:br>
              <a:rPr lang="en-US" sz="2000" spc="-10" dirty="0">
                <a:latin typeface="Arial"/>
                <a:cs typeface="Arial"/>
              </a:rPr>
            </a:br>
            <a:endParaRPr sz="2000" dirty="0">
              <a:latin typeface="Arial"/>
              <a:cs typeface="Arial"/>
            </a:endParaRPr>
          </a:p>
        </p:txBody>
      </p:sp>
      <p:pic>
        <p:nvPicPr>
          <p:cNvPr id="5122" name="Picture 2" descr="The Benefits of Hybrid Cloud Computing">
            <a:extLst>
              <a:ext uri="{FF2B5EF4-FFF2-40B4-BE49-F238E27FC236}">
                <a16:creationId xmlns:a16="http://schemas.microsoft.com/office/drawing/2014/main" id="{F6C78EA3-536D-7777-6C2F-3CED72071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949" y="2613231"/>
            <a:ext cx="4368800" cy="325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138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089A-B9EE-7ADF-75D3-43242FDDC8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BDECFD-821E-2CAD-6CF5-C7B1E53CB8F0}"/>
              </a:ext>
            </a:extLst>
          </p:cNvPr>
          <p:cNvSpPr txBox="1">
            <a:spLocks noGrp="1"/>
          </p:cNvSpPr>
          <p:nvPr>
            <p:ph type="title"/>
          </p:nvPr>
        </p:nvSpPr>
        <p:spPr>
          <a:xfrm>
            <a:off x="535940" y="674319"/>
            <a:ext cx="2869565" cy="514350"/>
          </a:xfrm>
          <a:prstGeom prst="rect">
            <a:avLst/>
          </a:prstGeom>
        </p:spPr>
        <p:txBody>
          <a:bodyPr vert="horz" wrap="square" lIns="0" tIns="13335" rIns="0" bIns="0" rtlCol="0">
            <a:spAutoFit/>
          </a:bodyPr>
          <a:lstStyle/>
          <a:p>
            <a:pPr marL="12700">
              <a:lnSpc>
                <a:spcPct val="100000"/>
              </a:lnSpc>
              <a:spcBef>
                <a:spcPts val="105"/>
              </a:spcBef>
            </a:pPr>
            <a:r>
              <a:rPr dirty="0"/>
              <a:t>Types</a:t>
            </a:r>
            <a:r>
              <a:rPr spc="-50" dirty="0"/>
              <a:t> </a:t>
            </a:r>
            <a:r>
              <a:rPr dirty="0"/>
              <a:t>of</a:t>
            </a:r>
            <a:r>
              <a:rPr spc="-25" dirty="0"/>
              <a:t> </a:t>
            </a:r>
            <a:r>
              <a:rPr spc="-10" dirty="0"/>
              <a:t>clouds</a:t>
            </a:r>
          </a:p>
        </p:txBody>
      </p:sp>
      <p:sp>
        <p:nvSpPr>
          <p:cNvPr id="4" name="object 4">
            <a:extLst>
              <a:ext uri="{FF2B5EF4-FFF2-40B4-BE49-F238E27FC236}">
                <a16:creationId xmlns:a16="http://schemas.microsoft.com/office/drawing/2014/main" id="{BE2BAB0B-A2D1-B228-E2BB-FF7DB0FA241D}"/>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5AA8497C-2ED7-476A-FE95-802BF2EAFCB5}"/>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13</a:t>
            </a:fld>
            <a:endParaRPr spc="-25" dirty="0"/>
          </a:p>
        </p:txBody>
      </p:sp>
      <p:sp>
        <p:nvSpPr>
          <p:cNvPr id="6" name="object 6">
            <a:extLst>
              <a:ext uri="{FF2B5EF4-FFF2-40B4-BE49-F238E27FC236}">
                <a16:creationId xmlns:a16="http://schemas.microsoft.com/office/drawing/2014/main" id="{717C917E-D465-5961-DE6B-BDDE3DEB0A3B}"/>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pic>
        <p:nvPicPr>
          <p:cNvPr id="1028" name="Picture 4" descr="MANUFACTURING IN THE CLOUD ...">
            <a:extLst>
              <a:ext uri="{FF2B5EF4-FFF2-40B4-BE49-F238E27FC236}">
                <a16:creationId xmlns:a16="http://schemas.microsoft.com/office/drawing/2014/main" id="{98E2DDBB-0AA5-C645-C295-E3DC712E7A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828800"/>
            <a:ext cx="57912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539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The</a:t>
            </a:r>
            <a:r>
              <a:rPr spc="-70" dirty="0"/>
              <a:t> </a:t>
            </a:r>
            <a:r>
              <a:rPr dirty="0"/>
              <a:t>“good”</a:t>
            </a:r>
            <a:r>
              <a:rPr spc="-50" dirty="0"/>
              <a:t> </a:t>
            </a:r>
            <a:r>
              <a:rPr dirty="0"/>
              <a:t>about</a:t>
            </a:r>
            <a:r>
              <a:rPr spc="-35" dirty="0"/>
              <a:t> </a:t>
            </a:r>
            <a:r>
              <a:rPr dirty="0"/>
              <a:t>cloud</a:t>
            </a:r>
            <a:r>
              <a:rPr spc="-60" dirty="0"/>
              <a:t> </a:t>
            </a:r>
            <a:r>
              <a:rPr spc="-10" dirty="0"/>
              <a:t>computing</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14</a:t>
            </a:fld>
            <a:endParaRPr spc="-25" dirty="0"/>
          </a:p>
        </p:txBody>
      </p:sp>
      <p:sp>
        <p:nvSpPr>
          <p:cNvPr id="3" name="object 3"/>
          <p:cNvSpPr txBox="1"/>
          <p:nvPr/>
        </p:nvSpPr>
        <p:spPr>
          <a:xfrm>
            <a:off x="574040" y="1473453"/>
            <a:ext cx="7914640" cy="4976362"/>
          </a:xfrm>
          <a:prstGeom prst="rect">
            <a:avLst/>
          </a:prstGeom>
        </p:spPr>
        <p:txBody>
          <a:bodyPr vert="horz" wrap="square" lIns="0" tIns="13335" rIns="0" bIns="0" rtlCol="0">
            <a:spAutoFit/>
          </a:bodyPr>
          <a:lstStyle/>
          <a:p>
            <a:pPr marL="355600" indent="-342900">
              <a:lnSpc>
                <a:spcPct val="100000"/>
              </a:lnSpc>
              <a:spcBef>
                <a:spcPts val="105"/>
              </a:spcBef>
              <a:buClr>
                <a:srgbClr val="00007C"/>
              </a:buClr>
              <a:buSzPct val="75000"/>
              <a:buFont typeface="Wingdings"/>
              <a:buChar char=""/>
              <a:tabLst>
                <a:tab pos="355600" algn="l"/>
              </a:tabLst>
            </a:pPr>
            <a:r>
              <a:rPr lang="en-IN" sz="2000" dirty="0">
                <a:latin typeface="Arial"/>
                <a:cs typeface="Arial"/>
              </a:rPr>
              <a:t>Resources sharing and Multiplexing</a:t>
            </a:r>
          </a:p>
          <a:p>
            <a:pPr marL="12700">
              <a:lnSpc>
                <a:spcPct val="100000"/>
              </a:lnSpc>
              <a:spcBef>
                <a:spcPts val="105"/>
              </a:spcBef>
              <a:buClr>
                <a:srgbClr val="00007C"/>
              </a:buClr>
              <a:buSzPct val="75000"/>
              <a:tabLst>
                <a:tab pos="355600" algn="l"/>
              </a:tabLst>
            </a:pPr>
            <a:r>
              <a:rPr lang="en-IN" sz="2000" dirty="0">
                <a:latin typeface="Arial"/>
                <a:cs typeface="Arial"/>
              </a:rPr>
              <a:t>      a. used shared resource pool (</a:t>
            </a:r>
            <a:r>
              <a:rPr lang="en-IN" sz="2000" dirty="0" err="1">
                <a:latin typeface="Arial"/>
                <a:cs typeface="Arial"/>
              </a:rPr>
              <a:t>cpu</a:t>
            </a:r>
            <a:r>
              <a:rPr lang="en-IN" sz="2000" dirty="0">
                <a:latin typeface="Arial"/>
                <a:cs typeface="Arial"/>
              </a:rPr>
              <a:t>, storage, bandwidth)</a:t>
            </a:r>
          </a:p>
          <a:p>
            <a:pPr marL="12700">
              <a:lnSpc>
                <a:spcPct val="100000"/>
              </a:lnSpc>
              <a:spcBef>
                <a:spcPts val="105"/>
              </a:spcBef>
              <a:buClr>
                <a:srgbClr val="00007C"/>
              </a:buClr>
              <a:buSzPct val="75000"/>
              <a:tabLst>
                <a:tab pos="355600" algn="l"/>
              </a:tabLst>
            </a:pPr>
            <a:r>
              <a:rPr lang="en-IN" sz="2000" dirty="0">
                <a:latin typeface="Arial"/>
                <a:cs typeface="Arial"/>
              </a:rPr>
              <a:t>      b. Benefit: Resource Utilization</a:t>
            </a:r>
            <a:br>
              <a:rPr lang="en-IN" sz="2000" dirty="0">
                <a:latin typeface="Arial"/>
                <a:cs typeface="Arial"/>
              </a:rPr>
            </a:br>
            <a:endParaRPr lang="en-IN" sz="2000" dirty="0">
              <a:latin typeface="Arial"/>
              <a:cs typeface="Arial"/>
            </a:endParaRPr>
          </a:p>
          <a:p>
            <a:pPr marL="355600" indent="-342900">
              <a:lnSpc>
                <a:spcPct val="100000"/>
              </a:lnSpc>
              <a:spcBef>
                <a:spcPts val="105"/>
              </a:spcBef>
              <a:buClr>
                <a:srgbClr val="00007C"/>
              </a:buClr>
              <a:buSzPct val="75000"/>
              <a:buFont typeface="Wingdings"/>
              <a:buChar char=""/>
              <a:tabLst>
                <a:tab pos="355600" algn="l"/>
              </a:tabLst>
            </a:pPr>
            <a:r>
              <a:rPr lang="en-IN" sz="2000" dirty="0">
                <a:latin typeface="Arial"/>
                <a:cs typeface="Arial"/>
              </a:rPr>
              <a:t>Resources Aggregation and Data-Intensive Apps:</a:t>
            </a:r>
            <a:br>
              <a:rPr lang="en-IN" sz="2000" dirty="0">
                <a:latin typeface="Arial"/>
                <a:cs typeface="Arial"/>
              </a:rPr>
            </a:br>
            <a:r>
              <a:rPr lang="en-IN" sz="2000" dirty="0">
                <a:latin typeface="Arial"/>
                <a:cs typeface="Arial"/>
              </a:rPr>
              <a:t>a. </a:t>
            </a:r>
            <a:r>
              <a:rPr lang="en-IN" sz="2000" dirty="0" err="1">
                <a:latin typeface="Arial"/>
                <a:cs typeface="Arial"/>
              </a:rPr>
              <a:t>clumb</a:t>
            </a:r>
            <a:r>
              <a:rPr lang="en-IN" sz="2000" dirty="0">
                <a:latin typeface="Arial"/>
                <a:cs typeface="Arial"/>
              </a:rPr>
              <a:t> 100’s or 1000’s of smaller computers</a:t>
            </a:r>
            <a:br>
              <a:rPr lang="en-IN" sz="2000" dirty="0">
                <a:latin typeface="Arial"/>
                <a:cs typeface="Arial"/>
              </a:rPr>
            </a:br>
            <a:r>
              <a:rPr lang="en-IN" sz="2000" dirty="0">
                <a:latin typeface="Arial"/>
                <a:cs typeface="Arial"/>
              </a:rPr>
              <a:t>b. Example: DNA sequencing problem, LLM</a:t>
            </a:r>
            <a:br>
              <a:rPr lang="en-IN" sz="2000" dirty="0">
                <a:latin typeface="Arial"/>
                <a:cs typeface="Arial"/>
              </a:rPr>
            </a:br>
            <a:endParaRPr lang="en-IN" sz="2000" dirty="0">
              <a:latin typeface="Arial"/>
              <a:cs typeface="Arial"/>
            </a:endParaRPr>
          </a:p>
          <a:p>
            <a:pPr marL="354330" marR="203200" indent="-342265" algn="l">
              <a:lnSpc>
                <a:spcPct val="100000"/>
              </a:lnSpc>
              <a:buClr>
                <a:srgbClr val="00007C"/>
              </a:buClr>
              <a:buSzPct val="75000"/>
              <a:buFont typeface="Wingdings"/>
              <a:buChar char=""/>
              <a:tabLst>
                <a:tab pos="355600" algn="l"/>
              </a:tabLst>
            </a:pPr>
            <a:r>
              <a:rPr lang="en-IN" sz="2000" dirty="0" err="1">
                <a:latin typeface="Arial"/>
                <a:cs typeface="Arial"/>
              </a:rPr>
              <a:t>Collboration</a:t>
            </a:r>
            <a:r>
              <a:rPr lang="en-IN" sz="2000" dirty="0">
                <a:latin typeface="Arial"/>
                <a:cs typeface="Arial"/>
              </a:rPr>
              <a:t> and Data sharing:</a:t>
            </a:r>
            <a:br>
              <a:rPr lang="en-IN" sz="2000" dirty="0">
                <a:latin typeface="Arial"/>
                <a:cs typeface="Arial"/>
              </a:rPr>
            </a:br>
            <a:r>
              <a:rPr lang="en-IN" sz="2000" dirty="0">
                <a:latin typeface="Arial"/>
                <a:cs typeface="Arial"/>
              </a:rPr>
              <a:t>a. Data is stored in cloud rather than physical </a:t>
            </a:r>
            <a:r>
              <a:rPr lang="en-IN" sz="2000" dirty="0" err="1">
                <a:latin typeface="Arial"/>
                <a:cs typeface="Arial"/>
              </a:rPr>
              <a:t>harddrive</a:t>
            </a:r>
            <a:r>
              <a:rPr lang="en-IN" sz="2000" dirty="0">
                <a:latin typeface="Arial"/>
                <a:cs typeface="Arial"/>
              </a:rPr>
              <a:t> in the office</a:t>
            </a:r>
            <a:br>
              <a:rPr lang="en-IN" sz="2000" dirty="0">
                <a:latin typeface="Arial"/>
                <a:cs typeface="Arial"/>
              </a:rPr>
            </a:br>
            <a:r>
              <a:rPr lang="en-IN" sz="2000" dirty="0">
                <a:latin typeface="Arial"/>
                <a:cs typeface="Arial"/>
              </a:rPr>
              <a:t>b. </a:t>
            </a:r>
            <a:r>
              <a:rPr lang="en-IN" sz="2000" dirty="0" err="1">
                <a:latin typeface="Arial"/>
                <a:cs typeface="Arial"/>
              </a:rPr>
              <a:t>googleDocs</a:t>
            </a:r>
            <a:endParaRPr lang="en-IN" sz="2000" dirty="0">
              <a:latin typeface="Arial"/>
              <a:cs typeface="Arial"/>
            </a:endParaRPr>
          </a:p>
          <a:p>
            <a:pPr marL="354330" marR="203200" indent="-342265" algn="l">
              <a:lnSpc>
                <a:spcPct val="100000"/>
              </a:lnSpc>
              <a:buClr>
                <a:srgbClr val="00007C"/>
              </a:buClr>
              <a:buSzPct val="75000"/>
              <a:buFont typeface="Wingdings"/>
              <a:buChar char=""/>
              <a:tabLst>
                <a:tab pos="355600" algn="l"/>
              </a:tabLst>
            </a:pPr>
            <a:endParaRPr lang="en-IN" sz="2000" dirty="0">
              <a:latin typeface="Arial"/>
              <a:cs typeface="Arial"/>
            </a:endParaRPr>
          </a:p>
          <a:p>
            <a:pPr marL="354330" marR="203200" indent="-342265" algn="l">
              <a:lnSpc>
                <a:spcPct val="100000"/>
              </a:lnSpc>
              <a:buClr>
                <a:srgbClr val="00007C"/>
              </a:buClr>
              <a:buSzPct val="75000"/>
              <a:buFont typeface="Wingdings"/>
              <a:buChar char=""/>
              <a:tabLst>
                <a:tab pos="355600" algn="l"/>
              </a:tabLst>
            </a:pPr>
            <a:r>
              <a:rPr lang="en-IN" sz="2000" dirty="0">
                <a:latin typeface="Arial"/>
                <a:cs typeface="Arial"/>
              </a:rPr>
              <a:t>Economic Shifts: </a:t>
            </a:r>
            <a:r>
              <a:rPr lang="en-IN" sz="2000" dirty="0" err="1">
                <a:latin typeface="Arial"/>
                <a:cs typeface="Arial"/>
              </a:rPr>
              <a:t>capEx</a:t>
            </a:r>
            <a:r>
              <a:rPr lang="en-IN" sz="2000" dirty="0">
                <a:latin typeface="Arial"/>
                <a:cs typeface="Arial"/>
              </a:rPr>
              <a:t> to </a:t>
            </a:r>
            <a:r>
              <a:rPr lang="en-IN" sz="2000" dirty="0" err="1">
                <a:latin typeface="Arial"/>
                <a:cs typeface="Arial"/>
              </a:rPr>
              <a:t>opEx</a:t>
            </a:r>
            <a:br>
              <a:rPr lang="en-IN" sz="2000" dirty="0">
                <a:latin typeface="Arial"/>
                <a:cs typeface="Arial"/>
              </a:rPr>
            </a:br>
            <a:r>
              <a:rPr lang="en-IN" sz="2000" dirty="0">
                <a:latin typeface="Arial"/>
                <a:cs typeface="Arial"/>
              </a:rPr>
              <a:t>a. Eliminating Initial investment</a:t>
            </a:r>
            <a:br>
              <a:rPr lang="en-IN" sz="2000" dirty="0">
                <a:latin typeface="Arial"/>
                <a:cs typeface="Arial"/>
              </a:rPr>
            </a:br>
            <a:r>
              <a:rPr lang="en-IN" sz="2000" dirty="0">
                <a:latin typeface="Arial"/>
                <a:cs typeface="Arial"/>
              </a:rPr>
              <a:t>b. pay-as-you-go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More</a:t>
            </a:r>
            <a:r>
              <a:rPr spc="-55" dirty="0"/>
              <a:t> </a:t>
            </a:r>
            <a:r>
              <a:rPr dirty="0"/>
              <a:t>“good”</a:t>
            </a:r>
            <a:r>
              <a:rPr spc="-50" dirty="0"/>
              <a:t> </a:t>
            </a:r>
            <a:r>
              <a:rPr dirty="0"/>
              <a:t>about</a:t>
            </a:r>
            <a:r>
              <a:rPr spc="-40" dirty="0"/>
              <a:t> </a:t>
            </a:r>
            <a:r>
              <a:rPr dirty="0"/>
              <a:t>cloud</a:t>
            </a:r>
            <a:r>
              <a:rPr spc="-50" dirty="0"/>
              <a:t> </a:t>
            </a:r>
            <a:r>
              <a:rPr spc="-10" dirty="0"/>
              <a:t>computing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15</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702130"/>
            <a:ext cx="7860030" cy="1552348"/>
          </a:xfrm>
          <a:prstGeom prst="rect">
            <a:avLst/>
          </a:prstGeom>
        </p:spPr>
        <p:txBody>
          <a:bodyPr vert="horz" wrap="square" lIns="0" tIns="13335" rIns="0" bIns="0" rtlCol="0">
            <a:spAutoFit/>
          </a:bodyPr>
          <a:lstStyle/>
          <a:p>
            <a:pPr>
              <a:lnSpc>
                <a:spcPct val="100000"/>
              </a:lnSpc>
              <a:spcBef>
                <a:spcPts val="1060"/>
              </a:spcBef>
            </a:pPr>
            <a:endParaRPr sz="2000" dirty="0">
              <a:latin typeface="Arial"/>
              <a:cs typeface="Arial"/>
            </a:endParaRPr>
          </a:p>
          <a:p>
            <a:pPr marL="355600" marR="5080" indent="-343535">
              <a:lnSpc>
                <a:spcPct val="100000"/>
              </a:lnSpc>
              <a:buClr>
                <a:srgbClr val="00007C"/>
              </a:buClr>
              <a:buSzPct val="75000"/>
              <a:buFont typeface="Wingdings"/>
              <a:buChar char=""/>
              <a:tabLst>
                <a:tab pos="355600" algn="l"/>
                <a:tab pos="2599055" algn="l"/>
              </a:tabLst>
            </a:pPr>
            <a:r>
              <a:rPr sz="2000" dirty="0">
                <a:latin typeface="Arial"/>
                <a:cs typeface="Arial"/>
              </a:rPr>
              <a:t>User</a:t>
            </a:r>
            <a:r>
              <a:rPr sz="2000" spc="-40" dirty="0">
                <a:latin typeface="Arial"/>
                <a:cs typeface="Arial"/>
              </a:rPr>
              <a:t> </a:t>
            </a:r>
            <a:r>
              <a:rPr sz="2000" spc="-10" dirty="0">
                <a:latin typeface="Arial"/>
                <a:cs typeface="Arial"/>
              </a:rPr>
              <a:t>convenience:</a:t>
            </a:r>
            <a:r>
              <a:rPr sz="2000" dirty="0">
                <a:latin typeface="Arial"/>
                <a:cs typeface="Arial"/>
              </a:rPr>
              <a:t>	virtualization</a:t>
            </a:r>
            <a:r>
              <a:rPr sz="2000" spc="-45" dirty="0">
                <a:latin typeface="Arial"/>
                <a:cs typeface="Arial"/>
              </a:rPr>
              <a:t> </a:t>
            </a:r>
            <a:r>
              <a:rPr sz="2000" dirty="0">
                <a:latin typeface="Arial"/>
                <a:cs typeface="Arial"/>
              </a:rPr>
              <a:t>allows</a:t>
            </a:r>
            <a:r>
              <a:rPr sz="2000" spc="-35" dirty="0">
                <a:latin typeface="Arial"/>
                <a:cs typeface="Arial"/>
              </a:rPr>
              <a:t> </a:t>
            </a:r>
            <a:r>
              <a:rPr sz="2000" dirty="0">
                <a:latin typeface="Arial"/>
                <a:cs typeface="Arial"/>
              </a:rPr>
              <a:t>users</a:t>
            </a:r>
            <a:r>
              <a:rPr sz="2000" spc="-55" dirty="0">
                <a:latin typeface="Arial"/>
                <a:cs typeface="Arial"/>
              </a:rPr>
              <a:t> </a:t>
            </a:r>
            <a:r>
              <a:rPr sz="2000" dirty="0">
                <a:latin typeface="Arial"/>
                <a:cs typeface="Arial"/>
              </a:rPr>
              <a:t>to</a:t>
            </a:r>
            <a:r>
              <a:rPr sz="2000" spc="-30" dirty="0">
                <a:latin typeface="Arial"/>
                <a:cs typeface="Arial"/>
              </a:rPr>
              <a:t> </a:t>
            </a:r>
            <a:r>
              <a:rPr sz="2000" dirty="0">
                <a:latin typeface="Arial"/>
                <a:cs typeface="Arial"/>
              </a:rPr>
              <a:t>operate</a:t>
            </a:r>
            <a:r>
              <a:rPr sz="2000" spc="-65" dirty="0">
                <a:latin typeface="Arial"/>
                <a:cs typeface="Arial"/>
              </a:rPr>
              <a:t> </a:t>
            </a:r>
            <a:r>
              <a:rPr sz="2000" dirty="0">
                <a:latin typeface="Arial"/>
                <a:cs typeface="Arial"/>
              </a:rPr>
              <a:t>in</a:t>
            </a:r>
            <a:r>
              <a:rPr sz="2000" spc="-25" dirty="0">
                <a:latin typeface="Arial"/>
                <a:cs typeface="Arial"/>
              </a:rPr>
              <a:t> </a:t>
            </a:r>
            <a:r>
              <a:rPr sz="2000" spc="-10" dirty="0">
                <a:latin typeface="Arial"/>
                <a:cs typeface="Arial"/>
              </a:rPr>
              <a:t>familiar </a:t>
            </a:r>
            <a:r>
              <a:rPr sz="2000" dirty="0">
                <a:latin typeface="Arial"/>
                <a:cs typeface="Arial"/>
              </a:rPr>
              <a:t>environments</a:t>
            </a:r>
            <a:r>
              <a:rPr sz="2000" spc="-55" dirty="0">
                <a:latin typeface="Arial"/>
                <a:cs typeface="Arial"/>
              </a:rPr>
              <a:t> </a:t>
            </a:r>
            <a:r>
              <a:rPr sz="2000" dirty="0">
                <a:latin typeface="Arial"/>
                <a:cs typeface="Arial"/>
              </a:rPr>
              <a:t>rather</a:t>
            </a:r>
            <a:r>
              <a:rPr sz="2000" spc="-55" dirty="0">
                <a:latin typeface="Arial"/>
                <a:cs typeface="Arial"/>
              </a:rPr>
              <a:t> </a:t>
            </a:r>
            <a:r>
              <a:rPr sz="2000" dirty="0">
                <a:latin typeface="Arial"/>
                <a:cs typeface="Arial"/>
              </a:rPr>
              <a:t>than</a:t>
            </a:r>
            <a:r>
              <a:rPr sz="2000" spc="-30" dirty="0">
                <a:latin typeface="Arial"/>
                <a:cs typeface="Arial"/>
              </a:rPr>
              <a:t> </a:t>
            </a:r>
            <a:r>
              <a:rPr sz="2000" dirty="0">
                <a:latin typeface="Arial"/>
                <a:cs typeface="Arial"/>
              </a:rPr>
              <a:t>in</a:t>
            </a:r>
            <a:r>
              <a:rPr sz="2000" spc="-20" dirty="0">
                <a:latin typeface="Arial"/>
                <a:cs typeface="Arial"/>
              </a:rPr>
              <a:t> </a:t>
            </a:r>
            <a:r>
              <a:rPr sz="2000" dirty="0">
                <a:latin typeface="Arial"/>
                <a:cs typeface="Arial"/>
              </a:rPr>
              <a:t>idiosyncratic</a:t>
            </a:r>
            <a:r>
              <a:rPr sz="2000" spc="-55" dirty="0">
                <a:latin typeface="Arial"/>
                <a:cs typeface="Arial"/>
              </a:rPr>
              <a:t> </a:t>
            </a:r>
            <a:r>
              <a:rPr sz="2000" spc="-10" dirty="0">
                <a:latin typeface="Arial"/>
                <a:cs typeface="Arial"/>
              </a:rPr>
              <a:t>ones.</a:t>
            </a:r>
            <a:br>
              <a:rPr lang="en-US" sz="2000" spc="-10" dirty="0">
                <a:latin typeface="Arial"/>
                <a:cs typeface="Arial"/>
              </a:rPr>
            </a:br>
            <a:br>
              <a:rPr lang="en-US" sz="2000" spc="-10" dirty="0">
                <a:latin typeface="Arial"/>
                <a:cs typeface="Arial"/>
              </a:rPr>
            </a:br>
            <a:endParaRPr sz="2000" dirty="0">
              <a:latin typeface="Arial"/>
              <a:cs typeface="Arial"/>
            </a:endParaRPr>
          </a:p>
        </p:txBody>
      </p:sp>
      <p:pic>
        <p:nvPicPr>
          <p:cNvPr id="1028" name="Picture 4" descr="Virtualization in Cloud Computing ...">
            <a:extLst>
              <a:ext uri="{FF2B5EF4-FFF2-40B4-BE49-F238E27FC236}">
                <a16:creationId xmlns:a16="http://schemas.microsoft.com/office/drawing/2014/main" id="{5D7605F3-223F-83EB-D348-17D458678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748" y="2971800"/>
            <a:ext cx="3887851" cy="2819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Challenges</a:t>
            </a:r>
            <a:r>
              <a:rPr spc="-45" dirty="0"/>
              <a:t> </a:t>
            </a:r>
            <a:r>
              <a:rPr dirty="0"/>
              <a:t>for</a:t>
            </a:r>
            <a:r>
              <a:rPr spc="-40" dirty="0"/>
              <a:t> </a:t>
            </a:r>
            <a:r>
              <a:rPr dirty="0"/>
              <a:t>cloud</a:t>
            </a:r>
            <a:r>
              <a:rPr spc="-60" dirty="0"/>
              <a:t> </a:t>
            </a:r>
            <a:r>
              <a:rPr spc="-10" dirty="0"/>
              <a:t>computing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16</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45693" y="1587830"/>
            <a:ext cx="7840980" cy="2142253"/>
          </a:xfrm>
          <a:prstGeom prst="rect">
            <a:avLst/>
          </a:prstGeom>
        </p:spPr>
        <p:txBody>
          <a:bodyPr vert="horz" wrap="square" lIns="0" tIns="13335" rIns="0" bIns="0" rtlCol="0">
            <a:spAutoFit/>
          </a:bodyPr>
          <a:lstStyle/>
          <a:p>
            <a:pPr marL="354965" indent="-342265">
              <a:lnSpc>
                <a:spcPct val="100000"/>
              </a:lnSpc>
              <a:spcBef>
                <a:spcPts val="105"/>
              </a:spcBef>
              <a:buClr>
                <a:srgbClr val="00007C"/>
              </a:buClr>
              <a:buSzPct val="75000"/>
              <a:buFont typeface="Wingdings"/>
              <a:buChar char=""/>
              <a:tabLst>
                <a:tab pos="354965" algn="l"/>
              </a:tabLst>
            </a:pPr>
            <a:r>
              <a:rPr sz="2000" dirty="0">
                <a:latin typeface="Arial"/>
                <a:cs typeface="Arial"/>
              </a:rPr>
              <a:t>Availability</a:t>
            </a:r>
            <a:r>
              <a:rPr sz="2000" spc="-10" dirty="0">
                <a:latin typeface="Arial"/>
                <a:cs typeface="Arial"/>
              </a:rPr>
              <a:t> </a:t>
            </a:r>
            <a:r>
              <a:rPr sz="2000" dirty="0">
                <a:latin typeface="Arial"/>
                <a:cs typeface="Arial"/>
              </a:rPr>
              <a:t>of</a:t>
            </a:r>
            <a:r>
              <a:rPr sz="2000" spc="-30" dirty="0">
                <a:latin typeface="Arial"/>
                <a:cs typeface="Arial"/>
              </a:rPr>
              <a:t> </a:t>
            </a:r>
            <a:r>
              <a:rPr sz="2000" dirty="0">
                <a:latin typeface="Arial"/>
                <a:cs typeface="Arial"/>
              </a:rPr>
              <a:t>service;</a:t>
            </a:r>
            <a:r>
              <a:rPr sz="2000" spc="-45" dirty="0">
                <a:latin typeface="Arial"/>
                <a:cs typeface="Arial"/>
              </a:rPr>
              <a:t> </a:t>
            </a:r>
            <a:r>
              <a:rPr sz="2000" dirty="0">
                <a:latin typeface="Arial"/>
                <a:cs typeface="Arial"/>
              </a:rPr>
              <a:t>what</a:t>
            </a:r>
            <a:r>
              <a:rPr sz="2000" spc="-40" dirty="0">
                <a:latin typeface="Arial"/>
                <a:cs typeface="Arial"/>
              </a:rPr>
              <a:t> </a:t>
            </a:r>
            <a:r>
              <a:rPr sz="2000" dirty="0">
                <a:latin typeface="Arial"/>
                <a:cs typeface="Arial"/>
              </a:rPr>
              <a:t>happens</a:t>
            </a:r>
            <a:r>
              <a:rPr sz="2000" spc="-50" dirty="0">
                <a:latin typeface="Arial"/>
                <a:cs typeface="Arial"/>
              </a:rPr>
              <a:t> </a:t>
            </a:r>
            <a:r>
              <a:rPr sz="2000" dirty="0">
                <a:latin typeface="Arial"/>
                <a:cs typeface="Arial"/>
              </a:rPr>
              <a:t>when</a:t>
            </a:r>
            <a:r>
              <a:rPr sz="2000" spc="-35" dirty="0">
                <a:latin typeface="Arial"/>
                <a:cs typeface="Arial"/>
              </a:rPr>
              <a:t> </a:t>
            </a:r>
            <a:r>
              <a:rPr sz="2000" dirty="0">
                <a:latin typeface="Arial"/>
                <a:cs typeface="Arial"/>
              </a:rPr>
              <a:t>the</a:t>
            </a:r>
            <a:r>
              <a:rPr sz="2000" spc="-40" dirty="0">
                <a:latin typeface="Arial"/>
                <a:cs typeface="Arial"/>
              </a:rPr>
              <a:t> </a:t>
            </a:r>
            <a:r>
              <a:rPr sz="2000" dirty="0">
                <a:latin typeface="Arial"/>
                <a:cs typeface="Arial"/>
              </a:rPr>
              <a:t>service</a:t>
            </a:r>
            <a:r>
              <a:rPr sz="2000" spc="-45" dirty="0">
                <a:latin typeface="Arial"/>
                <a:cs typeface="Arial"/>
              </a:rPr>
              <a:t> </a:t>
            </a:r>
            <a:r>
              <a:rPr sz="2000" spc="-10" dirty="0">
                <a:latin typeface="Arial"/>
                <a:cs typeface="Arial"/>
              </a:rPr>
              <a:t>provider</a:t>
            </a:r>
            <a:endParaRPr sz="2000" dirty="0">
              <a:latin typeface="Arial"/>
              <a:cs typeface="Arial"/>
            </a:endParaRPr>
          </a:p>
          <a:p>
            <a:pPr marL="355600">
              <a:lnSpc>
                <a:spcPct val="100000"/>
              </a:lnSpc>
            </a:pPr>
            <a:r>
              <a:rPr sz="2000" dirty="0">
                <a:latin typeface="Arial"/>
                <a:cs typeface="Arial"/>
              </a:rPr>
              <a:t>cannot</a:t>
            </a:r>
            <a:r>
              <a:rPr sz="2000" spc="-40" dirty="0">
                <a:latin typeface="Arial"/>
                <a:cs typeface="Arial"/>
              </a:rPr>
              <a:t> </a:t>
            </a:r>
            <a:r>
              <a:rPr sz="2000" spc="-10" dirty="0">
                <a:latin typeface="Arial"/>
                <a:cs typeface="Arial"/>
              </a:rPr>
              <a:t>deliver?</a:t>
            </a:r>
            <a:endParaRPr sz="2000" dirty="0">
              <a:latin typeface="Arial"/>
              <a:cs typeface="Arial"/>
            </a:endParaRPr>
          </a:p>
          <a:p>
            <a:pPr>
              <a:lnSpc>
                <a:spcPct val="100000"/>
              </a:lnSpc>
              <a:spcBef>
                <a:spcPts val="1065"/>
              </a:spcBef>
              <a:buClr>
                <a:srgbClr val="00007C"/>
              </a:buClr>
            </a:pPr>
            <a:endParaRPr sz="2000" dirty="0">
              <a:latin typeface="Arial"/>
              <a:cs typeface="Arial"/>
            </a:endParaRPr>
          </a:p>
          <a:p>
            <a:pPr marL="354965" indent="-342265">
              <a:lnSpc>
                <a:spcPct val="100000"/>
              </a:lnSpc>
              <a:buClr>
                <a:srgbClr val="00007C"/>
              </a:buClr>
              <a:buSzPct val="75000"/>
              <a:buFont typeface="Wingdings"/>
              <a:buChar char=""/>
              <a:tabLst>
                <a:tab pos="354965" algn="l"/>
              </a:tabLst>
            </a:pPr>
            <a:r>
              <a:rPr sz="2000" dirty="0">
                <a:latin typeface="Arial"/>
                <a:cs typeface="Arial"/>
              </a:rPr>
              <a:t>Data</a:t>
            </a:r>
            <a:r>
              <a:rPr sz="2000" spc="-50" dirty="0">
                <a:latin typeface="Arial"/>
                <a:cs typeface="Arial"/>
              </a:rPr>
              <a:t> </a:t>
            </a:r>
            <a:r>
              <a:rPr sz="2000" dirty="0">
                <a:latin typeface="Arial"/>
                <a:cs typeface="Arial"/>
              </a:rPr>
              <a:t>confidentiality</a:t>
            </a:r>
            <a:r>
              <a:rPr sz="2000" spc="-50" dirty="0">
                <a:latin typeface="Arial"/>
                <a:cs typeface="Arial"/>
              </a:rPr>
              <a:t> </a:t>
            </a:r>
            <a:r>
              <a:rPr sz="2000" dirty="0">
                <a:latin typeface="Arial"/>
                <a:cs typeface="Arial"/>
              </a:rPr>
              <a:t>and</a:t>
            </a:r>
            <a:r>
              <a:rPr sz="2000" spc="-45" dirty="0">
                <a:latin typeface="Arial"/>
                <a:cs typeface="Arial"/>
              </a:rPr>
              <a:t> </a:t>
            </a:r>
            <a:r>
              <a:rPr sz="2000" dirty="0">
                <a:latin typeface="Arial"/>
                <a:cs typeface="Arial"/>
              </a:rPr>
              <a:t>auditability,</a:t>
            </a:r>
            <a:r>
              <a:rPr sz="2000" spc="-35" dirty="0">
                <a:latin typeface="Arial"/>
                <a:cs typeface="Arial"/>
              </a:rPr>
              <a:t> </a:t>
            </a:r>
            <a:r>
              <a:rPr sz="2000" dirty="0">
                <a:latin typeface="Arial"/>
                <a:cs typeface="Arial"/>
              </a:rPr>
              <a:t>a</a:t>
            </a:r>
            <a:r>
              <a:rPr sz="2000" spc="-30" dirty="0">
                <a:latin typeface="Arial"/>
                <a:cs typeface="Arial"/>
              </a:rPr>
              <a:t> </a:t>
            </a:r>
            <a:r>
              <a:rPr sz="2000" dirty="0">
                <a:latin typeface="Arial"/>
                <a:cs typeface="Arial"/>
              </a:rPr>
              <a:t>serious</a:t>
            </a:r>
            <a:r>
              <a:rPr sz="2000" spc="-60" dirty="0">
                <a:latin typeface="Arial"/>
                <a:cs typeface="Arial"/>
              </a:rPr>
              <a:t> </a:t>
            </a:r>
            <a:r>
              <a:rPr sz="2000" spc="-10" dirty="0">
                <a:latin typeface="Arial"/>
                <a:cs typeface="Arial"/>
              </a:rPr>
              <a:t>problem.</a:t>
            </a:r>
            <a:endParaRPr sz="2000" dirty="0">
              <a:latin typeface="Arial"/>
              <a:cs typeface="Arial"/>
            </a:endParaRPr>
          </a:p>
          <a:p>
            <a:pPr>
              <a:lnSpc>
                <a:spcPct val="100000"/>
              </a:lnSpc>
              <a:spcBef>
                <a:spcPts val="1060"/>
              </a:spcBef>
              <a:buClr>
                <a:srgbClr val="00007C"/>
              </a:buClr>
              <a:buFont typeface="Wingdings"/>
              <a:buChar char=""/>
            </a:pPr>
            <a:endParaRPr sz="2000" dirty="0">
              <a:latin typeface="Arial"/>
              <a:cs typeface="Arial"/>
            </a:endParaRPr>
          </a:p>
          <a:p>
            <a:pPr marL="354965" indent="-342265">
              <a:lnSpc>
                <a:spcPct val="100000"/>
              </a:lnSpc>
              <a:buClr>
                <a:srgbClr val="00007C"/>
              </a:buClr>
              <a:buSzPct val="75000"/>
              <a:buFont typeface="Wingdings"/>
              <a:buChar char=""/>
              <a:tabLst>
                <a:tab pos="354965" algn="l"/>
              </a:tabLst>
            </a:pPr>
            <a:r>
              <a:rPr sz="2000" dirty="0">
                <a:latin typeface="Arial"/>
                <a:cs typeface="Arial"/>
              </a:rPr>
              <a:t>Data</a:t>
            </a:r>
            <a:r>
              <a:rPr sz="2000" spc="-30" dirty="0">
                <a:latin typeface="Arial"/>
                <a:cs typeface="Arial"/>
              </a:rPr>
              <a:t> </a:t>
            </a:r>
            <a:r>
              <a:rPr sz="2000" dirty="0">
                <a:latin typeface="Arial"/>
                <a:cs typeface="Arial"/>
              </a:rPr>
              <a:t>transfer</a:t>
            </a:r>
            <a:r>
              <a:rPr sz="2000" spc="-60" dirty="0">
                <a:latin typeface="Arial"/>
                <a:cs typeface="Arial"/>
              </a:rPr>
              <a:t> </a:t>
            </a:r>
            <a:r>
              <a:rPr sz="2000" dirty="0">
                <a:latin typeface="Arial"/>
                <a:cs typeface="Arial"/>
              </a:rPr>
              <a:t>bottleneck;</a:t>
            </a:r>
            <a:r>
              <a:rPr sz="2000" spc="-45" dirty="0">
                <a:latin typeface="Arial"/>
                <a:cs typeface="Arial"/>
              </a:rPr>
              <a:t> </a:t>
            </a:r>
            <a:r>
              <a:rPr sz="2000" dirty="0">
                <a:latin typeface="Arial"/>
                <a:cs typeface="Arial"/>
              </a:rPr>
              <a:t>many</a:t>
            </a:r>
            <a:r>
              <a:rPr sz="2000" spc="-30" dirty="0">
                <a:latin typeface="Arial"/>
                <a:cs typeface="Arial"/>
              </a:rPr>
              <a:t> </a:t>
            </a:r>
            <a:r>
              <a:rPr sz="2000" dirty="0">
                <a:latin typeface="Arial"/>
                <a:cs typeface="Arial"/>
              </a:rPr>
              <a:t>applications</a:t>
            </a:r>
            <a:r>
              <a:rPr sz="2000" spc="-20" dirty="0">
                <a:latin typeface="Arial"/>
                <a:cs typeface="Arial"/>
              </a:rPr>
              <a:t> </a:t>
            </a:r>
            <a:r>
              <a:rPr sz="2000" dirty="0">
                <a:latin typeface="Arial"/>
                <a:cs typeface="Arial"/>
              </a:rPr>
              <a:t>are</a:t>
            </a:r>
            <a:r>
              <a:rPr sz="2000" spc="-35" dirty="0">
                <a:latin typeface="Arial"/>
                <a:cs typeface="Arial"/>
              </a:rPr>
              <a:t> </a:t>
            </a:r>
            <a:r>
              <a:rPr sz="2000" spc="-10" dirty="0">
                <a:latin typeface="Arial"/>
                <a:cs typeface="Arial"/>
              </a:rPr>
              <a:t>data-intensive.</a:t>
            </a:r>
            <a:endParaRPr sz="200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More</a:t>
            </a:r>
            <a:r>
              <a:rPr spc="-45" dirty="0"/>
              <a:t> </a:t>
            </a:r>
            <a:r>
              <a:rPr spc="-10" dirty="0"/>
              <a:t>challenges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17</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444827"/>
            <a:ext cx="8047990" cy="1562607"/>
          </a:xfrm>
          <a:prstGeom prst="rect">
            <a:avLst/>
          </a:prstGeom>
        </p:spPr>
        <p:txBody>
          <a:bodyPr vert="horz" wrap="square" lIns="0" tIns="13335" rIns="0" bIns="0" rtlCol="0">
            <a:spAutoFit/>
          </a:bodyPr>
          <a:lstStyle/>
          <a:p>
            <a:pPr marL="355600" indent="-342900">
              <a:lnSpc>
                <a:spcPct val="100000"/>
              </a:lnSpc>
              <a:spcBef>
                <a:spcPts val="105"/>
              </a:spcBef>
              <a:buClr>
                <a:srgbClr val="00007C"/>
              </a:buClr>
              <a:buSzPct val="75000"/>
              <a:buFont typeface="Wingdings"/>
              <a:buChar char=""/>
              <a:tabLst>
                <a:tab pos="355600" algn="l"/>
              </a:tabLst>
            </a:pPr>
            <a:r>
              <a:rPr sz="2000" dirty="0">
                <a:latin typeface="Arial"/>
                <a:cs typeface="Arial"/>
              </a:rPr>
              <a:t>Performance</a:t>
            </a:r>
            <a:r>
              <a:rPr sz="2000" spc="-65" dirty="0">
                <a:latin typeface="Arial"/>
                <a:cs typeface="Arial"/>
              </a:rPr>
              <a:t> </a:t>
            </a:r>
            <a:r>
              <a:rPr sz="2000" dirty="0">
                <a:latin typeface="Arial"/>
                <a:cs typeface="Arial"/>
              </a:rPr>
              <a:t>unpredictability,</a:t>
            </a:r>
            <a:r>
              <a:rPr sz="2000" spc="-55" dirty="0">
                <a:latin typeface="Arial"/>
                <a:cs typeface="Arial"/>
              </a:rPr>
              <a:t> </a:t>
            </a:r>
            <a:r>
              <a:rPr sz="2000" dirty="0">
                <a:latin typeface="Arial"/>
                <a:cs typeface="Arial"/>
              </a:rPr>
              <a:t>one</a:t>
            </a:r>
            <a:r>
              <a:rPr sz="2000" spc="-30" dirty="0">
                <a:latin typeface="Arial"/>
                <a:cs typeface="Arial"/>
              </a:rPr>
              <a:t> </a:t>
            </a:r>
            <a:r>
              <a:rPr sz="2000" dirty="0">
                <a:latin typeface="Arial"/>
                <a:cs typeface="Arial"/>
              </a:rPr>
              <a:t>of</a:t>
            </a:r>
            <a:r>
              <a:rPr sz="2000" spc="-45"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consequences</a:t>
            </a:r>
            <a:r>
              <a:rPr sz="2000" spc="-70" dirty="0">
                <a:latin typeface="Arial"/>
                <a:cs typeface="Arial"/>
              </a:rPr>
              <a:t> </a:t>
            </a:r>
            <a:r>
              <a:rPr sz="2000" dirty="0">
                <a:latin typeface="Arial"/>
                <a:cs typeface="Arial"/>
              </a:rPr>
              <a:t>of</a:t>
            </a:r>
            <a:r>
              <a:rPr sz="2000" spc="-25" dirty="0">
                <a:latin typeface="Arial"/>
                <a:cs typeface="Arial"/>
              </a:rPr>
              <a:t> </a:t>
            </a:r>
            <a:r>
              <a:rPr sz="2000" spc="-10" dirty="0">
                <a:latin typeface="Arial"/>
                <a:cs typeface="Arial"/>
              </a:rPr>
              <a:t>resource</a:t>
            </a:r>
            <a:endParaRPr sz="2000" dirty="0">
              <a:latin typeface="Arial"/>
              <a:cs typeface="Arial"/>
            </a:endParaRPr>
          </a:p>
          <a:p>
            <a:pPr marL="355600">
              <a:lnSpc>
                <a:spcPct val="100000"/>
              </a:lnSpc>
            </a:pPr>
            <a:r>
              <a:rPr sz="2000" spc="-10" dirty="0">
                <a:latin typeface="Arial"/>
                <a:cs typeface="Arial"/>
              </a:rPr>
              <a:t>sharing.</a:t>
            </a:r>
            <a:endParaRPr sz="2000" dirty="0">
              <a:latin typeface="Arial"/>
              <a:cs typeface="Arial"/>
            </a:endParaRPr>
          </a:p>
          <a:p>
            <a:pPr marL="755015" marR="309245" lvl="1" indent="-285750">
              <a:lnSpc>
                <a:spcPct val="100000"/>
              </a:lnSpc>
              <a:spcBef>
                <a:spcPts val="440"/>
              </a:spcBef>
              <a:buClr>
                <a:srgbClr val="9999CC"/>
              </a:buClr>
              <a:buSzPct val="80555"/>
              <a:buFont typeface="Wingdings"/>
              <a:buChar char=""/>
              <a:tabLst>
                <a:tab pos="756285" algn="l"/>
              </a:tabLst>
            </a:pPr>
            <a:r>
              <a:rPr sz="1800" dirty="0">
                <a:latin typeface="Arial"/>
                <a:cs typeface="Arial"/>
              </a:rPr>
              <a:t>How</a:t>
            </a:r>
            <a:r>
              <a:rPr sz="1800" spc="-30" dirty="0">
                <a:latin typeface="Arial"/>
                <a:cs typeface="Arial"/>
              </a:rPr>
              <a:t> </a:t>
            </a:r>
            <a:r>
              <a:rPr sz="1800" dirty="0">
                <a:latin typeface="Arial"/>
                <a:cs typeface="Arial"/>
              </a:rPr>
              <a:t>to</a:t>
            </a:r>
            <a:r>
              <a:rPr sz="1800" spc="-45" dirty="0">
                <a:latin typeface="Arial"/>
                <a:cs typeface="Arial"/>
              </a:rPr>
              <a:t> </a:t>
            </a:r>
            <a:r>
              <a:rPr sz="1800" dirty="0">
                <a:latin typeface="Arial"/>
                <a:cs typeface="Arial"/>
              </a:rPr>
              <a:t>use</a:t>
            </a:r>
            <a:r>
              <a:rPr sz="1800" spc="-25" dirty="0">
                <a:latin typeface="Arial"/>
                <a:cs typeface="Arial"/>
              </a:rPr>
              <a:t> </a:t>
            </a:r>
            <a:r>
              <a:rPr sz="1800" dirty="0">
                <a:latin typeface="Arial"/>
                <a:cs typeface="Arial"/>
              </a:rPr>
              <a:t>resource</a:t>
            </a:r>
            <a:r>
              <a:rPr sz="1800" spc="-30" dirty="0">
                <a:latin typeface="Arial"/>
                <a:cs typeface="Arial"/>
              </a:rPr>
              <a:t> </a:t>
            </a:r>
            <a:r>
              <a:rPr sz="1800" dirty="0">
                <a:latin typeface="Arial"/>
                <a:cs typeface="Arial"/>
              </a:rPr>
              <a:t>virtualization</a:t>
            </a:r>
            <a:r>
              <a:rPr sz="1800" spc="-15" dirty="0">
                <a:latin typeface="Arial"/>
                <a:cs typeface="Arial"/>
              </a:rPr>
              <a:t> </a:t>
            </a:r>
            <a:r>
              <a:rPr sz="1800" dirty="0">
                <a:latin typeface="Arial"/>
                <a:cs typeface="Arial"/>
              </a:rPr>
              <a:t>and</a:t>
            </a:r>
            <a:r>
              <a:rPr sz="1800" spc="-30" dirty="0">
                <a:latin typeface="Arial"/>
                <a:cs typeface="Arial"/>
              </a:rPr>
              <a:t> </a:t>
            </a:r>
            <a:r>
              <a:rPr sz="1800" dirty="0">
                <a:latin typeface="Arial"/>
                <a:cs typeface="Arial"/>
              </a:rPr>
              <a:t>performance</a:t>
            </a:r>
            <a:r>
              <a:rPr sz="1800" spc="-15" dirty="0">
                <a:latin typeface="Arial"/>
                <a:cs typeface="Arial"/>
              </a:rPr>
              <a:t> </a:t>
            </a:r>
            <a:r>
              <a:rPr sz="1800" dirty="0">
                <a:latin typeface="Arial"/>
                <a:cs typeface="Arial"/>
              </a:rPr>
              <a:t>isolation</a:t>
            </a:r>
            <a:r>
              <a:rPr sz="1800" spc="-30" dirty="0">
                <a:latin typeface="Arial"/>
                <a:cs typeface="Arial"/>
              </a:rPr>
              <a:t> </a:t>
            </a:r>
            <a:r>
              <a:rPr sz="1800" dirty="0">
                <a:latin typeface="Arial"/>
                <a:cs typeface="Arial"/>
              </a:rPr>
              <a:t>for</a:t>
            </a:r>
            <a:r>
              <a:rPr sz="1800" spc="-15" dirty="0">
                <a:latin typeface="Arial"/>
                <a:cs typeface="Arial"/>
              </a:rPr>
              <a:t> </a:t>
            </a:r>
            <a:r>
              <a:rPr sz="1800" spc="-25" dirty="0">
                <a:latin typeface="Arial"/>
                <a:cs typeface="Arial"/>
              </a:rPr>
              <a:t>QoS 	</a:t>
            </a:r>
            <a:r>
              <a:rPr sz="1800" spc="-10" dirty="0">
                <a:latin typeface="Arial"/>
                <a:cs typeface="Arial"/>
              </a:rPr>
              <a:t>guarantees?</a:t>
            </a:r>
            <a:endParaRPr sz="1800" dirty="0">
              <a:latin typeface="Arial"/>
              <a:cs typeface="Arial"/>
            </a:endParaRPr>
          </a:p>
          <a:p>
            <a:pPr marL="755650" lvl="1" indent="-285750">
              <a:lnSpc>
                <a:spcPct val="100000"/>
              </a:lnSpc>
              <a:spcBef>
                <a:spcPts val="434"/>
              </a:spcBef>
              <a:buClr>
                <a:srgbClr val="9999CC"/>
              </a:buClr>
              <a:buSzPct val="80555"/>
              <a:buFont typeface="Wingdings"/>
              <a:buChar char=""/>
              <a:tabLst>
                <a:tab pos="755650" algn="l"/>
              </a:tabLst>
            </a:pPr>
            <a:r>
              <a:rPr sz="1800" dirty="0">
                <a:latin typeface="Arial"/>
                <a:cs typeface="Arial"/>
              </a:rPr>
              <a:t>How</a:t>
            </a:r>
            <a:r>
              <a:rPr sz="1800" spc="-35" dirty="0">
                <a:latin typeface="Arial"/>
                <a:cs typeface="Arial"/>
              </a:rPr>
              <a:t> </a:t>
            </a:r>
            <a:r>
              <a:rPr sz="1800" dirty="0">
                <a:latin typeface="Arial"/>
                <a:cs typeface="Arial"/>
              </a:rPr>
              <a:t>to</a:t>
            </a:r>
            <a:r>
              <a:rPr sz="1800" spc="-40" dirty="0">
                <a:latin typeface="Arial"/>
                <a:cs typeface="Arial"/>
              </a:rPr>
              <a:t> </a:t>
            </a:r>
            <a:r>
              <a:rPr sz="1800" dirty="0">
                <a:latin typeface="Arial"/>
                <a:cs typeface="Arial"/>
              </a:rPr>
              <a:t>support</a:t>
            </a:r>
            <a:r>
              <a:rPr sz="1800" spc="-15" dirty="0">
                <a:latin typeface="Arial"/>
                <a:cs typeface="Arial"/>
              </a:rPr>
              <a:t> </a:t>
            </a:r>
            <a:r>
              <a:rPr sz="1800" dirty="0">
                <a:latin typeface="Arial"/>
                <a:cs typeface="Arial"/>
              </a:rPr>
              <a:t>elasticity,</a:t>
            </a:r>
            <a:r>
              <a:rPr sz="1800" spc="-5"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ability</a:t>
            </a:r>
            <a:r>
              <a:rPr sz="1800" spc="-2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scale</a:t>
            </a:r>
            <a:r>
              <a:rPr sz="1800" spc="-25" dirty="0">
                <a:latin typeface="Arial"/>
                <a:cs typeface="Arial"/>
              </a:rPr>
              <a:t> </a:t>
            </a:r>
            <a:r>
              <a:rPr sz="1800" dirty="0">
                <a:latin typeface="Arial"/>
                <a:cs typeface="Arial"/>
              </a:rPr>
              <a:t>up</a:t>
            </a:r>
            <a:r>
              <a:rPr sz="1800" spc="-35" dirty="0">
                <a:latin typeface="Arial"/>
                <a:cs typeface="Arial"/>
              </a:rPr>
              <a:t> </a:t>
            </a:r>
            <a:r>
              <a:rPr sz="1800" dirty="0">
                <a:latin typeface="Arial"/>
                <a:cs typeface="Arial"/>
              </a:rPr>
              <a:t>and</a:t>
            </a:r>
            <a:r>
              <a:rPr sz="1800" spc="-20" dirty="0">
                <a:latin typeface="Arial"/>
                <a:cs typeface="Arial"/>
              </a:rPr>
              <a:t> </a:t>
            </a:r>
            <a:r>
              <a:rPr sz="1800" dirty="0">
                <a:latin typeface="Arial"/>
                <a:cs typeface="Arial"/>
              </a:rPr>
              <a:t>down</a:t>
            </a:r>
            <a:r>
              <a:rPr sz="1800" spc="25" dirty="0">
                <a:latin typeface="Arial"/>
                <a:cs typeface="Arial"/>
              </a:rPr>
              <a:t> </a:t>
            </a:r>
            <a:r>
              <a:rPr sz="1800" spc="-10" dirty="0">
                <a:latin typeface="Arial"/>
                <a:cs typeface="Arial"/>
              </a:rPr>
              <a:t>quickly?</a:t>
            </a:r>
            <a:endParaRPr sz="1800" dirty="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84972" y="943627"/>
            <a:ext cx="2839720" cy="1725930"/>
            <a:chOff x="1284972" y="943627"/>
            <a:chExt cx="2839720" cy="1725930"/>
          </a:xfrm>
        </p:grpSpPr>
        <p:sp>
          <p:nvSpPr>
            <p:cNvPr id="3" name="object 3"/>
            <p:cNvSpPr/>
            <p:nvPr/>
          </p:nvSpPr>
          <p:spPr>
            <a:xfrm>
              <a:off x="1286560" y="945215"/>
              <a:ext cx="2836545" cy="1722755"/>
            </a:xfrm>
            <a:custGeom>
              <a:avLst/>
              <a:gdLst/>
              <a:ahLst/>
              <a:cxnLst/>
              <a:rect l="l" t="t" r="r" b="b"/>
              <a:pathLst>
                <a:path w="2836545" h="1722755">
                  <a:moveTo>
                    <a:pt x="1417975" y="0"/>
                  </a:moveTo>
                  <a:lnTo>
                    <a:pt x="1358037" y="755"/>
                  </a:lnTo>
                  <a:lnTo>
                    <a:pt x="1298733" y="3001"/>
                  </a:lnTo>
                  <a:lnTo>
                    <a:pt x="1240112" y="6709"/>
                  </a:lnTo>
                  <a:lnTo>
                    <a:pt x="1182224" y="11848"/>
                  </a:lnTo>
                  <a:lnTo>
                    <a:pt x="1125117" y="18388"/>
                  </a:lnTo>
                  <a:lnTo>
                    <a:pt x="1068841" y="26300"/>
                  </a:lnTo>
                  <a:lnTo>
                    <a:pt x="1013445" y="35553"/>
                  </a:lnTo>
                  <a:lnTo>
                    <a:pt x="958979" y="46118"/>
                  </a:lnTo>
                  <a:lnTo>
                    <a:pt x="905490" y="57964"/>
                  </a:lnTo>
                  <a:lnTo>
                    <a:pt x="853030" y="71063"/>
                  </a:lnTo>
                  <a:lnTo>
                    <a:pt x="801647" y="85383"/>
                  </a:lnTo>
                  <a:lnTo>
                    <a:pt x="751389" y="100896"/>
                  </a:lnTo>
                  <a:lnTo>
                    <a:pt x="702307" y="117571"/>
                  </a:lnTo>
                  <a:lnTo>
                    <a:pt x="654450" y="135378"/>
                  </a:lnTo>
                  <a:lnTo>
                    <a:pt x="607867" y="154287"/>
                  </a:lnTo>
                  <a:lnTo>
                    <a:pt x="562606" y="174269"/>
                  </a:lnTo>
                  <a:lnTo>
                    <a:pt x="518718" y="195294"/>
                  </a:lnTo>
                  <a:lnTo>
                    <a:pt x="476252" y="217331"/>
                  </a:lnTo>
                  <a:lnTo>
                    <a:pt x="435256" y="240352"/>
                  </a:lnTo>
                  <a:lnTo>
                    <a:pt x="395780" y="264325"/>
                  </a:lnTo>
                  <a:lnTo>
                    <a:pt x="357873" y="289221"/>
                  </a:lnTo>
                  <a:lnTo>
                    <a:pt x="321585" y="315011"/>
                  </a:lnTo>
                  <a:lnTo>
                    <a:pt x="286964" y="341663"/>
                  </a:lnTo>
                  <a:lnTo>
                    <a:pt x="254061" y="369149"/>
                  </a:lnTo>
                  <a:lnTo>
                    <a:pt x="222923" y="397439"/>
                  </a:lnTo>
                  <a:lnTo>
                    <a:pt x="193601" y="426502"/>
                  </a:lnTo>
                  <a:lnTo>
                    <a:pt x="166143" y="456309"/>
                  </a:lnTo>
                  <a:lnTo>
                    <a:pt x="140599" y="486830"/>
                  </a:lnTo>
                  <a:lnTo>
                    <a:pt x="117018" y="518035"/>
                  </a:lnTo>
                  <a:lnTo>
                    <a:pt x="95449" y="549894"/>
                  </a:lnTo>
                  <a:lnTo>
                    <a:pt x="58544" y="615454"/>
                  </a:lnTo>
                  <a:lnTo>
                    <a:pt x="30280" y="683271"/>
                  </a:lnTo>
                  <a:lnTo>
                    <a:pt x="11048" y="753107"/>
                  </a:lnTo>
                  <a:lnTo>
                    <a:pt x="1244" y="824722"/>
                  </a:lnTo>
                  <a:lnTo>
                    <a:pt x="0" y="861122"/>
                  </a:lnTo>
                  <a:lnTo>
                    <a:pt x="1244" y="897532"/>
                  </a:lnTo>
                  <a:lnTo>
                    <a:pt x="11048" y="969165"/>
                  </a:lnTo>
                  <a:lnTo>
                    <a:pt x="30280" y="1039017"/>
                  </a:lnTo>
                  <a:lnTo>
                    <a:pt x="58545" y="1106849"/>
                  </a:lnTo>
                  <a:lnTo>
                    <a:pt x="95450" y="1172422"/>
                  </a:lnTo>
                  <a:lnTo>
                    <a:pt x="117020" y="1204286"/>
                  </a:lnTo>
                  <a:lnTo>
                    <a:pt x="140602" y="1235496"/>
                  </a:lnTo>
                  <a:lnTo>
                    <a:pt x="166147" y="1266022"/>
                  </a:lnTo>
                  <a:lnTo>
                    <a:pt x="193605" y="1295834"/>
                  </a:lnTo>
                  <a:lnTo>
                    <a:pt x="222929" y="1324901"/>
                  </a:lnTo>
                  <a:lnTo>
                    <a:pt x="254068" y="1353195"/>
                  </a:lnTo>
                  <a:lnTo>
                    <a:pt x="286973" y="1380685"/>
                  </a:lnTo>
                  <a:lnTo>
                    <a:pt x="321596" y="1407341"/>
                  </a:lnTo>
                  <a:lnTo>
                    <a:pt x="357886" y="1433133"/>
                  </a:lnTo>
                  <a:lnTo>
                    <a:pt x="395795" y="1458033"/>
                  </a:lnTo>
                  <a:lnTo>
                    <a:pt x="435273" y="1482008"/>
                  </a:lnTo>
                  <a:lnTo>
                    <a:pt x="476272" y="1505031"/>
                  </a:lnTo>
                  <a:lnTo>
                    <a:pt x="518742" y="1527070"/>
                  </a:lnTo>
                  <a:lnTo>
                    <a:pt x="562633" y="1548097"/>
                  </a:lnTo>
                  <a:lnTo>
                    <a:pt x="607897" y="1568080"/>
                  </a:lnTo>
                  <a:lnTo>
                    <a:pt x="654485" y="1586991"/>
                  </a:lnTo>
                  <a:lnTo>
                    <a:pt x="702346" y="1604800"/>
                  </a:lnTo>
                  <a:lnTo>
                    <a:pt x="751433" y="1621475"/>
                  </a:lnTo>
                  <a:lnTo>
                    <a:pt x="801695" y="1636989"/>
                  </a:lnTo>
                  <a:lnTo>
                    <a:pt x="853084" y="1651310"/>
                  </a:lnTo>
                  <a:lnTo>
                    <a:pt x="905550" y="1664409"/>
                  </a:lnTo>
                  <a:lnTo>
                    <a:pt x="959045" y="1676256"/>
                  </a:lnTo>
                  <a:lnTo>
                    <a:pt x="1013518" y="1686821"/>
                  </a:lnTo>
                  <a:lnTo>
                    <a:pt x="1068921" y="1696075"/>
                  </a:lnTo>
                  <a:lnTo>
                    <a:pt x="1125204" y="1703987"/>
                  </a:lnTo>
                  <a:lnTo>
                    <a:pt x="1182319" y="1710527"/>
                  </a:lnTo>
                  <a:lnTo>
                    <a:pt x="1240216" y="1715666"/>
                  </a:lnTo>
                  <a:lnTo>
                    <a:pt x="1298845" y="1719374"/>
                  </a:lnTo>
                  <a:lnTo>
                    <a:pt x="1358159" y="1721620"/>
                  </a:lnTo>
                  <a:lnTo>
                    <a:pt x="1418106" y="1722376"/>
                  </a:lnTo>
                  <a:lnTo>
                    <a:pt x="1478043" y="1721620"/>
                  </a:lnTo>
                  <a:lnTo>
                    <a:pt x="1537345" y="1719374"/>
                  </a:lnTo>
                  <a:lnTo>
                    <a:pt x="1595965" y="1715666"/>
                  </a:lnTo>
                  <a:lnTo>
                    <a:pt x="1653853" y="1710527"/>
                  </a:lnTo>
                  <a:lnTo>
                    <a:pt x="1710960" y="1703987"/>
                  </a:lnTo>
                  <a:lnTo>
                    <a:pt x="1767236" y="1696075"/>
                  </a:lnTo>
                  <a:lnTo>
                    <a:pt x="1822632" y="1686821"/>
                  </a:lnTo>
                  <a:lnTo>
                    <a:pt x="1877100" y="1676256"/>
                  </a:lnTo>
                  <a:lnTo>
                    <a:pt x="1930589" y="1664409"/>
                  </a:lnTo>
                  <a:lnTo>
                    <a:pt x="1983051" y="1651310"/>
                  </a:lnTo>
                  <a:lnTo>
                    <a:pt x="2034436" y="1636989"/>
                  </a:lnTo>
                  <a:lnTo>
                    <a:pt x="2084696" y="1621475"/>
                  </a:lnTo>
                  <a:lnTo>
                    <a:pt x="2133780" y="1604800"/>
                  </a:lnTo>
                  <a:lnTo>
                    <a:pt x="2181639" y="1586991"/>
                  </a:lnTo>
                  <a:lnTo>
                    <a:pt x="2228225" y="1568080"/>
                  </a:lnTo>
                  <a:lnTo>
                    <a:pt x="2273488" y="1548097"/>
                  </a:lnTo>
                  <a:lnTo>
                    <a:pt x="2317379" y="1527070"/>
                  </a:lnTo>
                  <a:lnTo>
                    <a:pt x="2359849" y="1505031"/>
                  </a:lnTo>
                  <a:lnTo>
                    <a:pt x="2400847" y="1482008"/>
                  </a:lnTo>
                  <a:lnTo>
                    <a:pt x="2440326" y="1458033"/>
                  </a:lnTo>
                  <a:lnTo>
                    <a:pt x="2478236" y="1433133"/>
                  </a:lnTo>
                  <a:lnTo>
                    <a:pt x="2514527" y="1407341"/>
                  </a:lnTo>
                  <a:lnTo>
                    <a:pt x="2549151" y="1380685"/>
                  </a:lnTo>
                  <a:lnTo>
                    <a:pt x="2582058" y="1353195"/>
                  </a:lnTo>
                  <a:lnTo>
                    <a:pt x="2613199" y="1324901"/>
                  </a:lnTo>
                  <a:lnTo>
                    <a:pt x="2642524" y="1295834"/>
                  </a:lnTo>
                  <a:lnTo>
                    <a:pt x="2669985" y="1266022"/>
                  </a:lnTo>
                  <a:lnTo>
                    <a:pt x="2695531" y="1235496"/>
                  </a:lnTo>
                  <a:lnTo>
                    <a:pt x="2719115" y="1204286"/>
                  </a:lnTo>
                  <a:lnTo>
                    <a:pt x="2740687" y="1172422"/>
                  </a:lnTo>
                  <a:lnTo>
                    <a:pt x="2777595" y="1106849"/>
                  </a:lnTo>
                  <a:lnTo>
                    <a:pt x="2805864" y="1039017"/>
                  </a:lnTo>
                  <a:lnTo>
                    <a:pt x="2825098" y="969165"/>
                  </a:lnTo>
                  <a:lnTo>
                    <a:pt x="2834904" y="897532"/>
                  </a:lnTo>
                  <a:lnTo>
                    <a:pt x="2836148" y="861122"/>
                  </a:lnTo>
                  <a:lnTo>
                    <a:pt x="2834894" y="824722"/>
                  </a:lnTo>
                  <a:lnTo>
                    <a:pt x="2825072" y="753107"/>
                  </a:lnTo>
                  <a:lnTo>
                    <a:pt x="2805825" y="683271"/>
                  </a:lnTo>
                  <a:lnTo>
                    <a:pt x="2777547" y="615454"/>
                  </a:lnTo>
                  <a:lnTo>
                    <a:pt x="2740631" y="549894"/>
                  </a:lnTo>
                  <a:lnTo>
                    <a:pt x="2719057" y="518035"/>
                  </a:lnTo>
                  <a:lnTo>
                    <a:pt x="2695471" y="486830"/>
                  </a:lnTo>
                  <a:lnTo>
                    <a:pt x="2669923" y="456309"/>
                  </a:lnTo>
                  <a:lnTo>
                    <a:pt x="2642461" y="426502"/>
                  </a:lnTo>
                  <a:lnTo>
                    <a:pt x="2613134" y="397439"/>
                  </a:lnTo>
                  <a:lnTo>
                    <a:pt x="2581993" y="369149"/>
                  </a:lnTo>
                  <a:lnTo>
                    <a:pt x="2549086" y="341663"/>
                  </a:lnTo>
                  <a:lnTo>
                    <a:pt x="2514462" y="315011"/>
                  </a:lnTo>
                  <a:lnTo>
                    <a:pt x="2478170" y="289221"/>
                  </a:lnTo>
                  <a:lnTo>
                    <a:pt x="2440261" y="264325"/>
                  </a:lnTo>
                  <a:lnTo>
                    <a:pt x="2400782" y="240352"/>
                  </a:lnTo>
                  <a:lnTo>
                    <a:pt x="2359783" y="217331"/>
                  </a:lnTo>
                  <a:lnTo>
                    <a:pt x="2317313" y="195294"/>
                  </a:lnTo>
                  <a:lnTo>
                    <a:pt x="2273422" y="174269"/>
                  </a:lnTo>
                  <a:lnTo>
                    <a:pt x="2228159" y="154287"/>
                  </a:lnTo>
                  <a:lnTo>
                    <a:pt x="2181572" y="135378"/>
                  </a:lnTo>
                  <a:lnTo>
                    <a:pt x="2133712" y="117571"/>
                  </a:lnTo>
                  <a:lnTo>
                    <a:pt x="2084626" y="100896"/>
                  </a:lnTo>
                  <a:lnTo>
                    <a:pt x="2034365" y="85383"/>
                  </a:lnTo>
                  <a:lnTo>
                    <a:pt x="1982978" y="71063"/>
                  </a:lnTo>
                  <a:lnTo>
                    <a:pt x="1930513" y="57964"/>
                  </a:lnTo>
                  <a:lnTo>
                    <a:pt x="1877021" y="46118"/>
                  </a:lnTo>
                  <a:lnTo>
                    <a:pt x="1822550" y="35553"/>
                  </a:lnTo>
                  <a:lnTo>
                    <a:pt x="1767149" y="26300"/>
                  </a:lnTo>
                  <a:lnTo>
                    <a:pt x="1710867" y="18388"/>
                  </a:lnTo>
                  <a:lnTo>
                    <a:pt x="1653754" y="11848"/>
                  </a:lnTo>
                  <a:lnTo>
                    <a:pt x="1595860" y="6709"/>
                  </a:lnTo>
                  <a:lnTo>
                    <a:pt x="1537232" y="3001"/>
                  </a:lnTo>
                  <a:lnTo>
                    <a:pt x="1477921" y="755"/>
                  </a:lnTo>
                  <a:lnTo>
                    <a:pt x="1417975" y="0"/>
                  </a:lnTo>
                  <a:close/>
                </a:path>
              </a:pathLst>
            </a:custGeom>
            <a:solidFill>
              <a:srgbClr val="D7D7D7"/>
            </a:solidFill>
          </p:spPr>
          <p:txBody>
            <a:bodyPr wrap="square" lIns="0" tIns="0" rIns="0" bIns="0" rtlCol="0"/>
            <a:lstStyle/>
            <a:p>
              <a:endParaRPr/>
            </a:p>
          </p:txBody>
        </p:sp>
        <p:sp>
          <p:nvSpPr>
            <p:cNvPr id="4" name="object 4"/>
            <p:cNvSpPr/>
            <p:nvPr/>
          </p:nvSpPr>
          <p:spPr>
            <a:xfrm>
              <a:off x="1286560" y="945215"/>
              <a:ext cx="2836545" cy="1722755"/>
            </a:xfrm>
            <a:custGeom>
              <a:avLst/>
              <a:gdLst/>
              <a:ahLst/>
              <a:cxnLst/>
              <a:rect l="l" t="t" r="r" b="b"/>
              <a:pathLst>
                <a:path w="2836545" h="1722755">
                  <a:moveTo>
                    <a:pt x="0" y="861122"/>
                  </a:moveTo>
                  <a:lnTo>
                    <a:pt x="4943" y="788707"/>
                  </a:lnTo>
                  <a:lnTo>
                    <a:pt x="19510" y="717952"/>
                  </a:lnTo>
                  <a:lnTo>
                    <a:pt x="43307" y="649095"/>
                  </a:lnTo>
                  <a:lnTo>
                    <a:pt x="75941" y="582376"/>
                  </a:lnTo>
                  <a:lnTo>
                    <a:pt x="117018" y="518035"/>
                  </a:lnTo>
                  <a:lnTo>
                    <a:pt x="140599" y="486830"/>
                  </a:lnTo>
                  <a:lnTo>
                    <a:pt x="166143" y="456309"/>
                  </a:lnTo>
                  <a:lnTo>
                    <a:pt x="193601" y="426502"/>
                  </a:lnTo>
                  <a:lnTo>
                    <a:pt x="222923" y="397439"/>
                  </a:lnTo>
                  <a:lnTo>
                    <a:pt x="254061" y="369149"/>
                  </a:lnTo>
                  <a:lnTo>
                    <a:pt x="286964" y="341663"/>
                  </a:lnTo>
                  <a:lnTo>
                    <a:pt x="321585" y="315011"/>
                  </a:lnTo>
                  <a:lnTo>
                    <a:pt x="357873" y="289221"/>
                  </a:lnTo>
                  <a:lnTo>
                    <a:pt x="395780" y="264325"/>
                  </a:lnTo>
                  <a:lnTo>
                    <a:pt x="435256" y="240352"/>
                  </a:lnTo>
                  <a:lnTo>
                    <a:pt x="476252" y="217331"/>
                  </a:lnTo>
                  <a:lnTo>
                    <a:pt x="518718" y="195294"/>
                  </a:lnTo>
                  <a:lnTo>
                    <a:pt x="562606" y="174269"/>
                  </a:lnTo>
                  <a:lnTo>
                    <a:pt x="607867" y="154287"/>
                  </a:lnTo>
                  <a:lnTo>
                    <a:pt x="654450" y="135378"/>
                  </a:lnTo>
                  <a:lnTo>
                    <a:pt x="702307" y="117571"/>
                  </a:lnTo>
                  <a:lnTo>
                    <a:pt x="751389" y="100896"/>
                  </a:lnTo>
                  <a:lnTo>
                    <a:pt x="801647" y="85383"/>
                  </a:lnTo>
                  <a:lnTo>
                    <a:pt x="853030" y="71063"/>
                  </a:lnTo>
                  <a:lnTo>
                    <a:pt x="905490" y="57964"/>
                  </a:lnTo>
                  <a:lnTo>
                    <a:pt x="958979" y="46118"/>
                  </a:lnTo>
                  <a:lnTo>
                    <a:pt x="1013445" y="35553"/>
                  </a:lnTo>
                  <a:lnTo>
                    <a:pt x="1068841" y="26300"/>
                  </a:lnTo>
                  <a:lnTo>
                    <a:pt x="1125117" y="18388"/>
                  </a:lnTo>
                  <a:lnTo>
                    <a:pt x="1182224" y="11848"/>
                  </a:lnTo>
                  <a:lnTo>
                    <a:pt x="1240112" y="6709"/>
                  </a:lnTo>
                  <a:lnTo>
                    <a:pt x="1298733" y="3001"/>
                  </a:lnTo>
                  <a:lnTo>
                    <a:pt x="1358037" y="755"/>
                  </a:lnTo>
                  <a:lnTo>
                    <a:pt x="1417975" y="0"/>
                  </a:lnTo>
                  <a:lnTo>
                    <a:pt x="1477921" y="755"/>
                  </a:lnTo>
                  <a:lnTo>
                    <a:pt x="1537232" y="3001"/>
                  </a:lnTo>
                  <a:lnTo>
                    <a:pt x="1595860" y="6709"/>
                  </a:lnTo>
                  <a:lnTo>
                    <a:pt x="1653754" y="11848"/>
                  </a:lnTo>
                  <a:lnTo>
                    <a:pt x="1710867" y="18388"/>
                  </a:lnTo>
                  <a:lnTo>
                    <a:pt x="1767149" y="26300"/>
                  </a:lnTo>
                  <a:lnTo>
                    <a:pt x="1822550" y="35553"/>
                  </a:lnTo>
                  <a:lnTo>
                    <a:pt x="1877021" y="46118"/>
                  </a:lnTo>
                  <a:lnTo>
                    <a:pt x="1930513" y="57964"/>
                  </a:lnTo>
                  <a:lnTo>
                    <a:pt x="1982978" y="71063"/>
                  </a:lnTo>
                  <a:lnTo>
                    <a:pt x="2034365" y="85383"/>
                  </a:lnTo>
                  <a:lnTo>
                    <a:pt x="2084626" y="100896"/>
                  </a:lnTo>
                  <a:lnTo>
                    <a:pt x="2133712" y="117571"/>
                  </a:lnTo>
                  <a:lnTo>
                    <a:pt x="2181572" y="135378"/>
                  </a:lnTo>
                  <a:lnTo>
                    <a:pt x="2228159" y="154287"/>
                  </a:lnTo>
                  <a:lnTo>
                    <a:pt x="2273422" y="174269"/>
                  </a:lnTo>
                  <a:lnTo>
                    <a:pt x="2317313" y="195294"/>
                  </a:lnTo>
                  <a:lnTo>
                    <a:pt x="2359783" y="217331"/>
                  </a:lnTo>
                  <a:lnTo>
                    <a:pt x="2400782" y="240352"/>
                  </a:lnTo>
                  <a:lnTo>
                    <a:pt x="2440261" y="264325"/>
                  </a:lnTo>
                  <a:lnTo>
                    <a:pt x="2478170" y="289221"/>
                  </a:lnTo>
                  <a:lnTo>
                    <a:pt x="2514462" y="315011"/>
                  </a:lnTo>
                  <a:lnTo>
                    <a:pt x="2549086" y="341663"/>
                  </a:lnTo>
                  <a:lnTo>
                    <a:pt x="2581993" y="369149"/>
                  </a:lnTo>
                  <a:lnTo>
                    <a:pt x="2613134" y="397439"/>
                  </a:lnTo>
                  <a:lnTo>
                    <a:pt x="2642461" y="426502"/>
                  </a:lnTo>
                  <a:lnTo>
                    <a:pt x="2669923" y="456309"/>
                  </a:lnTo>
                  <a:lnTo>
                    <a:pt x="2695471" y="486830"/>
                  </a:lnTo>
                  <a:lnTo>
                    <a:pt x="2719057" y="518035"/>
                  </a:lnTo>
                  <a:lnTo>
                    <a:pt x="2740631" y="549894"/>
                  </a:lnTo>
                  <a:lnTo>
                    <a:pt x="2777547" y="615454"/>
                  </a:lnTo>
                  <a:lnTo>
                    <a:pt x="2805825" y="683271"/>
                  </a:lnTo>
                  <a:lnTo>
                    <a:pt x="2825072" y="753107"/>
                  </a:lnTo>
                  <a:lnTo>
                    <a:pt x="2834894" y="824722"/>
                  </a:lnTo>
                  <a:lnTo>
                    <a:pt x="2836148" y="861122"/>
                  </a:lnTo>
                  <a:lnTo>
                    <a:pt x="2834904" y="897532"/>
                  </a:lnTo>
                  <a:lnTo>
                    <a:pt x="2831204" y="933556"/>
                  </a:lnTo>
                  <a:lnTo>
                    <a:pt x="2816635" y="1004329"/>
                  </a:lnTo>
                  <a:lnTo>
                    <a:pt x="2792834" y="1073200"/>
                  </a:lnTo>
                  <a:lnTo>
                    <a:pt x="2760196" y="1139933"/>
                  </a:lnTo>
                  <a:lnTo>
                    <a:pt x="2719115" y="1204286"/>
                  </a:lnTo>
                  <a:lnTo>
                    <a:pt x="2695531" y="1235496"/>
                  </a:lnTo>
                  <a:lnTo>
                    <a:pt x="2669985" y="1266022"/>
                  </a:lnTo>
                  <a:lnTo>
                    <a:pt x="2642524" y="1295834"/>
                  </a:lnTo>
                  <a:lnTo>
                    <a:pt x="2613199" y="1324901"/>
                  </a:lnTo>
                  <a:lnTo>
                    <a:pt x="2582058" y="1353195"/>
                  </a:lnTo>
                  <a:lnTo>
                    <a:pt x="2549151" y="1380685"/>
                  </a:lnTo>
                  <a:lnTo>
                    <a:pt x="2514527" y="1407341"/>
                  </a:lnTo>
                  <a:lnTo>
                    <a:pt x="2478236" y="1433133"/>
                  </a:lnTo>
                  <a:lnTo>
                    <a:pt x="2440326" y="1458033"/>
                  </a:lnTo>
                  <a:lnTo>
                    <a:pt x="2400847" y="1482008"/>
                  </a:lnTo>
                  <a:lnTo>
                    <a:pt x="2359849" y="1505031"/>
                  </a:lnTo>
                  <a:lnTo>
                    <a:pt x="2317379" y="1527070"/>
                  </a:lnTo>
                  <a:lnTo>
                    <a:pt x="2273488" y="1548097"/>
                  </a:lnTo>
                  <a:lnTo>
                    <a:pt x="2228225" y="1568080"/>
                  </a:lnTo>
                  <a:lnTo>
                    <a:pt x="2181639" y="1586991"/>
                  </a:lnTo>
                  <a:lnTo>
                    <a:pt x="2133780" y="1604800"/>
                  </a:lnTo>
                  <a:lnTo>
                    <a:pt x="2084696" y="1621475"/>
                  </a:lnTo>
                  <a:lnTo>
                    <a:pt x="2034436" y="1636989"/>
                  </a:lnTo>
                  <a:lnTo>
                    <a:pt x="1983051" y="1651310"/>
                  </a:lnTo>
                  <a:lnTo>
                    <a:pt x="1930589" y="1664409"/>
                  </a:lnTo>
                  <a:lnTo>
                    <a:pt x="1877100" y="1676256"/>
                  </a:lnTo>
                  <a:lnTo>
                    <a:pt x="1822632" y="1686821"/>
                  </a:lnTo>
                  <a:lnTo>
                    <a:pt x="1767236" y="1696075"/>
                  </a:lnTo>
                  <a:lnTo>
                    <a:pt x="1710960" y="1703987"/>
                  </a:lnTo>
                  <a:lnTo>
                    <a:pt x="1653853" y="1710527"/>
                  </a:lnTo>
                  <a:lnTo>
                    <a:pt x="1595965" y="1715666"/>
                  </a:lnTo>
                  <a:lnTo>
                    <a:pt x="1537345" y="1719374"/>
                  </a:lnTo>
                  <a:lnTo>
                    <a:pt x="1478043" y="1721620"/>
                  </a:lnTo>
                  <a:lnTo>
                    <a:pt x="1418107" y="1722376"/>
                  </a:lnTo>
                  <a:lnTo>
                    <a:pt x="1358159" y="1721620"/>
                  </a:lnTo>
                  <a:lnTo>
                    <a:pt x="1298845" y="1719374"/>
                  </a:lnTo>
                  <a:lnTo>
                    <a:pt x="1240216" y="1715666"/>
                  </a:lnTo>
                  <a:lnTo>
                    <a:pt x="1182319" y="1710527"/>
                  </a:lnTo>
                  <a:lnTo>
                    <a:pt x="1125204" y="1703987"/>
                  </a:lnTo>
                  <a:lnTo>
                    <a:pt x="1068921" y="1696075"/>
                  </a:lnTo>
                  <a:lnTo>
                    <a:pt x="1013518" y="1686821"/>
                  </a:lnTo>
                  <a:lnTo>
                    <a:pt x="959045" y="1676256"/>
                  </a:lnTo>
                  <a:lnTo>
                    <a:pt x="905550" y="1664409"/>
                  </a:lnTo>
                  <a:lnTo>
                    <a:pt x="853084" y="1651310"/>
                  </a:lnTo>
                  <a:lnTo>
                    <a:pt x="801695" y="1636989"/>
                  </a:lnTo>
                  <a:lnTo>
                    <a:pt x="751433" y="1621475"/>
                  </a:lnTo>
                  <a:lnTo>
                    <a:pt x="702346" y="1604800"/>
                  </a:lnTo>
                  <a:lnTo>
                    <a:pt x="654485" y="1586991"/>
                  </a:lnTo>
                  <a:lnTo>
                    <a:pt x="607897" y="1568080"/>
                  </a:lnTo>
                  <a:lnTo>
                    <a:pt x="562633" y="1548097"/>
                  </a:lnTo>
                  <a:lnTo>
                    <a:pt x="518742" y="1527070"/>
                  </a:lnTo>
                  <a:lnTo>
                    <a:pt x="476272" y="1505031"/>
                  </a:lnTo>
                  <a:lnTo>
                    <a:pt x="435273" y="1482008"/>
                  </a:lnTo>
                  <a:lnTo>
                    <a:pt x="395795" y="1458033"/>
                  </a:lnTo>
                  <a:lnTo>
                    <a:pt x="357886" y="1433133"/>
                  </a:lnTo>
                  <a:lnTo>
                    <a:pt x="321596" y="1407341"/>
                  </a:lnTo>
                  <a:lnTo>
                    <a:pt x="286973" y="1380685"/>
                  </a:lnTo>
                  <a:lnTo>
                    <a:pt x="254068" y="1353195"/>
                  </a:lnTo>
                  <a:lnTo>
                    <a:pt x="222929" y="1324901"/>
                  </a:lnTo>
                  <a:lnTo>
                    <a:pt x="193605" y="1295834"/>
                  </a:lnTo>
                  <a:lnTo>
                    <a:pt x="166147" y="1266022"/>
                  </a:lnTo>
                  <a:lnTo>
                    <a:pt x="140602" y="1235496"/>
                  </a:lnTo>
                  <a:lnTo>
                    <a:pt x="117020" y="1204286"/>
                  </a:lnTo>
                  <a:lnTo>
                    <a:pt x="95450" y="1172422"/>
                  </a:lnTo>
                  <a:lnTo>
                    <a:pt x="58545" y="1106849"/>
                  </a:lnTo>
                  <a:lnTo>
                    <a:pt x="30280" y="1039017"/>
                  </a:lnTo>
                  <a:lnTo>
                    <a:pt x="11048" y="969165"/>
                  </a:lnTo>
                  <a:lnTo>
                    <a:pt x="1244" y="897532"/>
                  </a:lnTo>
                  <a:lnTo>
                    <a:pt x="0" y="861122"/>
                  </a:lnTo>
                  <a:close/>
                </a:path>
              </a:pathLst>
            </a:custGeom>
            <a:ln w="3175">
              <a:solidFill>
                <a:srgbClr val="000000"/>
              </a:solidFill>
            </a:ln>
          </p:spPr>
          <p:txBody>
            <a:bodyPr wrap="square" lIns="0" tIns="0" rIns="0" bIns="0" rtlCol="0"/>
            <a:lstStyle/>
            <a:p>
              <a:endParaRPr/>
            </a:p>
          </p:txBody>
        </p:sp>
      </p:grpSp>
      <p:sp>
        <p:nvSpPr>
          <p:cNvPr id="5" name="object 5"/>
          <p:cNvSpPr txBox="1"/>
          <p:nvPr/>
        </p:nvSpPr>
        <p:spPr>
          <a:xfrm>
            <a:off x="2038132" y="1074246"/>
            <a:ext cx="1333500" cy="246379"/>
          </a:xfrm>
          <a:prstGeom prst="rect">
            <a:avLst/>
          </a:prstGeom>
        </p:spPr>
        <p:txBody>
          <a:bodyPr vert="horz" wrap="square" lIns="0" tIns="12065" rIns="0" bIns="0" rtlCol="0">
            <a:spAutoFit/>
          </a:bodyPr>
          <a:lstStyle/>
          <a:p>
            <a:pPr marL="12700">
              <a:lnSpc>
                <a:spcPct val="100000"/>
              </a:lnSpc>
              <a:spcBef>
                <a:spcPts val="95"/>
              </a:spcBef>
            </a:pPr>
            <a:r>
              <a:rPr sz="1450" u="sng" dirty="0">
                <a:uFill>
                  <a:solidFill>
                    <a:srgbClr val="000000"/>
                  </a:solidFill>
                </a:uFill>
                <a:latin typeface="Arial"/>
                <a:cs typeface="Arial"/>
              </a:rPr>
              <a:t>Delivery</a:t>
            </a:r>
            <a:r>
              <a:rPr sz="1450" u="sng" spc="-70" dirty="0">
                <a:uFill>
                  <a:solidFill>
                    <a:srgbClr val="000000"/>
                  </a:solidFill>
                </a:uFill>
                <a:latin typeface="Arial"/>
                <a:cs typeface="Arial"/>
              </a:rPr>
              <a:t> </a:t>
            </a:r>
            <a:r>
              <a:rPr sz="1450" u="sng" spc="-10" dirty="0">
                <a:uFill>
                  <a:solidFill>
                    <a:srgbClr val="000000"/>
                  </a:solidFill>
                </a:uFill>
                <a:latin typeface="Arial"/>
                <a:cs typeface="Arial"/>
              </a:rPr>
              <a:t>models</a:t>
            </a:r>
            <a:endParaRPr sz="1450">
              <a:latin typeface="Arial"/>
              <a:cs typeface="Arial"/>
            </a:endParaRPr>
          </a:p>
        </p:txBody>
      </p:sp>
      <p:sp>
        <p:nvSpPr>
          <p:cNvPr id="6" name="object 6"/>
          <p:cNvSpPr txBox="1"/>
          <p:nvPr/>
        </p:nvSpPr>
        <p:spPr>
          <a:xfrm>
            <a:off x="1527929" y="1988483"/>
            <a:ext cx="2418080" cy="236220"/>
          </a:xfrm>
          <a:prstGeom prst="rect">
            <a:avLst/>
          </a:prstGeom>
          <a:solidFill>
            <a:srgbClr val="E8EDF7"/>
          </a:solidFill>
        </p:spPr>
        <p:txBody>
          <a:bodyPr vert="horz" wrap="square" lIns="0" tIns="12700" rIns="0" bIns="0" rtlCol="0">
            <a:spAutoFit/>
          </a:bodyPr>
          <a:lstStyle/>
          <a:p>
            <a:pPr marL="52705">
              <a:lnSpc>
                <a:spcPct val="100000"/>
              </a:lnSpc>
              <a:spcBef>
                <a:spcPts val="100"/>
              </a:spcBef>
            </a:pPr>
            <a:r>
              <a:rPr sz="1200" dirty="0">
                <a:latin typeface="Arial"/>
                <a:cs typeface="Arial"/>
              </a:rPr>
              <a:t>Infrastructure</a:t>
            </a:r>
            <a:r>
              <a:rPr sz="1200" spc="114" dirty="0">
                <a:latin typeface="Arial"/>
                <a:cs typeface="Arial"/>
              </a:rPr>
              <a:t> </a:t>
            </a:r>
            <a:r>
              <a:rPr sz="1200" dirty="0">
                <a:latin typeface="Arial"/>
                <a:cs typeface="Arial"/>
              </a:rPr>
              <a:t>as</a:t>
            </a:r>
            <a:r>
              <a:rPr sz="1200" spc="120" dirty="0">
                <a:latin typeface="Arial"/>
                <a:cs typeface="Arial"/>
              </a:rPr>
              <a:t> </a:t>
            </a:r>
            <a:r>
              <a:rPr sz="1200" dirty="0">
                <a:latin typeface="Arial"/>
                <a:cs typeface="Arial"/>
              </a:rPr>
              <a:t>a</a:t>
            </a:r>
            <a:r>
              <a:rPr sz="1200" spc="120" dirty="0">
                <a:latin typeface="Arial"/>
                <a:cs typeface="Arial"/>
              </a:rPr>
              <a:t> </a:t>
            </a:r>
            <a:r>
              <a:rPr sz="1200" dirty="0">
                <a:latin typeface="Arial"/>
                <a:cs typeface="Arial"/>
              </a:rPr>
              <a:t>Service</a:t>
            </a:r>
            <a:r>
              <a:rPr sz="1200" spc="120" dirty="0">
                <a:latin typeface="Arial"/>
                <a:cs typeface="Arial"/>
              </a:rPr>
              <a:t> </a:t>
            </a:r>
            <a:r>
              <a:rPr sz="1200" spc="-10" dirty="0">
                <a:latin typeface="Arial"/>
                <a:cs typeface="Arial"/>
              </a:rPr>
              <a:t>(IaaS)</a:t>
            </a:r>
            <a:endParaRPr sz="1200">
              <a:latin typeface="Arial"/>
              <a:cs typeface="Arial"/>
            </a:endParaRPr>
          </a:p>
        </p:txBody>
      </p:sp>
      <p:sp>
        <p:nvSpPr>
          <p:cNvPr id="7" name="object 7"/>
          <p:cNvSpPr txBox="1"/>
          <p:nvPr/>
        </p:nvSpPr>
        <p:spPr>
          <a:xfrm>
            <a:off x="1525539" y="1368427"/>
            <a:ext cx="2353310" cy="236220"/>
          </a:xfrm>
          <a:prstGeom prst="rect">
            <a:avLst/>
          </a:prstGeom>
          <a:solidFill>
            <a:srgbClr val="E8EDF7"/>
          </a:solidFill>
        </p:spPr>
        <p:txBody>
          <a:bodyPr vert="horz" wrap="square" lIns="0" tIns="12700" rIns="0" bIns="0" rtlCol="0">
            <a:spAutoFit/>
          </a:bodyPr>
          <a:lstStyle/>
          <a:p>
            <a:pPr marL="142875">
              <a:lnSpc>
                <a:spcPct val="100000"/>
              </a:lnSpc>
              <a:spcBef>
                <a:spcPts val="100"/>
              </a:spcBef>
            </a:pPr>
            <a:r>
              <a:rPr sz="1200" dirty="0">
                <a:latin typeface="Arial"/>
                <a:cs typeface="Arial"/>
              </a:rPr>
              <a:t>Software</a:t>
            </a:r>
            <a:r>
              <a:rPr sz="1200" spc="100" dirty="0">
                <a:latin typeface="Arial"/>
                <a:cs typeface="Arial"/>
              </a:rPr>
              <a:t> </a:t>
            </a:r>
            <a:r>
              <a:rPr sz="1200" dirty="0">
                <a:latin typeface="Arial"/>
                <a:cs typeface="Arial"/>
              </a:rPr>
              <a:t>as</a:t>
            </a:r>
            <a:r>
              <a:rPr sz="1200" spc="100" dirty="0">
                <a:latin typeface="Arial"/>
                <a:cs typeface="Arial"/>
              </a:rPr>
              <a:t> </a:t>
            </a:r>
            <a:r>
              <a:rPr sz="1200" dirty="0">
                <a:latin typeface="Arial"/>
                <a:cs typeface="Arial"/>
              </a:rPr>
              <a:t>a</a:t>
            </a:r>
            <a:r>
              <a:rPr sz="1200" spc="100" dirty="0">
                <a:latin typeface="Arial"/>
                <a:cs typeface="Arial"/>
              </a:rPr>
              <a:t> </a:t>
            </a:r>
            <a:r>
              <a:rPr sz="1200" dirty="0">
                <a:latin typeface="Arial"/>
                <a:cs typeface="Arial"/>
              </a:rPr>
              <a:t>Service</a:t>
            </a:r>
            <a:r>
              <a:rPr sz="1200" spc="100" dirty="0">
                <a:latin typeface="Arial"/>
                <a:cs typeface="Arial"/>
              </a:rPr>
              <a:t> </a:t>
            </a:r>
            <a:r>
              <a:rPr sz="1200" spc="-10" dirty="0">
                <a:latin typeface="Arial"/>
                <a:cs typeface="Arial"/>
              </a:rPr>
              <a:t>(SaaS)</a:t>
            </a:r>
            <a:endParaRPr sz="1200">
              <a:latin typeface="Arial"/>
              <a:cs typeface="Arial"/>
            </a:endParaRPr>
          </a:p>
        </p:txBody>
      </p:sp>
      <p:sp>
        <p:nvSpPr>
          <p:cNvPr id="8" name="object 8"/>
          <p:cNvSpPr txBox="1"/>
          <p:nvPr/>
        </p:nvSpPr>
        <p:spPr>
          <a:xfrm>
            <a:off x="1541663" y="1693218"/>
            <a:ext cx="2326005" cy="236220"/>
          </a:xfrm>
          <a:prstGeom prst="rect">
            <a:avLst/>
          </a:prstGeom>
          <a:solidFill>
            <a:srgbClr val="E8EDF7"/>
          </a:solidFill>
        </p:spPr>
        <p:txBody>
          <a:bodyPr vert="horz" wrap="square" lIns="0" tIns="12700" rIns="0" bIns="0" rtlCol="0">
            <a:spAutoFit/>
          </a:bodyPr>
          <a:lstStyle/>
          <a:p>
            <a:pPr marL="146685">
              <a:lnSpc>
                <a:spcPct val="100000"/>
              </a:lnSpc>
              <a:spcBef>
                <a:spcPts val="100"/>
              </a:spcBef>
            </a:pPr>
            <a:r>
              <a:rPr sz="1200" dirty="0">
                <a:latin typeface="Arial"/>
                <a:cs typeface="Arial"/>
              </a:rPr>
              <a:t>Platform</a:t>
            </a:r>
            <a:r>
              <a:rPr sz="1200" spc="95" dirty="0">
                <a:latin typeface="Arial"/>
                <a:cs typeface="Arial"/>
              </a:rPr>
              <a:t> </a:t>
            </a:r>
            <a:r>
              <a:rPr sz="1200" dirty="0">
                <a:latin typeface="Arial"/>
                <a:cs typeface="Arial"/>
              </a:rPr>
              <a:t>as</a:t>
            </a:r>
            <a:r>
              <a:rPr sz="1200" spc="100" dirty="0">
                <a:latin typeface="Arial"/>
                <a:cs typeface="Arial"/>
              </a:rPr>
              <a:t> </a:t>
            </a:r>
            <a:r>
              <a:rPr sz="1200" dirty="0">
                <a:latin typeface="Arial"/>
                <a:cs typeface="Arial"/>
              </a:rPr>
              <a:t>a</a:t>
            </a:r>
            <a:r>
              <a:rPr sz="1200" spc="100" dirty="0">
                <a:latin typeface="Arial"/>
                <a:cs typeface="Arial"/>
              </a:rPr>
              <a:t> </a:t>
            </a:r>
            <a:r>
              <a:rPr sz="1200" dirty="0">
                <a:latin typeface="Arial"/>
                <a:cs typeface="Arial"/>
              </a:rPr>
              <a:t>Service</a:t>
            </a:r>
            <a:r>
              <a:rPr sz="1200" spc="95" dirty="0">
                <a:latin typeface="Arial"/>
                <a:cs typeface="Arial"/>
              </a:rPr>
              <a:t> </a:t>
            </a:r>
            <a:r>
              <a:rPr sz="1200" spc="-10" dirty="0">
                <a:latin typeface="Arial"/>
                <a:cs typeface="Arial"/>
              </a:rPr>
              <a:t>(PaaS)</a:t>
            </a:r>
            <a:endParaRPr sz="1200">
              <a:latin typeface="Arial"/>
              <a:cs typeface="Arial"/>
            </a:endParaRPr>
          </a:p>
        </p:txBody>
      </p:sp>
      <p:grpSp>
        <p:nvGrpSpPr>
          <p:cNvPr id="9" name="object 9"/>
          <p:cNvGrpSpPr/>
          <p:nvPr/>
        </p:nvGrpSpPr>
        <p:grpSpPr>
          <a:xfrm>
            <a:off x="5412458" y="1216977"/>
            <a:ext cx="2507615" cy="1684655"/>
            <a:chOff x="5412458" y="1216977"/>
            <a:chExt cx="2507615" cy="1684655"/>
          </a:xfrm>
        </p:grpSpPr>
        <p:sp>
          <p:nvSpPr>
            <p:cNvPr id="10" name="object 10"/>
            <p:cNvSpPr/>
            <p:nvPr/>
          </p:nvSpPr>
          <p:spPr>
            <a:xfrm>
              <a:off x="5414045" y="1218564"/>
              <a:ext cx="2504440" cy="1681480"/>
            </a:xfrm>
            <a:custGeom>
              <a:avLst/>
              <a:gdLst/>
              <a:ahLst/>
              <a:cxnLst/>
              <a:rect l="l" t="t" r="r" b="b"/>
              <a:pathLst>
                <a:path w="2504440" h="1681480">
                  <a:moveTo>
                    <a:pt x="1252077" y="0"/>
                  </a:moveTo>
                  <a:lnTo>
                    <a:pt x="1194760" y="864"/>
                  </a:lnTo>
                  <a:lnTo>
                    <a:pt x="1138105" y="3434"/>
                  </a:lnTo>
                  <a:lnTo>
                    <a:pt x="1082167" y="7671"/>
                  </a:lnTo>
                  <a:lnTo>
                    <a:pt x="1027001" y="13539"/>
                  </a:lnTo>
                  <a:lnTo>
                    <a:pt x="972662" y="21000"/>
                  </a:lnTo>
                  <a:lnTo>
                    <a:pt x="919207" y="30017"/>
                  </a:lnTo>
                  <a:lnTo>
                    <a:pt x="866689" y="40554"/>
                  </a:lnTo>
                  <a:lnTo>
                    <a:pt x="815165" y="52574"/>
                  </a:lnTo>
                  <a:lnTo>
                    <a:pt x="764689" y="66038"/>
                  </a:lnTo>
                  <a:lnTo>
                    <a:pt x="715317" y="80911"/>
                  </a:lnTo>
                  <a:lnTo>
                    <a:pt x="667104" y="97155"/>
                  </a:lnTo>
                  <a:lnTo>
                    <a:pt x="620106" y="114732"/>
                  </a:lnTo>
                  <a:lnTo>
                    <a:pt x="574376" y="133607"/>
                  </a:lnTo>
                  <a:lnTo>
                    <a:pt x="529972" y="153741"/>
                  </a:lnTo>
                  <a:lnTo>
                    <a:pt x="486947" y="175098"/>
                  </a:lnTo>
                  <a:lnTo>
                    <a:pt x="445357" y="197641"/>
                  </a:lnTo>
                  <a:lnTo>
                    <a:pt x="405258" y="221332"/>
                  </a:lnTo>
                  <a:lnTo>
                    <a:pt x="366704" y="246135"/>
                  </a:lnTo>
                  <a:lnTo>
                    <a:pt x="329751" y="272013"/>
                  </a:lnTo>
                  <a:lnTo>
                    <a:pt x="294455" y="298927"/>
                  </a:lnTo>
                  <a:lnTo>
                    <a:pt x="260869" y="326842"/>
                  </a:lnTo>
                  <a:lnTo>
                    <a:pt x="229050" y="355720"/>
                  </a:lnTo>
                  <a:lnTo>
                    <a:pt x="199053" y="385525"/>
                  </a:lnTo>
                  <a:lnTo>
                    <a:pt x="170933" y="416218"/>
                  </a:lnTo>
                  <a:lnTo>
                    <a:pt x="144745" y="447763"/>
                  </a:lnTo>
                  <a:lnTo>
                    <a:pt x="120544" y="480123"/>
                  </a:lnTo>
                  <a:lnTo>
                    <a:pt x="98386" y="513261"/>
                  </a:lnTo>
                  <a:lnTo>
                    <a:pt x="78326" y="547140"/>
                  </a:lnTo>
                  <a:lnTo>
                    <a:pt x="60420" y="581723"/>
                  </a:lnTo>
                  <a:lnTo>
                    <a:pt x="44721" y="616972"/>
                  </a:lnTo>
                  <a:lnTo>
                    <a:pt x="31286" y="652850"/>
                  </a:lnTo>
                  <a:lnTo>
                    <a:pt x="20170" y="689321"/>
                  </a:lnTo>
                  <a:lnTo>
                    <a:pt x="5116" y="763892"/>
                  </a:lnTo>
                  <a:lnTo>
                    <a:pt x="1288" y="801918"/>
                  </a:lnTo>
                  <a:lnTo>
                    <a:pt x="0" y="840388"/>
                  </a:lnTo>
                  <a:lnTo>
                    <a:pt x="1288" y="878858"/>
                  </a:lnTo>
                  <a:lnTo>
                    <a:pt x="5117" y="916885"/>
                  </a:lnTo>
                  <a:lnTo>
                    <a:pt x="20175" y="991459"/>
                  </a:lnTo>
                  <a:lnTo>
                    <a:pt x="31293" y="1027932"/>
                  </a:lnTo>
                  <a:lnTo>
                    <a:pt x="44730" y="1063814"/>
                  </a:lnTo>
                  <a:lnTo>
                    <a:pt x="60432" y="1099066"/>
                  </a:lnTo>
                  <a:lnTo>
                    <a:pt x="78342" y="1133652"/>
                  </a:lnTo>
                  <a:lnTo>
                    <a:pt x="98405" y="1167535"/>
                  </a:lnTo>
                  <a:lnTo>
                    <a:pt x="120566" y="1200677"/>
                  </a:lnTo>
                  <a:lnTo>
                    <a:pt x="144770" y="1233042"/>
                  </a:lnTo>
                  <a:lnTo>
                    <a:pt x="170962" y="1264592"/>
                  </a:lnTo>
                  <a:lnTo>
                    <a:pt x="199086" y="1295290"/>
                  </a:lnTo>
                  <a:lnTo>
                    <a:pt x="229087" y="1325099"/>
                  </a:lnTo>
                  <a:lnTo>
                    <a:pt x="260909" y="1353983"/>
                  </a:lnTo>
                  <a:lnTo>
                    <a:pt x="294498" y="1381903"/>
                  </a:lnTo>
                  <a:lnTo>
                    <a:pt x="329798" y="1408823"/>
                  </a:lnTo>
                  <a:lnTo>
                    <a:pt x="366754" y="1434706"/>
                  </a:lnTo>
                  <a:lnTo>
                    <a:pt x="405310" y="1459514"/>
                  </a:lnTo>
                  <a:lnTo>
                    <a:pt x="445411" y="1483211"/>
                  </a:lnTo>
                  <a:lnTo>
                    <a:pt x="487003" y="1505759"/>
                  </a:lnTo>
                  <a:lnTo>
                    <a:pt x="530029" y="1527122"/>
                  </a:lnTo>
                  <a:lnTo>
                    <a:pt x="574434" y="1547261"/>
                  </a:lnTo>
                  <a:lnTo>
                    <a:pt x="620164" y="1566141"/>
                  </a:lnTo>
                  <a:lnTo>
                    <a:pt x="667162" y="1583723"/>
                  </a:lnTo>
                  <a:lnTo>
                    <a:pt x="715374" y="1599971"/>
                  </a:lnTo>
                  <a:lnTo>
                    <a:pt x="764745" y="1614848"/>
                  </a:lnTo>
                  <a:lnTo>
                    <a:pt x="815218" y="1628316"/>
                  </a:lnTo>
                  <a:lnTo>
                    <a:pt x="866739" y="1640339"/>
                  </a:lnTo>
                  <a:lnTo>
                    <a:pt x="919252" y="1650880"/>
                  </a:lnTo>
                  <a:lnTo>
                    <a:pt x="972703" y="1659900"/>
                  </a:lnTo>
                  <a:lnTo>
                    <a:pt x="1027035" y="1667364"/>
                  </a:lnTo>
                  <a:lnTo>
                    <a:pt x="1082194" y="1673233"/>
                  </a:lnTo>
                  <a:lnTo>
                    <a:pt x="1138124" y="1677472"/>
                  </a:lnTo>
                  <a:lnTo>
                    <a:pt x="1194771" y="1680042"/>
                  </a:lnTo>
                  <a:lnTo>
                    <a:pt x="1252077" y="1680907"/>
                  </a:lnTo>
                  <a:lnTo>
                    <a:pt x="1309384" y="1680042"/>
                  </a:lnTo>
                  <a:lnTo>
                    <a:pt x="1366031" y="1677472"/>
                  </a:lnTo>
                  <a:lnTo>
                    <a:pt x="1421961" y="1673233"/>
                  </a:lnTo>
                  <a:lnTo>
                    <a:pt x="1477120" y="1667364"/>
                  </a:lnTo>
                  <a:lnTo>
                    <a:pt x="1531452" y="1659900"/>
                  </a:lnTo>
                  <a:lnTo>
                    <a:pt x="1584903" y="1650880"/>
                  </a:lnTo>
                  <a:lnTo>
                    <a:pt x="1637416" y="1640339"/>
                  </a:lnTo>
                  <a:lnTo>
                    <a:pt x="1688937" y="1628316"/>
                  </a:lnTo>
                  <a:lnTo>
                    <a:pt x="1739410" y="1614848"/>
                  </a:lnTo>
                  <a:lnTo>
                    <a:pt x="1788780" y="1599971"/>
                  </a:lnTo>
                  <a:lnTo>
                    <a:pt x="1836992" y="1583723"/>
                  </a:lnTo>
                  <a:lnTo>
                    <a:pt x="1883991" y="1566141"/>
                  </a:lnTo>
                  <a:lnTo>
                    <a:pt x="1929721" y="1547261"/>
                  </a:lnTo>
                  <a:lnTo>
                    <a:pt x="1974126" y="1527122"/>
                  </a:lnTo>
                  <a:lnTo>
                    <a:pt x="2017152" y="1505759"/>
                  </a:lnTo>
                  <a:lnTo>
                    <a:pt x="2058744" y="1483211"/>
                  </a:lnTo>
                  <a:lnTo>
                    <a:pt x="2098845" y="1459514"/>
                  </a:lnTo>
                  <a:lnTo>
                    <a:pt x="2137401" y="1434706"/>
                  </a:lnTo>
                  <a:lnTo>
                    <a:pt x="2174357" y="1408823"/>
                  </a:lnTo>
                  <a:lnTo>
                    <a:pt x="2209657" y="1381903"/>
                  </a:lnTo>
                  <a:lnTo>
                    <a:pt x="2243246" y="1353983"/>
                  </a:lnTo>
                  <a:lnTo>
                    <a:pt x="2275068" y="1325099"/>
                  </a:lnTo>
                  <a:lnTo>
                    <a:pt x="2305069" y="1295290"/>
                  </a:lnTo>
                  <a:lnTo>
                    <a:pt x="2333193" y="1264592"/>
                  </a:lnTo>
                  <a:lnTo>
                    <a:pt x="2359385" y="1233042"/>
                  </a:lnTo>
                  <a:lnTo>
                    <a:pt x="2383589" y="1200677"/>
                  </a:lnTo>
                  <a:lnTo>
                    <a:pt x="2405750" y="1167535"/>
                  </a:lnTo>
                  <a:lnTo>
                    <a:pt x="2425813" y="1133652"/>
                  </a:lnTo>
                  <a:lnTo>
                    <a:pt x="2443723" y="1099066"/>
                  </a:lnTo>
                  <a:lnTo>
                    <a:pt x="2459425" y="1063814"/>
                  </a:lnTo>
                  <a:lnTo>
                    <a:pt x="2472862" y="1027932"/>
                  </a:lnTo>
                  <a:lnTo>
                    <a:pt x="2483980" y="991459"/>
                  </a:lnTo>
                  <a:lnTo>
                    <a:pt x="2499038" y="916885"/>
                  </a:lnTo>
                  <a:lnTo>
                    <a:pt x="2502867" y="878858"/>
                  </a:lnTo>
                  <a:lnTo>
                    <a:pt x="2504155" y="840388"/>
                  </a:lnTo>
                  <a:lnTo>
                    <a:pt x="2502867" y="801918"/>
                  </a:lnTo>
                  <a:lnTo>
                    <a:pt x="2499038" y="763892"/>
                  </a:lnTo>
                  <a:lnTo>
                    <a:pt x="2483980" y="689321"/>
                  </a:lnTo>
                  <a:lnTo>
                    <a:pt x="2472862" y="652850"/>
                  </a:lnTo>
                  <a:lnTo>
                    <a:pt x="2459425" y="616972"/>
                  </a:lnTo>
                  <a:lnTo>
                    <a:pt x="2443723" y="581723"/>
                  </a:lnTo>
                  <a:lnTo>
                    <a:pt x="2425813" y="547140"/>
                  </a:lnTo>
                  <a:lnTo>
                    <a:pt x="2405750" y="513261"/>
                  </a:lnTo>
                  <a:lnTo>
                    <a:pt x="2383589" y="480123"/>
                  </a:lnTo>
                  <a:lnTo>
                    <a:pt x="2359385" y="447763"/>
                  </a:lnTo>
                  <a:lnTo>
                    <a:pt x="2333193" y="416218"/>
                  </a:lnTo>
                  <a:lnTo>
                    <a:pt x="2305069" y="385525"/>
                  </a:lnTo>
                  <a:lnTo>
                    <a:pt x="2275068" y="355720"/>
                  </a:lnTo>
                  <a:lnTo>
                    <a:pt x="2243246" y="326842"/>
                  </a:lnTo>
                  <a:lnTo>
                    <a:pt x="2209657" y="298927"/>
                  </a:lnTo>
                  <a:lnTo>
                    <a:pt x="2174357" y="272013"/>
                  </a:lnTo>
                  <a:lnTo>
                    <a:pt x="2137401" y="246135"/>
                  </a:lnTo>
                  <a:lnTo>
                    <a:pt x="2098845" y="221332"/>
                  </a:lnTo>
                  <a:lnTo>
                    <a:pt x="2058744" y="197641"/>
                  </a:lnTo>
                  <a:lnTo>
                    <a:pt x="2017152" y="175098"/>
                  </a:lnTo>
                  <a:lnTo>
                    <a:pt x="1974126" y="153741"/>
                  </a:lnTo>
                  <a:lnTo>
                    <a:pt x="1929721" y="133607"/>
                  </a:lnTo>
                  <a:lnTo>
                    <a:pt x="1883991" y="114732"/>
                  </a:lnTo>
                  <a:lnTo>
                    <a:pt x="1836992" y="97155"/>
                  </a:lnTo>
                  <a:lnTo>
                    <a:pt x="1788780" y="80911"/>
                  </a:lnTo>
                  <a:lnTo>
                    <a:pt x="1739410" y="66038"/>
                  </a:lnTo>
                  <a:lnTo>
                    <a:pt x="1688937" y="52574"/>
                  </a:lnTo>
                  <a:lnTo>
                    <a:pt x="1637416" y="40554"/>
                  </a:lnTo>
                  <a:lnTo>
                    <a:pt x="1584903" y="30017"/>
                  </a:lnTo>
                  <a:lnTo>
                    <a:pt x="1531452" y="21000"/>
                  </a:lnTo>
                  <a:lnTo>
                    <a:pt x="1477120" y="13539"/>
                  </a:lnTo>
                  <a:lnTo>
                    <a:pt x="1421961" y="7671"/>
                  </a:lnTo>
                  <a:lnTo>
                    <a:pt x="1366031" y="3434"/>
                  </a:lnTo>
                  <a:lnTo>
                    <a:pt x="1309384" y="864"/>
                  </a:lnTo>
                  <a:lnTo>
                    <a:pt x="1252077" y="0"/>
                  </a:lnTo>
                  <a:close/>
                </a:path>
              </a:pathLst>
            </a:custGeom>
            <a:solidFill>
              <a:srgbClr val="D7D7D7"/>
            </a:solidFill>
          </p:spPr>
          <p:txBody>
            <a:bodyPr wrap="square" lIns="0" tIns="0" rIns="0" bIns="0" rtlCol="0"/>
            <a:lstStyle/>
            <a:p>
              <a:endParaRPr/>
            </a:p>
          </p:txBody>
        </p:sp>
        <p:sp>
          <p:nvSpPr>
            <p:cNvPr id="11" name="object 11"/>
            <p:cNvSpPr/>
            <p:nvPr/>
          </p:nvSpPr>
          <p:spPr>
            <a:xfrm>
              <a:off x="5414045" y="1218564"/>
              <a:ext cx="2504440" cy="1681480"/>
            </a:xfrm>
            <a:custGeom>
              <a:avLst/>
              <a:gdLst/>
              <a:ahLst/>
              <a:cxnLst/>
              <a:rect l="l" t="t" r="r" b="b"/>
              <a:pathLst>
                <a:path w="2504440" h="1681480">
                  <a:moveTo>
                    <a:pt x="0" y="840388"/>
                  </a:moveTo>
                  <a:lnTo>
                    <a:pt x="1288" y="801918"/>
                  </a:lnTo>
                  <a:lnTo>
                    <a:pt x="5116" y="763892"/>
                  </a:lnTo>
                  <a:lnTo>
                    <a:pt x="20170" y="689321"/>
                  </a:lnTo>
                  <a:lnTo>
                    <a:pt x="31286" y="652850"/>
                  </a:lnTo>
                  <a:lnTo>
                    <a:pt x="44721" y="616972"/>
                  </a:lnTo>
                  <a:lnTo>
                    <a:pt x="60420" y="581723"/>
                  </a:lnTo>
                  <a:lnTo>
                    <a:pt x="78326" y="547140"/>
                  </a:lnTo>
                  <a:lnTo>
                    <a:pt x="98386" y="513261"/>
                  </a:lnTo>
                  <a:lnTo>
                    <a:pt x="120544" y="480123"/>
                  </a:lnTo>
                  <a:lnTo>
                    <a:pt x="144745" y="447763"/>
                  </a:lnTo>
                  <a:lnTo>
                    <a:pt x="170933" y="416218"/>
                  </a:lnTo>
                  <a:lnTo>
                    <a:pt x="199053" y="385525"/>
                  </a:lnTo>
                  <a:lnTo>
                    <a:pt x="229050" y="355720"/>
                  </a:lnTo>
                  <a:lnTo>
                    <a:pt x="260869" y="326842"/>
                  </a:lnTo>
                  <a:lnTo>
                    <a:pt x="294455" y="298927"/>
                  </a:lnTo>
                  <a:lnTo>
                    <a:pt x="329751" y="272013"/>
                  </a:lnTo>
                  <a:lnTo>
                    <a:pt x="366704" y="246135"/>
                  </a:lnTo>
                  <a:lnTo>
                    <a:pt x="405258" y="221332"/>
                  </a:lnTo>
                  <a:lnTo>
                    <a:pt x="445357" y="197641"/>
                  </a:lnTo>
                  <a:lnTo>
                    <a:pt x="486947" y="175098"/>
                  </a:lnTo>
                  <a:lnTo>
                    <a:pt x="529972" y="153741"/>
                  </a:lnTo>
                  <a:lnTo>
                    <a:pt x="574376" y="133607"/>
                  </a:lnTo>
                  <a:lnTo>
                    <a:pt x="620106" y="114732"/>
                  </a:lnTo>
                  <a:lnTo>
                    <a:pt x="667104" y="97155"/>
                  </a:lnTo>
                  <a:lnTo>
                    <a:pt x="715317" y="80911"/>
                  </a:lnTo>
                  <a:lnTo>
                    <a:pt x="764689" y="66038"/>
                  </a:lnTo>
                  <a:lnTo>
                    <a:pt x="815165" y="52574"/>
                  </a:lnTo>
                  <a:lnTo>
                    <a:pt x="866689" y="40554"/>
                  </a:lnTo>
                  <a:lnTo>
                    <a:pt x="919207" y="30017"/>
                  </a:lnTo>
                  <a:lnTo>
                    <a:pt x="972662" y="21000"/>
                  </a:lnTo>
                  <a:lnTo>
                    <a:pt x="1027001" y="13539"/>
                  </a:lnTo>
                  <a:lnTo>
                    <a:pt x="1082167" y="7671"/>
                  </a:lnTo>
                  <a:lnTo>
                    <a:pt x="1138105" y="3434"/>
                  </a:lnTo>
                  <a:lnTo>
                    <a:pt x="1194760" y="864"/>
                  </a:lnTo>
                  <a:lnTo>
                    <a:pt x="1252077" y="0"/>
                  </a:lnTo>
                  <a:lnTo>
                    <a:pt x="1309384" y="864"/>
                  </a:lnTo>
                  <a:lnTo>
                    <a:pt x="1366031" y="3434"/>
                  </a:lnTo>
                  <a:lnTo>
                    <a:pt x="1421961" y="7671"/>
                  </a:lnTo>
                  <a:lnTo>
                    <a:pt x="1477120" y="13539"/>
                  </a:lnTo>
                  <a:lnTo>
                    <a:pt x="1531452" y="21000"/>
                  </a:lnTo>
                  <a:lnTo>
                    <a:pt x="1584903" y="30017"/>
                  </a:lnTo>
                  <a:lnTo>
                    <a:pt x="1637416" y="40554"/>
                  </a:lnTo>
                  <a:lnTo>
                    <a:pt x="1688937" y="52574"/>
                  </a:lnTo>
                  <a:lnTo>
                    <a:pt x="1739410" y="66038"/>
                  </a:lnTo>
                  <a:lnTo>
                    <a:pt x="1788780" y="80911"/>
                  </a:lnTo>
                  <a:lnTo>
                    <a:pt x="1836992" y="97155"/>
                  </a:lnTo>
                  <a:lnTo>
                    <a:pt x="1883991" y="114732"/>
                  </a:lnTo>
                  <a:lnTo>
                    <a:pt x="1929721" y="133607"/>
                  </a:lnTo>
                  <a:lnTo>
                    <a:pt x="1974126" y="153741"/>
                  </a:lnTo>
                  <a:lnTo>
                    <a:pt x="2017152" y="175098"/>
                  </a:lnTo>
                  <a:lnTo>
                    <a:pt x="2058744" y="197641"/>
                  </a:lnTo>
                  <a:lnTo>
                    <a:pt x="2098845" y="221332"/>
                  </a:lnTo>
                  <a:lnTo>
                    <a:pt x="2137401" y="246135"/>
                  </a:lnTo>
                  <a:lnTo>
                    <a:pt x="2174357" y="272013"/>
                  </a:lnTo>
                  <a:lnTo>
                    <a:pt x="2209657" y="298927"/>
                  </a:lnTo>
                  <a:lnTo>
                    <a:pt x="2243246" y="326842"/>
                  </a:lnTo>
                  <a:lnTo>
                    <a:pt x="2275068" y="355720"/>
                  </a:lnTo>
                  <a:lnTo>
                    <a:pt x="2305069" y="385525"/>
                  </a:lnTo>
                  <a:lnTo>
                    <a:pt x="2333193" y="416218"/>
                  </a:lnTo>
                  <a:lnTo>
                    <a:pt x="2359385" y="447763"/>
                  </a:lnTo>
                  <a:lnTo>
                    <a:pt x="2383589" y="480123"/>
                  </a:lnTo>
                  <a:lnTo>
                    <a:pt x="2405750" y="513261"/>
                  </a:lnTo>
                  <a:lnTo>
                    <a:pt x="2425813" y="547140"/>
                  </a:lnTo>
                  <a:lnTo>
                    <a:pt x="2443723" y="581723"/>
                  </a:lnTo>
                  <a:lnTo>
                    <a:pt x="2459425" y="616972"/>
                  </a:lnTo>
                  <a:lnTo>
                    <a:pt x="2472862" y="652850"/>
                  </a:lnTo>
                  <a:lnTo>
                    <a:pt x="2483980" y="689321"/>
                  </a:lnTo>
                  <a:lnTo>
                    <a:pt x="2499038" y="763892"/>
                  </a:lnTo>
                  <a:lnTo>
                    <a:pt x="2502867" y="801918"/>
                  </a:lnTo>
                  <a:lnTo>
                    <a:pt x="2504155" y="840388"/>
                  </a:lnTo>
                  <a:lnTo>
                    <a:pt x="2502867" y="878858"/>
                  </a:lnTo>
                  <a:lnTo>
                    <a:pt x="2499038" y="916885"/>
                  </a:lnTo>
                  <a:lnTo>
                    <a:pt x="2483980" y="991459"/>
                  </a:lnTo>
                  <a:lnTo>
                    <a:pt x="2472862" y="1027932"/>
                  </a:lnTo>
                  <a:lnTo>
                    <a:pt x="2459425" y="1063814"/>
                  </a:lnTo>
                  <a:lnTo>
                    <a:pt x="2443723" y="1099066"/>
                  </a:lnTo>
                  <a:lnTo>
                    <a:pt x="2425813" y="1133652"/>
                  </a:lnTo>
                  <a:lnTo>
                    <a:pt x="2405750" y="1167535"/>
                  </a:lnTo>
                  <a:lnTo>
                    <a:pt x="2383589" y="1200677"/>
                  </a:lnTo>
                  <a:lnTo>
                    <a:pt x="2359385" y="1233042"/>
                  </a:lnTo>
                  <a:lnTo>
                    <a:pt x="2333193" y="1264592"/>
                  </a:lnTo>
                  <a:lnTo>
                    <a:pt x="2305069" y="1295290"/>
                  </a:lnTo>
                  <a:lnTo>
                    <a:pt x="2275068" y="1325099"/>
                  </a:lnTo>
                  <a:lnTo>
                    <a:pt x="2243246" y="1353983"/>
                  </a:lnTo>
                  <a:lnTo>
                    <a:pt x="2209657" y="1381903"/>
                  </a:lnTo>
                  <a:lnTo>
                    <a:pt x="2174357" y="1408823"/>
                  </a:lnTo>
                  <a:lnTo>
                    <a:pt x="2137401" y="1434706"/>
                  </a:lnTo>
                  <a:lnTo>
                    <a:pt x="2098845" y="1459514"/>
                  </a:lnTo>
                  <a:lnTo>
                    <a:pt x="2058744" y="1483211"/>
                  </a:lnTo>
                  <a:lnTo>
                    <a:pt x="2017152" y="1505759"/>
                  </a:lnTo>
                  <a:lnTo>
                    <a:pt x="1974126" y="1527122"/>
                  </a:lnTo>
                  <a:lnTo>
                    <a:pt x="1929721" y="1547261"/>
                  </a:lnTo>
                  <a:lnTo>
                    <a:pt x="1883991" y="1566141"/>
                  </a:lnTo>
                  <a:lnTo>
                    <a:pt x="1836992" y="1583723"/>
                  </a:lnTo>
                  <a:lnTo>
                    <a:pt x="1788780" y="1599971"/>
                  </a:lnTo>
                  <a:lnTo>
                    <a:pt x="1739410" y="1614848"/>
                  </a:lnTo>
                  <a:lnTo>
                    <a:pt x="1688937" y="1628316"/>
                  </a:lnTo>
                  <a:lnTo>
                    <a:pt x="1637416" y="1640339"/>
                  </a:lnTo>
                  <a:lnTo>
                    <a:pt x="1584903" y="1650880"/>
                  </a:lnTo>
                  <a:lnTo>
                    <a:pt x="1531452" y="1659900"/>
                  </a:lnTo>
                  <a:lnTo>
                    <a:pt x="1477120" y="1667364"/>
                  </a:lnTo>
                  <a:lnTo>
                    <a:pt x="1421961" y="1673233"/>
                  </a:lnTo>
                  <a:lnTo>
                    <a:pt x="1366031" y="1677472"/>
                  </a:lnTo>
                  <a:lnTo>
                    <a:pt x="1309384" y="1680042"/>
                  </a:lnTo>
                  <a:lnTo>
                    <a:pt x="1252077" y="1680907"/>
                  </a:lnTo>
                  <a:lnTo>
                    <a:pt x="1194771" y="1680042"/>
                  </a:lnTo>
                  <a:lnTo>
                    <a:pt x="1138124" y="1677472"/>
                  </a:lnTo>
                  <a:lnTo>
                    <a:pt x="1082194" y="1673233"/>
                  </a:lnTo>
                  <a:lnTo>
                    <a:pt x="1027035" y="1667364"/>
                  </a:lnTo>
                  <a:lnTo>
                    <a:pt x="972703" y="1659900"/>
                  </a:lnTo>
                  <a:lnTo>
                    <a:pt x="919252" y="1650880"/>
                  </a:lnTo>
                  <a:lnTo>
                    <a:pt x="866739" y="1640339"/>
                  </a:lnTo>
                  <a:lnTo>
                    <a:pt x="815218" y="1628316"/>
                  </a:lnTo>
                  <a:lnTo>
                    <a:pt x="764745" y="1614848"/>
                  </a:lnTo>
                  <a:lnTo>
                    <a:pt x="715374" y="1599971"/>
                  </a:lnTo>
                  <a:lnTo>
                    <a:pt x="667162" y="1583723"/>
                  </a:lnTo>
                  <a:lnTo>
                    <a:pt x="620164" y="1566141"/>
                  </a:lnTo>
                  <a:lnTo>
                    <a:pt x="574434" y="1547261"/>
                  </a:lnTo>
                  <a:lnTo>
                    <a:pt x="530029" y="1527122"/>
                  </a:lnTo>
                  <a:lnTo>
                    <a:pt x="487003" y="1505759"/>
                  </a:lnTo>
                  <a:lnTo>
                    <a:pt x="445411" y="1483211"/>
                  </a:lnTo>
                  <a:lnTo>
                    <a:pt x="405310" y="1459514"/>
                  </a:lnTo>
                  <a:lnTo>
                    <a:pt x="366754" y="1434706"/>
                  </a:lnTo>
                  <a:lnTo>
                    <a:pt x="329798" y="1408823"/>
                  </a:lnTo>
                  <a:lnTo>
                    <a:pt x="294498" y="1381903"/>
                  </a:lnTo>
                  <a:lnTo>
                    <a:pt x="260909" y="1353983"/>
                  </a:lnTo>
                  <a:lnTo>
                    <a:pt x="229087" y="1325099"/>
                  </a:lnTo>
                  <a:lnTo>
                    <a:pt x="199086" y="1295290"/>
                  </a:lnTo>
                  <a:lnTo>
                    <a:pt x="170962" y="1264592"/>
                  </a:lnTo>
                  <a:lnTo>
                    <a:pt x="144770" y="1233042"/>
                  </a:lnTo>
                  <a:lnTo>
                    <a:pt x="120566" y="1200677"/>
                  </a:lnTo>
                  <a:lnTo>
                    <a:pt x="98405" y="1167535"/>
                  </a:lnTo>
                  <a:lnTo>
                    <a:pt x="78342" y="1133652"/>
                  </a:lnTo>
                  <a:lnTo>
                    <a:pt x="60432" y="1099066"/>
                  </a:lnTo>
                  <a:lnTo>
                    <a:pt x="44730" y="1063814"/>
                  </a:lnTo>
                  <a:lnTo>
                    <a:pt x="31293" y="1027932"/>
                  </a:lnTo>
                  <a:lnTo>
                    <a:pt x="20175" y="991459"/>
                  </a:lnTo>
                  <a:lnTo>
                    <a:pt x="5117" y="916885"/>
                  </a:lnTo>
                  <a:lnTo>
                    <a:pt x="1288" y="878858"/>
                  </a:lnTo>
                  <a:lnTo>
                    <a:pt x="0" y="840388"/>
                  </a:lnTo>
                  <a:close/>
                </a:path>
              </a:pathLst>
            </a:custGeom>
            <a:ln w="3175">
              <a:solidFill>
                <a:srgbClr val="000000"/>
              </a:solidFill>
            </a:ln>
          </p:spPr>
          <p:txBody>
            <a:bodyPr wrap="square" lIns="0" tIns="0" rIns="0" bIns="0" rtlCol="0"/>
            <a:lstStyle/>
            <a:p>
              <a:endParaRPr/>
            </a:p>
          </p:txBody>
        </p:sp>
      </p:grpSp>
      <p:sp>
        <p:nvSpPr>
          <p:cNvPr id="12" name="object 12"/>
          <p:cNvSpPr txBox="1"/>
          <p:nvPr/>
        </p:nvSpPr>
        <p:spPr>
          <a:xfrm>
            <a:off x="5841201" y="1345102"/>
            <a:ext cx="1650364" cy="246379"/>
          </a:xfrm>
          <a:prstGeom prst="rect">
            <a:avLst/>
          </a:prstGeom>
        </p:spPr>
        <p:txBody>
          <a:bodyPr vert="horz" wrap="square" lIns="0" tIns="12065" rIns="0" bIns="0" rtlCol="0">
            <a:spAutoFit/>
          </a:bodyPr>
          <a:lstStyle/>
          <a:p>
            <a:pPr marL="12700">
              <a:lnSpc>
                <a:spcPct val="100000"/>
              </a:lnSpc>
              <a:spcBef>
                <a:spcPts val="95"/>
              </a:spcBef>
            </a:pPr>
            <a:r>
              <a:rPr sz="1450" u="sng" dirty="0">
                <a:uFill>
                  <a:solidFill>
                    <a:srgbClr val="000000"/>
                  </a:solidFill>
                </a:uFill>
                <a:latin typeface="Arial"/>
                <a:cs typeface="Arial"/>
              </a:rPr>
              <a:t>Deployment</a:t>
            </a:r>
            <a:r>
              <a:rPr sz="1450" u="sng" spc="-85" dirty="0">
                <a:uFill>
                  <a:solidFill>
                    <a:srgbClr val="000000"/>
                  </a:solidFill>
                </a:uFill>
                <a:latin typeface="Arial"/>
                <a:cs typeface="Arial"/>
              </a:rPr>
              <a:t> </a:t>
            </a:r>
            <a:r>
              <a:rPr sz="1450" u="sng" spc="-10" dirty="0">
                <a:uFill>
                  <a:solidFill>
                    <a:srgbClr val="000000"/>
                  </a:solidFill>
                </a:uFill>
                <a:latin typeface="Arial"/>
                <a:cs typeface="Arial"/>
              </a:rPr>
              <a:t>models</a:t>
            </a:r>
            <a:endParaRPr sz="1450">
              <a:latin typeface="Arial"/>
              <a:cs typeface="Arial"/>
            </a:endParaRPr>
          </a:p>
        </p:txBody>
      </p:sp>
      <p:graphicFrame>
        <p:nvGraphicFramePr>
          <p:cNvPr id="13" name="object 13"/>
          <p:cNvGraphicFramePr>
            <a:graphicFrameLocks noGrp="1"/>
          </p:cNvGraphicFramePr>
          <p:nvPr/>
        </p:nvGraphicFramePr>
        <p:xfrm>
          <a:off x="6079737" y="1645556"/>
          <a:ext cx="1396364" cy="1138555"/>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20000"/>
                    </a:ext>
                  </a:extLst>
                </a:gridCol>
                <a:gridCol w="80644">
                  <a:extLst>
                    <a:ext uri="{9D8B030D-6E8A-4147-A177-3AD203B41FA5}">
                      <a16:colId xmlns:a16="http://schemas.microsoft.com/office/drawing/2014/main" val="20001"/>
                    </a:ext>
                  </a:extLst>
                </a:gridCol>
                <a:gridCol w="218440">
                  <a:extLst>
                    <a:ext uri="{9D8B030D-6E8A-4147-A177-3AD203B41FA5}">
                      <a16:colId xmlns:a16="http://schemas.microsoft.com/office/drawing/2014/main" val="20002"/>
                    </a:ext>
                  </a:extLst>
                </a:gridCol>
              </a:tblGrid>
              <a:tr h="267335">
                <a:tc gridSpan="2">
                  <a:txBody>
                    <a:bodyPr/>
                    <a:lstStyle/>
                    <a:p>
                      <a:pPr marL="168910">
                        <a:lnSpc>
                          <a:spcPct val="100000"/>
                        </a:lnSpc>
                        <a:spcBef>
                          <a:spcPts val="145"/>
                        </a:spcBef>
                      </a:pPr>
                      <a:r>
                        <a:rPr sz="1200" dirty="0">
                          <a:latin typeface="Arial"/>
                          <a:cs typeface="Arial"/>
                        </a:rPr>
                        <a:t>Public</a:t>
                      </a:r>
                      <a:r>
                        <a:rPr sz="1200" spc="130" dirty="0">
                          <a:latin typeface="Arial"/>
                          <a:cs typeface="Arial"/>
                        </a:rPr>
                        <a:t> </a:t>
                      </a:r>
                      <a:r>
                        <a:rPr sz="1200" spc="-10" dirty="0">
                          <a:latin typeface="Arial"/>
                          <a:cs typeface="Arial"/>
                        </a:rPr>
                        <a:t>cloud</a:t>
                      </a:r>
                      <a:endParaRPr sz="1200">
                        <a:latin typeface="Arial"/>
                        <a:cs typeface="Arial"/>
                      </a:endParaRPr>
                    </a:p>
                  </a:txBody>
                  <a:tcPr marL="0" marR="0" marT="18415" marB="0">
                    <a:lnB w="57150">
                      <a:solidFill>
                        <a:srgbClr val="FFFFFF"/>
                      </a:solidFill>
                      <a:prstDash val="solid"/>
                    </a:lnB>
                    <a:solidFill>
                      <a:srgbClr val="E8EDF7"/>
                    </a:solidFill>
                  </a:tcPr>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B w="57150">
                      <a:solidFill>
                        <a:srgbClr val="FFFFFF"/>
                      </a:solidFill>
                      <a:prstDash val="solid"/>
                    </a:lnB>
                  </a:tcPr>
                </a:tc>
                <a:extLst>
                  <a:ext uri="{0D108BD9-81ED-4DB2-BD59-A6C34878D82A}">
                    <a16:rowId xmlns:a16="http://schemas.microsoft.com/office/drawing/2014/main" val="10000"/>
                  </a:ext>
                </a:extLst>
              </a:tr>
              <a:tr h="304165">
                <a:tc>
                  <a:txBody>
                    <a:bodyPr/>
                    <a:lstStyle/>
                    <a:p>
                      <a:pPr marL="98425">
                        <a:lnSpc>
                          <a:spcPct val="100000"/>
                        </a:lnSpc>
                        <a:spcBef>
                          <a:spcPts val="305"/>
                        </a:spcBef>
                      </a:pPr>
                      <a:r>
                        <a:rPr sz="1200" dirty="0">
                          <a:latin typeface="Arial"/>
                          <a:cs typeface="Arial"/>
                        </a:rPr>
                        <a:t>Private</a:t>
                      </a:r>
                      <a:r>
                        <a:rPr sz="1200" spc="135" dirty="0">
                          <a:latin typeface="Arial"/>
                          <a:cs typeface="Arial"/>
                        </a:rPr>
                        <a:t> </a:t>
                      </a:r>
                      <a:r>
                        <a:rPr sz="1200" spc="-10" dirty="0">
                          <a:latin typeface="Arial"/>
                          <a:cs typeface="Arial"/>
                        </a:rPr>
                        <a:t>cloud</a:t>
                      </a:r>
                      <a:endParaRPr sz="1200">
                        <a:latin typeface="Arial"/>
                        <a:cs typeface="Arial"/>
                      </a:endParaRPr>
                    </a:p>
                  </a:txBody>
                  <a:tcPr marL="0" marR="0" marT="38735" marB="0">
                    <a:lnT w="57150">
                      <a:solidFill>
                        <a:srgbClr val="FFFFFF"/>
                      </a:solidFill>
                      <a:prstDash val="solid"/>
                    </a:lnT>
                    <a:lnB w="76200">
                      <a:solidFill>
                        <a:srgbClr val="FFFFFF"/>
                      </a:solidFill>
                      <a:prstDash val="solid"/>
                    </a:lnB>
                    <a:solidFill>
                      <a:srgbClr val="E8EDF7"/>
                    </a:solidFill>
                  </a:tcPr>
                </a:tc>
                <a:tc gridSpan="2">
                  <a:txBody>
                    <a:bodyPr/>
                    <a:lstStyle/>
                    <a:p>
                      <a:pPr>
                        <a:lnSpc>
                          <a:spcPct val="100000"/>
                        </a:lnSpc>
                      </a:pPr>
                      <a:endParaRPr sz="1200">
                        <a:latin typeface="Times New Roman"/>
                        <a:cs typeface="Times New Roman"/>
                      </a:endParaRPr>
                    </a:p>
                  </a:txBody>
                  <a:tcPr marL="0" marR="0" marT="0" marB="0">
                    <a:lnT w="57150">
                      <a:solidFill>
                        <a:srgbClr val="FFFFFF"/>
                      </a:solidFill>
                      <a:prstDash val="solid"/>
                    </a:lnT>
                    <a:lnB w="76200">
                      <a:solidFill>
                        <a:srgbClr val="FFFFFF"/>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296545">
                <a:tc gridSpan="3">
                  <a:txBody>
                    <a:bodyPr/>
                    <a:lstStyle/>
                    <a:p>
                      <a:pPr marL="92710">
                        <a:lnSpc>
                          <a:spcPct val="100000"/>
                        </a:lnSpc>
                        <a:spcBef>
                          <a:spcPts val="390"/>
                        </a:spcBef>
                      </a:pPr>
                      <a:r>
                        <a:rPr sz="1200" dirty="0">
                          <a:latin typeface="Arial"/>
                          <a:cs typeface="Arial"/>
                        </a:rPr>
                        <a:t>Community</a:t>
                      </a:r>
                      <a:r>
                        <a:rPr sz="1200" spc="210" dirty="0">
                          <a:latin typeface="Arial"/>
                          <a:cs typeface="Arial"/>
                        </a:rPr>
                        <a:t> </a:t>
                      </a:r>
                      <a:r>
                        <a:rPr sz="1200" spc="-20" dirty="0">
                          <a:latin typeface="Arial"/>
                          <a:cs typeface="Arial"/>
                        </a:rPr>
                        <a:t>cloud</a:t>
                      </a:r>
                      <a:endParaRPr sz="1200">
                        <a:latin typeface="Arial"/>
                        <a:cs typeface="Arial"/>
                      </a:endParaRPr>
                    </a:p>
                  </a:txBody>
                  <a:tcPr marL="0" marR="0" marT="49530" marB="0">
                    <a:lnT w="76200">
                      <a:solidFill>
                        <a:srgbClr val="FFFFFF"/>
                      </a:solidFill>
                      <a:prstDash val="solid"/>
                    </a:lnT>
                    <a:lnB w="57150">
                      <a:solidFill>
                        <a:srgbClr val="FFFFFF"/>
                      </a:solidFill>
                      <a:prstDash val="solid"/>
                    </a:lnB>
                    <a:solidFill>
                      <a:srgbClr val="E8EDF7"/>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70510">
                <a:tc gridSpan="2">
                  <a:txBody>
                    <a:bodyPr/>
                    <a:lstStyle/>
                    <a:p>
                      <a:pPr marL="149225">
                        <a:lnSpc>
                          <a:spcPct val="100000"/>
                        </a:lnSpc>
                        <a:spcBef>
                          <a:spcPts val="334"/>
                        </a:spcBef>
                      </a:pPr>
                      <a:r>
                        <a:rPr sz="1200" dirty="0">
                          <a:latin typeface="Arial"/>
                          <a:cs typeface="Arial"/>
                        </a:rPr>
                        <a:t>Hybrid</a:t>
                      </a:r>
                      <a:r>
                        <a:rPr sz="1200" spc="130" dirty="0">
                          <a:latin typeface="Arial"/>
                          <a:cs typeface="Arial"/>
                        </a:rPr>
                        <a:t> </a:t>
                      </a:r>
                      <a:r>
                        <a:rPr sz="1200" spc="-10" dirty="0">
                          <a:latin typeface="Arial"/>
                          <a:cs typeface="Arial"/>
                        </a:rPr>
                        <a:t>cloud</a:t>
                      </a:r>
                      <a:endParaRPr sz="1200">
                        <a:latin typeface="Arial"/>
                        <a:cs typeface="Arial"/>
                      </a:endParaRPr>
                    </a:p>
                  </a:txBody>
                  <a:tcPr marL="0" marR="0" marT="42544" marB="0">
                    <a:lnT w="57150">
                      <a:solidFill>
                        <a:srgbClr val="FFFFFF"/>
                      </a:solidFill>
                      <a:prstDash val="solid"/>
                    </a:lnT>
                    <a:solidFill>
                      <a:srgbClr val="E8EDF7"/>
                    </a:solidFill>
                  </a:tcPr>
                </a:tc>
                <a:tc hMerge="1">
                  <a:txBody>
                    <a:bodyPr/>
                    <a:lstStyle/>
                    <a:p>
                      <a:endParaRPr/>
                    </a:p>
                  </a:txBody>
                  <a:tcPr marL="0" marR="0" marT="0" marB="0"/>
                </a:tc>
                <a:tc>
                  <a:txBody>
                    <a:bodyPr/>
                    <a:lstStyle/>
                    <a:p>
                      <a:pPr>
                        <a:lnSpc>
                          <a:spcPct val="100000"/>
                        </a:lnSpc>
                      </a:pPr>
                      <a:endParaRPr sz="1200" dirty="0">
                        <a:latin typeface="Times New Roman"/>
                        <a:cs typeface="Times New Roman"/>
                      </a:endParaRPr>
                    </a:p>
                  </a:txBody>
                  <a:tcPr marL="0" marR="0" marT="0" marB="0">
                    <a:lnT w="57150">
                      <a:solidFill>
                        <a:srgbClr val="FFFFFF"/>
                      </a:solidFill>
                      <a:prstDash val="solid"/>
                    </a:lnT>
                  </a:tcPr>
                </a:tc>
                <a:extLst>
                  <a:ext uri="{0D108BD9-81ED-4DB2-BD59-A6C34878D82A}">
                    <a16:rowId xmlns:a16="http://schemas.microsoft.com/office/drawing/2014/main" val="10003"/>
                  </a:ext>
                </a:extLst>
              </a:tr>
            </a:tbl>
          </a:graphicData>
        </a:graphic>
      </p:graphicFrame>
      <p:grpSp>
        <p:nvGrpSpPr>
          <p:cNvPr id="14" name="object 14"/>
          <p:cNvGrpSpPr/>
          <p:nvPr/>
        </p:nvGrpSpPr>
        <p:grpSpPr>
          <a:xfrm>
            <a:off x="5834456" y="3778166"/>
            <a:ext cx="2721610" cy="1725930"/>
            <a:chOff x="5834456" y="3778166"/>
            <a:chExt cx="2721610" cy="1725930"/>
          </a:xfrm>
        </p:grpSpPr>
        <p:sp>
          <p:nvSpPr>
            <p:cNvPr id="15" name="object 15"/>
            <p:cNvSpPr/>
            <p:nvPr/>
          </p:nvSpPr>
          <p:spPr>
            <a:xfrm>
              <a:off x="5836044" y="3779754"/>
              <a:ext cx="2718435" cy="1722755"/>
            </a:xfrm>
            <a:custGeom>
              <a:avLst/>
              <a:gdLst/>
              <a:ahLst/>
              <a:cxnLst/>
              <a:rect l="l" t="t" r="r" b="b"/>
              <a:pathLst>
                <a:path w="2718434" h="1722754">
                  <a:moveTo>
                    <a:pt x="1358956" y="0"/>
                  </a:moveTo>
                  <a:lnTo>
                    <a:pt x="1300009" y="795"/>
                  </a:lnTo>
                  <a:lnTo>
                    <a:pt x="1241703" y="3160"/>
                  </a:lnTo>
                  <a:lnTo>
                    <a:pt x="1184089" y="7063"/>
                  </a:lnTo>
                  <a:lnTo>
                    <a:pt x="1127219" y="12471"/>
                  </a:lnTo>
                  <a:lnTo>
                    <a:pt x="1071142" y="19351"/>
                  </a:lnTo>
                  <a:lnTo>
                    <a:pt x="1015912" y="27672"/>
                  </a:lnTo>
                  <a:lnTo>
                    <a:pt x="961577" y="37401"/>
                  </a:lnTo>
                  <a:lnTo>
                    <a:pt x="908190" y="48506"/>
                  </a:lnTo>
                  <a:lnTo>
                    <a:pt x="855801" y="60955"/>
                  </a:lnTo>
                  <a:lnTo>
                    <a:pt x="804461" y="74714"/>
                  </a:lnTo>
                  <a:lnTo>
                    <a:pt x="754222" y="89753"/>
                  </a:lnTo>
                  <a:lnTo>
                    <a:pt x="705134" y="106037"/>
                  </a:lnTo>
                  <a:lnTo>
                    <a:pt x="657248" y="123537"/>
                  </a:lnTo>
                  <a:lnTo>
                    <a:pt x="610615" y="142218"/>
                  </a:lnTo>
                  <a:lnTo>
                    <a:pt x="565287" y="162048"/>
                  </a:lnTo>
                  <a:lnTo>
                    <a:pt x="521314" y="182996"/>
                  </a:lnTo>
                  <a:lnTo>
                    <a:pt x="478747" y="205029"/>
                  </a:lnTo>
                  <a:lnTo>
                    <a:pt x="437637" y="228115"/>
                  </a:lnTo>
                  <a:lnTo>
                    <a:pt x="398036" y="252221"/>
                  </a:lnTo>
                  <a:lnTo>
                    <a:pt x="359994" y="277315"/>
                  </a:lnTo>
                  <a:lnTo>
                    <a:pt x="323562" y="303365"/>
                  </a:lnTo>
                  <a:lnTo>
                    <a:pt x="288791" y="330338"/>
                  </a:lnTo>
                  <a:lnTo>
                    <a:pt x="255733" y="358202"/>
                  </a:lnTo>
                  <a:lnTo>
                    <a:pt x="224437" y="386925"/>
                  </a:lnTo>
                  <a:lnTo>
                    <a:pt x="194956" y="416474"/>
                  </a:lnTo>
                  <a:lnTo>
                    <a:pt x="167340" y="446818"/>
                  </a:lnTo>
                  <a:lnTo>
                    <a:pt x="141641" y="477923"/>
                  </a:lnTo>
                  <a:lnTo>
                    <a:pt x="117908" y="509758"/>
                  </a:lnTo>
                  <a:lnTo>
                    <a:pt x="96194" y="542291"/>
                  </a:lnTo>
                  <a:lnTo>
                    <a:pt x="76549" y="575488"/>
                  </a:lnTo>
                  <a:lnTo>
                    <a:pt x="43671" y="643747"/>
                  </a:lnTo>
                  <a:lnTo>
                    <a:pt x="19681" y="714278"/>
                  </a:lnTo>
                  <a:lnTo>
                    <a:pt x="4988" y="786823"/>
                  </a:lnTo>
                  <a:lnTo>
                    <a:pt x="0" y="861122"/>
                  </a:lnTo>
                  <a:lnTo>
                    <a:pt x="1265" y="898482"/>
                  </a:lnTo>
                  <a:lnTo>
                    <a:pt x="11173" y="971949"/>
                  </a:lnTo>
                  <a:lnTo>
                    <a:pt x="30579" y="1043532"/>
                  </a:lnTo>
                  <a:lnTo>
                    <a:pt x="59073" y="1112971"/>
                  </a:lnTo>
                  <a:lnTo>
                    <a:pt x="76602" y="1146806"/>
                  </a:lnTo>
                  <a:lnTo>
                    <a:pt x="96250" y="1180008"/>
                  </a:lnTo>
                  <a:lnTo>
                    <a:pt x="117967" y="1212545"/>
                  </a:lnTo>
                  <a:lnTo>
                    <a:pt x="141701" y="1244385"/>
                  </a:lnTo>
                  <a:lnTo>
                    <a:pt x="167403" y="1275494"/>
                  </a:lnTo>
                  <a:lnTo>
                    <a:pt x="195020" y="1305842"/>
                  </a:lnTo>
                  <a:lnTo>
                    <a:pt x="224502" y="1335396"/>
                  </a:lnTo>
                  <a:lnTo>
                    <a:pt x="255798" y="1364122"/>
                  </a:lnTo>
                  <a:lnTo>
                    <a:pt x="288856" y="1391990"/>
                  </a:lnTo>
                  <a:lnTo>
                    <a:pt x="323627" y="1418967"/>
                  </a:lnTo>
                  <a:lnTo>
                    <a:pt x="360059" y="1445019"/>
                  </a:lnTo>
                  <a:lnTo>
                    <a:pt x="398101" y="1470116"/>
                  </a:lnTo>
                  <a:lnTo>
                    <a:pt x="437703" y="1494225"/>
                  </a:lnTo>
                  <a:lnTo>
                    <a:pt x="478813" y="1517313"/>
                  </a:lnTo>
                  <a:lnTo>
                    <a:pt x="521380" y="1539349"/>
                  </a:lnTo>
                  <a:lnTo>
                    <a:pt x="565353" y="1560299"/>
                  </a:lnTo>
                  <a:lnTo>
                    <a:pt x="610682" y="1580132"/>
                  </a:lnTo>
                  <a:lnTo>
                    <a:pt x="657316" y="1598815"/>
                  </a:lnTo>
                  <a:lnTo>
                    <a:pt x="705203" y="1616315"/>
                  </a:lnTo>
                  <a:lnTo>
                    <a:pt x="754292" y="1632602"/>
                  </a:lnTo>
                  <a:lnTo>
                    <a:pt x="804534" y="1647642"/>
                  </a:lnTo>
                  <a:lnTo>
                    <a:pt x="855876" y="1661402"/>
                  </a:lnTo>
                  <a:lnTo>
                    <a:pt x="908268" y="1673852"/>
                  </a:lnTo>
                  <a:lnTo>
                    <a:pt x="961659" y="1684958"/>
                  </a:lnTo>
                  <a:lnTo>
                    <a:pt x="1015998" y="1694688"/>
                  </a:lnTo>
                  <a:lnTo>
                    <a:pt x="1071234" y="1703009"/>
                  </a:lnTo>
                  <a:lnTo>
                    <a:pt x="1127316" y="1709890"/>
                  </a:lnTo>
                  <a:lnTo>
                    <a:pt x="1184194" y="1715298"/>
                  </a:lnTo>
                  <a:lnTo>
                    <a:pt x="1241815" y="1719201"/>
                  </a:lnTo>
                  <a:lnTo>
                    <a:pt x="1300130" y="1721567"/>
                  </a:lnTo>
                  <a:lnTo>
                    <a:pt x="1359087" y="1722362"/>
                  </a:lnTo>
                  <a:lnTo>
                    <a:pt x="1418034" y="1721567"/>
                  </a:lnTo>
                  <a:lnTo>
                    <a:pt x="1476339" y="1719201"/>
                  </a:lnTo>
                  <a:lnTo>
                    <a:pt x="1533952" y="1715298"/>
                  </a:lnTo>
                  <a:lnTo>
                    <a:pt x="1590820" y="1709890"/>
                  </a:lnTo>
                  <a:lnTo>
                    <a:pt x="1646894" y="1703009"/>
                  </a:lnTo>
                  <a:lnTo>
                    <a:pt x="1702122" y="1694688"/>
                  </a:lnTo>
                  <a:lnTo>
                    <a:pt x="1756454" y="1684958"/>
                  </a:lnTo>
                  <a:lnTo>
                    <a:pt x="1809838" y="1673852"/>
                  </a:lnTo>
                  <a:lnTo>
                    <a:pt x="1862223" y="1661402"/>
                  </a:lnTo>
                  <a:lnTo>
                    <a:pt x="1913559" y="1647642"/>
                  </a:lnTo>
                  <a:lnTo>
                    <a:pt x="1963794" y="1632602"/>
                  </a:lnTo>
                  <a:lnTo>
                    <a:pt x="2012878" y="1616315"/>
                  </a:lnTo>
                  <a:lnTo>
                    <a:pt x="2060759" y="1598815"/>
                  </a:lnTo>
                  <a:lnTo>
                    <a:pt x="2107387" y="1580132"/>
                  </a:lnTo>
                  <a:lnTo>
                    <a:pt x="2152711" y="1560299"/>
                  </a:lnTo>
                  <a:lnTo>
                    <a:pt x="2196679" y="1539349"/>
                  </a:lnTo>
                  <a:lnTo>
                    <a:pt x="2239241" y="1517313"/>
                  </a:lnTo>
                  <a:lnTo>
                    <a:pt x="2280345" y="1494225"/>
                  </a:lnTo>
                  <a:lnTo>
                    <a:pt x="2319941" y="1470116"/>
                  </a:lnTo>
                  <a:lnTo>
                    <a:pt x="2357978" y="1445019"/>
                  </a:lnTo>
                  <a:lnTo>
                    <a:pt x="2394405" y="1418967"/>
                  </a:lnTo>
                  <a:lnTo>
                    <a:pt x="2429171" y="1391990"/>
                  </a:lnTo>
                  <a:lnTo>
                    <a:pt x="2462224" y="1364122"/>
                  </a:lnTo>
                  <a:lnTo>
                    <a:pt x="2493515" y="1335396"/>
                  </a:lnTo>
                  <a:lnTo>
                    <a:pt x="2522991" y="1305842"/>
                  </a:lnTo>
                  <a:lnTo>
                    <a:pt x="2550602" y="1275494"/>
                  </a:lnTo>
                  <a:lnTo>
                    <a:pt x="2576297" y="1244385"/>
                  </a:lnTo>
                  <a:lnTo>
                    <a:pt x="2600026" y="1212545"/>
                  </a:lnTo>
                  <a:lnTo>
                    <a:pt x="2621736" y="1180008"/>
                  </a:lnTo>
                  <a:lnTo>
                    <a:pt x="2641377" y="1146806"/>
                  </a:lnTo>
                  <a:lnTo>
                    <a:pt x="2658899" y="1112971"/>
                  </a:lnTo>
                  <a:lnTo>
                    <a:pt x="2687379" y="1043532"/>
                  </a:lnTo>
                  <a:lnTo>
                    <a:pt x="2706767" y="971949"/>
                  </a:lnTo>
                  <a:lnTo>
                    <a:pt x="2716657" y="898482"/>
                  </a:lnTo>
                  <a:lnTo>
                    <a:pt x="2717912" y="861122"/>
                  </a:lnTo>
                  <a:lnTo>
                    <a:pt x="2716657" y="823769"/>
                  </a:lnTo>
                  <a:lnTo>
                    <a:pt x="2706767" y="750315"/>
                  </a:lnTo>
                  <a:lnTo>
                    <a:pt x="2687378" y="678745"/>
                  </a:lnTo>
                  <a:lnTo>
                    <a:pt x="2658898" y="609317"/>
                  </a:lnTo>
                  <a:lnTo>
                    <a:pt x="2621734" y="542291"/>
                  </a:lnTo>
                  <a:lnTo>
                    <a:pt x="2600023" y="509758"/>
                  </a:lnTo>
                  <a:lnTo>
                    <a:pt x="2576294" y="477923"/>
                  </a:lnTo>
                  <a:lnTo>
                    <a:pt x="2550598" y="446818"/>
                  </a:lnTo>
                  <a:lnTo>
                    <a:pt x="2522986" y="416474"/>
                  </a:lnTo>
                  <a:lnTo>
                    <a:pt x="2493508" y="386925"/>
                  </a:lnTo>
                  <a:lnTo>
                    <a:pt x="2462216" y="358202"/>
                  </a:lnTo>
                  <a:lnTo>
                    <a:pt x="2429161" y="330338"/>
                  </a:lnTo>
                  <a:lnTo>
                    <a:pt x="2394393" y="303365"/>
                  </a:lnTo>
                  <a:lnTo>
                    <a:pt x="2357964" y="277315"/>
                  </a:lnTo>
                  <a:lnTo>
                    <a:pt x="2319925" y="252221"/>
                  </a:lnTo>
                  <a:lnTo>
                    <a:pt x="2280326" y="228115"/>
                  </a:lnTo>
                  <a:lnTo>
                    <a:pt x="2239218" y="205029"/>
                  </a:lnTo>
                  <a:lnTo>
                    <a:pt x="2196653" y="182996"/>
                  </a:lnTo>
                  <a:lnTo>
                    <a:pt x="2152682" y="162048"/>
                  </a:lnTo>
                  <a:lnTo>
                    <a:pt x="2107354" y="142218"/>
                  </a:lnTo>
                  <a:lnTo>
                    <a:pt x="2060722" y="123537"/>
                  </a:lnTo>
                  <a:lnTo>
                    <a:pt x="2012836" y="106037"/>
                  </a:lnTo>
                  <a:lnTo>
                    <a:pt x="1963747" y="89753"/>
                  </a:lnTo>
                  <a:lnTo>
                    <a:pt x="1913506" y="74714"/>
                  </a:lnTo>
                  <a:lnTo>
                    <a:pt x="1862165" y="60955"/>
                  </a:lnTo>
                  <a:lnTo>
                    <a:pt x="1809773" y="48506"/>
                  </a:lnTo>
                  <a:lnTo>
                    <a:pt x="1756383" y="37401"/>
                  </a:lnTo>
                  <a:lnTo>
                    <a:pt x="1702044" y="27672"/>
                  </a:lnTo>
                  <a:lnTo>
                    <a:pt x="1646808" y="19351"/>
                  </a:lnTo>
                  <a:lnTo>
                    <a:pt x="1590726" y="12471"/>
                  </a:lnTo>
                  <a:lnTo>
                    <a:pt x="1533849" y="7063"/>
                  </a:lnTo>
                  <a:lnTo>
                    <a:pt x="1476228" y="3160"/>
                  </a:lnTo>
                  <a:lnTo>
                    <a:pt x="1417913" y="795"/>
                  </a:lnTo>
                  <a:lnTo>
                    <a:pt x="1358956" y="0"/>
                  </a:lnTo>
                  <a:close/>
                </a:path>
              </a:pathLst>
            </a:custGeom>
            <a:solidFill>
              <a:srgbClr val="D7D7D7"/>
            </a:solidFill>
          </p:spPr>
          <p:txBody>
            <a:bodyPr wrap="square" lIns="0" tIns="0" rIns="0" bIns="0" rtlCol="0"/>
            <a:lstStyle/>
            <a:p>
              <a:endParaRPr/>
            </a:p>
          </p:txBody>
        </p:sp>
        <p:sp>
          <p:nvSpPr>
            <p:cNvPr id="16" name="object 16"/>
            <p:cNvSpPr/>
            <p:nvPr/>
          </p:nvSpPr>
          <p:spPr>
            <a:xfrm>
              <a:off x="5836044" y="3779754"/>
              <a:ext cx="2718435" cy="1722755"/>
            </a:xfrm>
            <a:custGeom>
              <a:avLst/>
              <a:gdLst/>
              <a:ahLst/>
              <a:cxnLst/>
              <a:rect l="l" t="t" r="r" b="b"/>
              <a:pathLst>
                <a:path w="2718434" h="1722754">
                  <a:moveTo>
                    <a:pt x="0" y="861122"/>
                  </a:moveTo>
                  <a:lnTo>
                    <a:pt x="4988" y="786823"/>
                  </a:lnTo>
                  <a:lnTo>
                    <a:pt x="19681" y="714278"/>
                  </a:lnTo>
                  <a:lnTo>
                    <a:pt x="43671" y="643747"/>
                  </a:lnTo>
                  <a:lnTo>
                    <a:pt x="76549" y="575488"/>
                  </a:lnTo>
                  <a:lnTo>
                    <a:pt x="96194" y="542291"/>
                  </a:lnTo>
                  <a:lnTo>
                    <a:pt x="117908" y="509758"/>
                  </a:lnTo>
                  <a:lnTo>
                    <a:pt x="141641" y="477923"/>
                  </a:lnTo>
                  <a:lnTo>
                    <a:pt x="167340" y="446818"/>
                  </a:lnTo>
                  <a:lnTo>
                    <a:pt x="194956" y="416474"/>
                  </a:lnTo>
                  <a:lnTo>
                    <a:pt x="224437" y="386925"/>
                  </a:lnTo>
                  <a:lnTo>
                    <a:pt x="255733" y="358202"/>
                  </a:lnTo>
                  <a:lnTo>
                    <a:pt x="288791" y="330338"/>
                  </a:lnTo>
                  <a:lnTo>
                    <a:pt x="323562" y="303365"/>
                  </a:lnTo>
                  <a:lnTo>
                    <a:pt x="359994" y="277315"/>
                  </a:lnTo>
                  <a:lnTo>
                    <a:pt x="398036" y="252221"/>
                  </a:lnTo>
                  <a:lnTo>
                    <a:pt x="437637" y="228115"/>
                  </a:lnTo>
                  <a:lnTo>
                    <a:pt x="478747" y="205029"/>
                  </a:lnTo>
                  <a:lnTo>
                    <a:pt x="521314" y="182996"/>
                  </a:lnTo>
                  <a:lnTo>
                    <a:pt x="565287" y="162048"/>
                  </a:lnTo>
                  <a:lnTo>
                    <a:pt x="610615" y="142218"/>
                  </a:lnTo>
                  <a:lnTo>
                    <a:pt x="657248" y="123537"/>
                  </a:lnTo>
                  <a:lnTo>
                    <a:pt x="705134" y="106037"/>
                  </a:lnTo>
                  <a:lnTo>
                    <a:pt x="754222" y="89753"/>
                  </a:lnTo>
                  <a:lnTo>
                    <a:pt x="804461" y="74714"/>
                  </a:lnTo>
                  <a:lnTo>
                    <a:pt x="855801" y="60955"/>
                  </a:lnTo>
                  <a:lnTo>
                    <a:pt x="908190" y="48506"/>
                  </a:lnTo>
                  <a:lnTo>
                    <a:pt x="961577" y="37401"/>
                  </a:lnTo>
                  <a:lnTo>
                    <a:pt x="1015912" y="27672"/>
                  </a:lnTo>
                  <a:lnTo>
                    <a:pt x="1071142" y="19351"/>
                  </a:lnTo>
                  <a:lnTo>
                    <a:pt x="1127219" y="12471"/>
                  </a:lnTo>
                  <a:lnTo>
                    <a:pt x="1184089" y="7063"/>
                  </a:lnTo>
                  <a:lnTo>
                    <a:pt x="1241703" y="3160"/>
                  </a:lnTo>
                  <a:lnTo>
                    <a:pt x="1300009" y="795"/>
                  </a:lnTo>
                  <a:lnTo>
                    <a:pt x="1358956" y="0"/>
                  </a:lnTo>
                  <a:lnTo>
                    <a:pt x="1417913" y="795"/>
                  </a:lnTo>
                  <a:lnTo>
                    <a:pt x="1476228" y="3160"/>
                  </a:lnTo>
                  <a:lnTo>
                    <a:pt x="1533849" y="7063"/>
                  </a:lnTo>
                  <a:lnTo>
                    <a:pt x="1590726" y="12471"/>
                  </a:lnTo>
                  <a:lnTo>
                    <a:pt x="1646808" y="19351"/>
                  </a:lnTo>
                  <a:lnTo>
                    <a:pt x="1702044" y="27672"/>
                  </a:lnTo>
                  <a:lnTo>
                    <a:pt x="1756383" y="37401"/>
                  </a:lnTo>
                  <a:lnTo>
                    <a:pt x="1809773" y="48506"/>
                  </a:lnTo>
                  <a:lnTo>
                    <a:pt x="1862165" y="60955"/>
                  </a:lnTo>
                  <a:lnTo>
                    <a:pt x="1913507" y="74714"/>
                  </a:lnTo>
                  <a:lnTo>
                    <a:pt x="1963747" y="89753"/>
                  </a:lnTo>
                  <a:lnTo>
                    <a:pt x="2012836" y="106037"/>
                  </a:lnTo>
                  <a:lnTo>
                    <a:pt x="2060722" y="123537"/>
                  </a:lnTo>
                  <a:lnTo>
                    <a:pt x="2107354" y="142218"/>
                  </a:lnTo>
                  <a:lnTo>
                    <a:pt x="2152682" y="162048"/>
                  </a:lnTo>
                  <a:lnTo>
                    <a:pt x="2196653" y="182996"/>
                  </a:lnTo>
                  <a:lnTo>
                    <a:pt x="2239219" y="205029"/>
                  </a:lnTo>
                  <a:lnTo>
                    <a:pt x="2280326" y="228115"/>
                  </a:lnTo>
                  <a:lnTo>
                    <a:pt x="2319925" y="252221"/>
                  </a:lnTo>
                  <a:lnTo>
                    <a:pt x="2357964" y="277315"/>
                  </a:lnTo>
                  <a:lnTo>
                    <a:pt x="2394393" y="303365"/>
                  </a:lnTo>
                  <a:lnTo>
                    <a:pt x="2429161" y="330338"/>
                  </a:lnTo>
                  <a:lnTo>
                    <a:pt x="2462216" y="358202"/>
                  </a:lnTo>
                  <a:lnTo>
                    <a:pt x="2493508" y="386925"/>
                  </a:lnTo>
                  <a:lnTo>
                    <a:pt x="2522986" y="416474"/>
                  </a:lnTo>
                  <a:lnTo>
                    <a:pt x="2550598" y="446818"/>
                  </a:lnTo>
                  <a:lnTo>
                    <a:pt x="2576294" y="477923"/>
                  </a:lnTo>
                  <a:lnTo>
                    <a:pt x="2600023" y="509758"/>
                  </a:lnTo>
                  <a:lnTo>
                    <a:pt x="2621734" y="542291"/>
                  </a:lnTo>
                  <a:lnTo>
                    <a:pt x="2641376" y="575488"/>
                  </a:lnTo>
                  <a:lnTo>
                    <a:pt x="2674249" y="643747"/>
                  </a:lnTo>
                  <a:lnTo>
                    <a:pt x="2698235" y="714278"/>
                  </a:lnTo>
                  <a:lnTo>
                    <a:pt x="2712925" y="786823"/>
                  </a:lnTo>
                  <a:lnTo>
                    <a:pt x="2717912" y="861122"/>
                  </a:lnTo>
                  <a:lnTo>
                    <a:pt x="2716657" y="898482"/>
                  </a:lnTo>
                  <a:lnTo>
                    <a:pt x="2712925" y="935435"/>
                  </a:lnTo>
                  <a:lnTo>
                    <a:pt x="2698235" y="1007992"/>
                  </a:lnTo>
                  <a:lnTo>
                    <a:pt x="2674250" y="1078536"/>
                  </a:lnTo>
                  <a:lnTo>
                    <a:pt x="2641378" y="1146806"/>
                  </a:lnTo>
                  <a:lnTo>
                    <a:pt x="2621736" y="1180008"/>
                  </a:lnTo>
                  <a:lnTo>
                    <a:pt x="2600026" y="1212545"/>
                  </a:lnTo>
                  <a:lnTo>
                    <a:pt x="2576297" y="1244385"/>
                  </a:lnTo>
                  <a:lnTo>
                    <a:pt x="2550602" y="1275494"/>
                  </a:lnTo>
                  <a:lnTo>
                    <a:pt x="2522991" y="1305842"/>
                  </a:lnTo>
                  <a:lnTo>
                    <a:pt x="2493515" y="1335396"/>
                  </a:lnTo>
                  <a:lnTo>
                    <a:pt x="2462224" y="1364122"/>
                  </a:lnTo>
                  <a:lnTo>
                    <a:pt x="2429171" y="1391990"/>
                  </a:lnTo>
                  <a:lnTo>
                    <a:pt x="2394405" y="1418967"/>
                  </a:lnTo>
                  <a:lnTo>
                    <a:pt x="2357978" y="1445019"/>
                  </a:lnTo>
                  <a:lnTo>
                    <a:pt x="2319941" y="1470116"/>
                  </a:lnTo>
                  <a:lnTo>
                    <a:pt x="2280345" y="1494225"/>
                  </a:lnTo>
                  <a:lnTo>
                    <a:pt x="2239241" y="1517313"/>
                  </a:lnTo>
                  <a:lnTo>
                    <a:pt x="2196679" y="1539349"/>
                  </a:lnTo>
                  <a:lnTo>
                    <a:pt x="2152711" y="1560299"/>
                  </a:lnTo>
                  <a:lnTo>
                    <a:pt x="2107387" y="1580132"/>
                  </a:lnTo>
                  <a:lnTo>
                    <a:pt x="2060759" y="1598815"/>
                  </a:lnTo>
                  <a:lnTo>
                    <a:pt x="2012878" y="1616315"/>
                  </a:lnTo>
                  <a:lnTo>
                    <a:pt x="1963794" y="1632602"/>
                  </a:lnTo>
                  <a:lnTo>
                    <a:pt x="1913559" y="1647642"/>
                  </a:lnTo>
                  <a:lnTo>
                    <a:pt x="1862223" y="1661402"/>
                  </a:lnTo>
                  <a:lnTo>
                    <a:pt x="1809838" y="1673852"/>
                  </a:lnTo>
                  <a:lnTo>
                    <a:pt x="1756454" y="1684958"/>
                  </a:lnTo>
                  <a:lnTo>
                    <a:pt x="1702122" y="1694687"/>
                  </a:lnTo>
                  <a:lnTo>
                    <a:pt x="1646894" y="1703009"/>
                  </a:lnTo>
                  <a:lnTo>
                    <a:pt x="1590820" y="1709890"/>
                  </a:lnTo>
                  <a:lnTo>
                    <a:pt x="1533952" y="1715298"/>
                  </a:lnTo>
                  <a:lnTo>
                    <a:pt x="1476339" y="1719201"/>
                  </a:lnTo>
                  <a:lnTo>
                    <a:pt x="1418034" y="1721567"/>
                  </a:lnTo>
                  <a:lnTo>
                    <a:pt x="1359087" y="1722362"/>
                  </a:lnTo>
                  <a:lnTo>
                    <a:pt x="1300130" y="1721567"/>
                  </a:lnTo>
                  <a:lnTo>
                    <a:pt x="1241815" y="1719201"/>
                  </a:lnTo>
                  <a:lnTo>
                    <a:pt x="1184194" y="1715298"/>
                  </a:lnTo>
                  <a:lnTo>
                    <a:pt x="1127317" y="1709890"/>
                  </a:lnTo>
                  <a:lnTo>
                    <a:pt x="1071234" y="1703009"/>
                  </a:lnTo>
                  <a:lnTo>
                    <a:pt x="1015998" y="1694687"/>
                  </a:lnTo>
                  <a:lnTo>
                    <a:pt x="961659" y="1684958"/>
                  </a:lnTo>
                  <a:lnTo>
                    <a:pt x="908268" y="1673852"/>
                  </a:lnTo>
                  <a:lnTo>
                    <a:pt x="855876" y="1661402"/>
                  </a:lnTo>
                  <a:lnTo>
                    <a:pt x="804534" y="1647642"/>
                  </a:lnTo>
                  <a:lnTo>
                    <a:pt x="754292" y="1632602"/>
                  </a:lnTo>
                  <a:lnTo>
                    <a:pt x="705203" y="1616315"/>
                  </a:lnTo>
                  <a:lnTo>
                    <a:pt x="657316" y="1598815"/>
                  </a:lnTo>
                  <a:lnTo>
                    <a:pt x="610682" y="1580132"/>
                  </a:lnTo>
                  <a:lnTo>
                    <a:pt x="565353" y="1560299"/>
                  </a:lnTo>
                  <a:lnTo>
                    <a:pt x="521380" y="1539349"/>
                  </a:lnTo>
                  <a:lnTo>
                    <a:pt x="478813" y="1517313"/>
                  </a:lnTo>
                  <a:lnTo>
                    <a:pt x="437703" y="1494225"/>
                  </a:lnTo>
                  <a:lnTo>
                    <a:pt x="398101" y="1470116"/>
                  </a:lnTo>
                  <a:lnTo>
                    <a:pt x="360059" y="1445019"/>
                  </a:lnTo>
                  <a:lnTo>
                    <a:pt x="323627" y="1418967"/>
                  </a:lnTo>
                  <a:lnTo>
                    <a:pt x="288856" y="1391990"/>
                  </a:lnTo>
                  <a:lnTo>
                    <a:pt x="255798" y="1364122"/>
                  </a:lnTo>
                  <a:lnTo>
                    <a:pt x="224502" y="1335396"/>
                  </a:lnTo>
                  <a:lnTo>
                    <a:pt x="195020" y="1305842"/>
                  </a:lnTo>
                  <a:lnTo>
                    <a:pt x="167403" y="1275494"/>
                  </a:lnTo>
                  <a:lnTo>
                    <a:pt x="141701" y="1244385"/>
                  </a:lnTo>
                  <a:lnTo>
                    <a:pt x="117967" y="1212545"/>
                  </a:lnTo>
                  <a:lnTo>
                    <a:pt x="96250" y="1180008"/>
                  </a:lnTo>
                  <a:lnTo>
                    <a:pt x="76602" y="1146806"/>
                  </a:lnTo>
                  <a:lnTo>
                    <a:pt x="59073" y="1112971"/>
                  </a:lnTo>
                  <a:lnTo>
                    <a:pt x="30579" y="1043532"/>
                  </a:lnTo>
                  <a:lnTo>
                    <a:pt x="11173" y="971949"/>
                  </a:lnTo>
                  <a:lnTo>
                    <a:pt x="1265" y="898482"/>
                  </a:lnTo>
                  <a:lnTo>
                    <a:pt x="0" y="861122"/>
                  </a:lnTo>
                  <a:close/>
                </a:path>
              </a:pathLst>
            </a:custGeom>
            <a:ln w="3175">
              <a:solidFill>
                <a:srgbClr val="000000"/>
              </a:solidFill>
            </a:ln>
          </p:spPr>
          <p:txBody>
            <a:bodyPr wrap="square" lIns="0" tIns="0" rIns="0" bIns="0" rtlCol="0"/>
            <a:lstStyle/>
            <a:p>
              <a:endParaRPr/>
            </a:p>
          </p:txBody>
        </p:sp>
      </p:grpSp>
      <p:sp>
        <p:nvSpPr>
          <p:cNvPr id="17" name="object 17"/>
          <p:cNvSpPr txBox="1"/>
          <p:nvPr/>
        </p:nvSpPr>
        <p:spPr>
          <a:xfrm>
            <a:off x="6441636" y="3908785"/>
            <a:ext cx="1507490" cy="246379"/>
          </a:xfrm>
          <a:prstGeom prst="rect">
            <a:avLst/>
          </a:prstGeom>
        </p:spPr>
        <p:txBody>
          <a:bodyPr vert="horz" wrap="square" lIns="0" tIns="12065" rIns="0" bIns="0" rtlCol="0">
            <a:spAutoFit/>
          </a:bodyPr>
          <a:lstStyle/>
          <a:p>
            <a:pPr marL="12700">
              <a:lnSpc>
                <a:spcPct val="100000"/>
              </a:lnSpc>
              <a:spcBef>
                <a:spcPts val="95"/>
              </a:spcBef>
            </a:pPr>
            <a:r>
              <a:rPr sz="1450" u="sng" dirty="0">
                <a:uFill>
                  <a:solidFill>
                    <a:srgbClr val="000000"/>
                  </a:solidFill>
                </a:uFill>
                <a:latin typeface="Arial"/>
                <a:cs typeface="Arial"/>
              </a:rPr>
              <a:t>Defining</a:t>
            </a:r>
            <a:r>
              <a:rPr sz="1450" u="sng" spc="-65" dirty="0">
                <a:uFill>
                  <a:solidFill>
                    <a:srgbClr val="000000"/>
                  </a:solidFill>
                </a:uFill>
                <a:latin typeface="Arial"/>
                <a:cs typeface="Arial"/>
              </a:rPr>
              <a:t> </a:t>
            </a:r>
            <a:r>
              <a:rPr sz="1450" u="sng" spc="-10" dirty="0">
                <a:uFill>
                  <a:solidFill>
                    <a:srgbClr val="000000"/>
                  </a:solidFill>
                </a:uFill>
                <a:latin typeface="Arial"/>
                <a:cs typeface="Arial"/>
              </a:rPr>
              <a:t>attributes</a:t>
            </a:r>
            <a:endParaRPr sz="1450">
              <a:latin typeface="Arial"/>
              <a:cs typeface="Arial"/>
            </a:endParaRPr>
          </a:p>
        </p:txBody>
      </p:sp>
      <p:sp>
        <p:nvSpPr>
          <p:cNvPr id="18" name="object 18"/>
          <p:cNvSpPr txBox="1"/>
          <p:nvPr/>
        </p:nvSpPr>
        <p:spPr>
          <a:xfrm>
            <a:off x="6249639" y="4207507"/>
            <a:ext cx="1831975" cy="261620"/>
          </a:xfrm>
          <a:prstGeom prst="rect">
            <a:avLst/>
          </a:prstGeom>
          <a:solidFill>
            <a:srgbClr val="E8EDF7"/>
          </a:solidFill>
        </p:spPr>
        <p:txBody>
          <a:bodyPr vert="horz" wrap="square" lIns="0" tIns="25400" rIns="0" bIns="0" rtlCol="0">
            <a:spAutoFit/>
          </a:bodyPr>
          <a:lstStyle/>
          <a:p>
            <a:pPr marL="144780">
              <a:lnSpc>
                <a:spcPct val="100000"/>
              </a:lnSpc>
              <a:spcBef>
                <a:spcPts val="200"/>
              </a:spcBef>
            </a:pPr>
            <a:r>
              <a:rPr sz="1200" dirty="0">
                <a:latin typeface="Arial"/>
                <a:cs typeface="Arial"/>
              </a:rPr>
              <a:t>Massive</a:t>
            </a:r>
            <a:r>
              <a:rPr sz="1200" spc="160" dirty="0">
                <a:latin typeface="Arial"/>
                <a:cs typeface="Arial"/>
              </a:rPr>
              <a:t> </a:t>
            </a:r>
            <a:r>
              <a:rPr sz="1200" spc="-10" dirty="0">
                <a:latin typeface="Arial"/>
                <a:cs typeface="Arial"/>
              </a:rPr>
              <a:t>infrastructure</a:t>
            </a:r>
            <a:endParaRPr sz="1200">
              <a:latin typeface="Arial"/>
              <a:cs typeface="Arial"/>
            </a:endParaRPr>
          </a:p>
        </p:txBody>
      </p:sp>
      <p:sp>
        <p:nvSpPr>
          <p:cNvPr id="19" name="object 19"/>
          <p:cNvSpPr txBox="1"/>
          <p:nvPr/>
        </p:nvSpPr>
        <p:spPr>
          <a:xfrm>
            <a:off x="6120177" y="4810516"/>
            <a:ext cx="2091055" cy="261620"/>
          </a:xfrm>
          <a:prstGeom prst="rect">
            <a:avLst/>
          </a:prstGeom>
          <a:solidFill>
            <a:srgbClr val="E8EDF7"/>
          </a:solidFill>
        </p:spPr>
        <p:txBody>
          <a:bodyPr vert="horz" wrap="square" lIns="0" tIns="25400" rIns="0" bIns="0" rtlCol="0">
            <a:spAutoFit/>
          </a:bodyPr>
          <a:lstStyle/>
          <a:p>
            <a:pPr marL="125730">
              <a:lnSpc>
                <a:spcPct val="100000"/>
              </a:lnSpc>
              <a:spcBef>
                <a:spcPts val="200"/>
              </a:spcBef>
            </a:pPr>
            <a:r>
              <a:rPr sz="1200" dirty="0">
                <a:latin typeface="Arial"/>
                <a:cs typeface="Arial"/>
              </a:rPr>
              <a:t>Accessible</a:t>
            </a:r>
            <a:r>
              <a:rPr sz="1200" spc="114" dirty="0">
                <a:latin typeface="Arial"/>
                <a:cs typeface="Arial"/>
              </a:rPr>
              <a:t> </a:t>
            </a:r>
            <a:r>
              <a:rPr sz="1200" dirty="0">
                <a:latin typeface="Arial"/>
                <a:cs typeface="Arial"/>
              </a:rPr>
              <a:t>via</a:t>
            </a:r>
            <a:r>
              <a:rPr sz="1200" spc="114" dirty="0">
                <a:latin typeface="Arial"/>
                <a:cs typeface="Arial"/>
              </a:rPr>
              <a:t> </a:t>
            </a:r>
            <a:r>
              <a:rPr sz="1200" dirty="0">
                <a:latin typeface="Arial"/>
                <a:cs typeface="Arial"/>
              </a:rPr>
              <a:t>the</a:t>
            </a:r>
            <a:r>
              <a:rPr sz="1200" spc="114" dirty="0">
                <a:latin typeface="Arial"/>
                <a:cs typeface="Arial"/>
              </a:rPr>
              <a:t> </a:t>
            </a:r>
            <a:r>
              <a:rPr sz="1200" spc="-10" dirty="0">
                <a:latin typeface="Arial"/>
                <a:cs typeface="Arial"/>
              </a:rPr>
              <a:t>Internet</a:t>
            </a:r>
            <a:endParaRPr sz="1200">
              <a:latin typeface="Arial"/>
              <a:cs typeface="Arial"/>
            </a:endParaRPr>
          </a:p>
        </p:txBody>
      </p:sp>
      <p:sp>
        <p:nvSpPr>
          <p:cNvPr id="20" name="object 20"/>
          <p:cNvSpPr txBox="1"/>
          <p:nvPr/>
        </p:nvSpPr>
        <p:spPr>
          <a:xfrm>
            <a:off x="5954214" y="4515251"/>
            <a:ext cx="2386330" cy="261620"/>
          </a:xfrm>
          <a:prstGeom prst="rect">
            <a:avLst/>
          </a:prstGeom>
          <a:solidFill>
            <a:srgbClr val="E8EDF7"/>
          </a:solidFill>
        </p:spPr>
        <p:txBody>
          <a:bodyPr vert="horz" wrap="square" lIns="0" tIns="25400" rIns="0" bIns="0" rtlCol="0">
            <a:spAutoFit/>
          </a:bodyPr>
          <a:lstStyle/>
          <a:p>
            <a:pPr marL="54610">
              <a:lnSpc>
                <a:spcPct val="100000"/>
              </a:lnSpc>
              <a:spcBef>
                <a:spcPts val="200"/>
              </a:spcBef>
            </a:pPr>
            <a:r>
              <a:rPr sz="1200" dirty="0">
                <a:latin typeface="Arial"/>
                <a:cs typeface="Arial"/>
              </a:rPr>
              <a:t>Utility</a:t>
            </a:r>
            <a:r>
              <a:rPr sz="1200" spc="235" dirty="0">
                <a:latin typeface="Arial"/>
                <a:cs typeface="Arial"/>
              </a:rPr>
              <a:t> </a:t>
            </a:r>
            <a:r>
              <a:rPr sz="1200" dirty="0">
                <a:latin typeface="Arial"/>
                <a:cs typeface="Arial"/>
              </a:rPr>
              <a:t>computing.</a:t>
            </a:r>
            <a:r>
              <a:rPr sz="1200" spc="235" dirty="0">
                <a:latin typeface="Arial"/>
                <a:cs typeface="Arial"/>
              </a:rPr>
              <a:t> </a:t>
            </a:r>
            <a:r>
              <a:rPr sz="1200" dirty="0">
                <a:latin typeface="Arial"/>
                <a:cs typeface="Arial"/>
              </a:rPr>
              <a:t>Pay-per-</a:t>
            </a:r>
            <a:r>
              <a:rPr sz="1200" spc="-10" dirty="0">
                <a:latin typeface="Arial"/>
                <a:cs typeface="Arial"/>
              </a:rPr>
              <a:t>usage</a:t>
            </a:r>
            <a:endParaRPr sz="1200">
              <a:latin typeface="Arial"/>
              <a:cs typeface="Arial"/>
            </a:endParaRPr>
          </a:p>
        </p:txBody>
      </p:sp>
      <p:sp>
        <p:nvSpPr>
          <p:cNvPr id="21" name="object 21"/>
          <p:cNvSpPr txBox="1"/>
          <p:nvPr/>
        </p:nvSpPr>
        <p:spPr>
          <a:xfrm>
            <a:off x="6574607" y="5135307"/>
            <a:ext cx="1181735" cy="261620"/>
          </a:xfrm>
          <a:prstGeom prst="rect">
            <a:avLst/>
          </a:prstGeom>
          <a:solidFill>
            <a:srgbClr val="E8EDF7"/>
          </a:solidFill>
        </p:spPr>
        <p:txBody>
          <a:bodyPr vert="horz" wrap="square" lIns="0" tIns="25400" rIns="0" bIns="0" rtlCol="0">
            <a:spAutoFit/>
          </a:bodyPr>
          <a:lstStyle/>
          <a:p>
            <a:pPr marL="280035">
              <a:lnSpc>
                <a:spcPct val="100000"/>
              </a:lnSpc>
              <a:spcBef>
                <a:spcPts val="200"/>
              </a:spcBef>
            </a:pPr>
            <a:r>
              <a:rPr sz="1200" spc="-10" dirty="0">
                <a:latin typeface="Arial"/>
                <a:cs typeface="Arial"/>
              </a:rPr>
              <a:t>Elasticity</a:t>
            </a:r>
            <a:endParaRPr sz="1200">
              <a:latin typeface="Arial"/>
              <a:cs typeface="Arial"/>
            </a:endParaRPr>
          </a:p>
        </p:txBody>
      </p:sp>
      <p:grpSp>
        <p:nvGrpSpPr>
          <p:cNvPr id="22" name="object 22"/>
          <p:cNvGrpSpPr/>
          <p:nvPr/>
        </p:nvGrpSpPr>
        <p:grpSpPr>
          <a:xfrm>
            <a:off x="3469347" y="2666003"/>
            <a:ext cx="2606675" cy="1538605"/>
            <a:chOff x="3469347" y="2666003"/>
            <a:chExt cx="2606675" cy="1538605"/>
          </a:xfrm>
        </p:grpSpPr>
        <p:sp>
          <p:nvSpPr>
            <p:cNvPr id="23" name="object 23"/>
            <p:cNvSpPr/>
            <p:nvPr/>
          </p:nvSpPr>
          <p:spPr>
            <a:xfrm>
              <a:off x="3589105" y="2785697"/>
              <a:ext cx="2485390" cy="1417320"/>
            </a:xfrm>
            <a:custGeom>
              <a:avLst/>
              <a:gdLst/>
              <a:ahLst/>
              <a:cxnLst/>
              <a:rect l="l" t="t" r="r" b="b"/>
              <a:pathLst>
                <a:path w="2485390" h="1417320">
                  <a:moveTo>
                    <a:pt x="1242493" y="0"/>
                  </a:moveTo>
                  <a:lnTo>
                    <a:pt x="0" y="541318"/>
                  </a:lnTo>
                  <a:lnTo>
                    <a:pt x="474649" y="1417269"/>
                  </a:lnTo>
                  <a:lnTo>
                    <a:pt x="2010467" y="1417269"/>
                  </a:lnTo>
                  <a:lnTo>
                    <a:pt x="2485117" y="541318"/>
                  </a:lnTo>
                  <a:lnTo>
                    <a:pt x="1242493" y="0"/>
                  </a:lnTo>
                  <a:close/>
                </a:path>
              </a:pathLst>
            </a:custGeom>
            <a:solidFill>
              <a:srgbClr val="7E7E7E"/>
            </a:solidFill>
          </p:spPr>
          <p:txBody>
            <a:bodyPr wrap="square" lIns="0" tIns="0" rIns="0" bIns="0" rtlCol="0"/>
            <a:lstStyle/>
            <a:p>
              <a:endParaRPr/>
            </a:p>
          </p:txBody>
        </p:sp>
        <p:sp>
          <p:nvSpPr>
            <p:cNvPr id="24" name="object 24"/>
            <p:cNvSpPr/>
            <p:nvPr/>
          </p:nvSpPr>
          <p:spPr>
            <a:xfrm>
              <a:off x="3589105" y="2785697"/>
              <a:ext cx="2485390" cy="1417320"/>
            </a:xfrm>
            <a:custGeom>
              <a:avLst/>
              <a:gdLst/>
              <a:ahLst/>
              <a:cxnLst/>
              <a:rect l="l" t="t" r="r" b="b"/>
              <a:pathLst>
                <a:path w="2485390" h="1417320">
                  <a:moveTo>
                    <a:pt x="1242493" y="0"/>
                  </a:moveTo>
                  <a:lnTo>
                    <a:pt x="0" y="541318"/>
                  </a:lnTo>
                  <a:lnTo>
                    <a:pt x="474649" y="1417269"/>
                  </a:lnTo>
                  <a:lnTo>
                    <a:pt x="2010467" y="1417269"/>
                  </a:lnTo>
                  <a:lnTo>
                    <a:pt x="2485117" y="541318"/>
                  </a:lnTo>
                  <a:lnTo>
                    <a:pt x="1242493" y="0"/>
                  </a:lnTo>
                </a:path>
              </a:pathLst>
            </a:custGeom>
            <a:ln w="3175">
              <a:solidFill>
                <a:srgbClr val="7E7E7E"/>
              </a:solidFill>
            </a:ln>
          </p:spPr>
          <p:txBody>
            <a:bodyPr wrap="square" lIns="0" tIns="0" rIns="0" bIns="0" rtlCol="0"/>
            <a:lstStyle/>
            <a:p>
              <a:endParaRPr/>
            </a:p>
          </p:txBody>
        </p:sp>
        <p:sp>
          <p:nvSpPr>
            <p:cNvPr id="25" name="object 25"/>
            <p:cNvSpPr/>
            <p:nvPr/>
          </p:nvSpPr>
          <p:spPr>
            <a:xfrm>
              <a:off x="3470935" y="2667591"/>
              <a:ext cx="2485390" cy="1417320"/>
            </a:xfrm>
            <a:custGeom>
              <a:avLst/>
              <a:gdLst/>
              <a:ahLst/>
              <a:cxnLst/>
              <a:rect l="l" t="t" r="r" b="b"/>
              <a:pathLst>
                <a:path w="2485390" h="1417320">
                  <a:moveTo>
                    <a:pt x="1242493" y="0"/>
                  </a:moveTo>
                  <a:lnTo>
                    <a:pt x="0" y="541318"/>
                  </a:lnTo>
                  <a:lnTo>
                    <a:pt x="474649" y="1417269"/>
                  </a:lnTo>
                  <a:lnTo>
                    <a:pt x="2010467" y="1417269"/>
                  </a:lnTo>
                  <a:lnTo>
                    <a:pt x="2485117" y="541318"/>
                  </a:lnTo>
                  <a:lnTo>
                    <a:pt x="1242493" y="0"/>
                  </a:lnTo>
                  <a:close/>
                </a:path>
              </a:pathLst>
            </a:custGeom>
            <a:solidFill>
              <a:srgbClr val="F1F1F1"/>
            </a:solidFill>
          </p:spPr>
          <p:txBody>
            <a:bodyPr wrap="square" lIns="0" tIns="0" rIns="0" bIns="0" rtlCol="0"/>
            <a:lstStyle/>
            <a:p>
              <a:endParaRPr/>
            </a:p>
          </p:txBody>
        </p:sp>
        <p:sp>
          <p:nvSpPr>
            <p:cNvPr id="26" name="object 26"/>
            <p:cNvSpPr/>
            <p:nvPr/>
          </p:nvSpPr>
          <p:spPr>
            <a:xfrm>
              <a:off x="3470935" y="2667591"/>
              <a:ext cx="2485390" cy="1417320"/>
            </a:xfrm>
            <a:custGeom>
              <a:avLst/>
              <a:gdLst/>
              <a:ahLst/>
              <a:cxnLst/>
              <a:rect l="l" t="t" r="r" b="b"/>
              <a:pathLst>
                <a:path w="2485390" h="1417320">
                  <a:moveTo>
                    <a:pt x="1242493" y="0"/>
                  </a:moveTo>
                  <a:lnTo>
                    <a:pt x="0" y="541318"/>
                  </a:lnTo>
                  <a:lnTo>
                    <a:pt x="474649" y="1417269"/>
                  </a:lnTo>
                  <a:lnTo>
                    <a:pt x="2010467" y="1417269"/>
                  </a:lnTo>
                  <a:lnTo>
                    <a:pt x="2485117" y="541318"/>
                  </a:lnTo>
                  <a:lnTo>
                    <a:pt x="1242493" y="0"/>
                  </a:lnTo>
                  <a:close/>
                </a:path>
              </a:pathLst>
            </a:custGeom>
            <a:ln w="3175">
              <a:solidFill>
                <a:srgbClr val="000000"/>
              </a:solidFill>
            </a:ln>
          </p:spPr>
          <p:txBody>
            <a:bodyPr wrap="square" lIns="0" tIns="0" rIns="0" bIns="0" rtlCol="0"/>
            <a:lstStyle/>
            <a:p>
              <a:endParaRPr/>
            </a:p>
          </p:txBody>
        </p:sp>
      </p:grpSp>
      <p:sp>
        <p:nvSpPr>
          <p:cNvPr id="27" name="object 27"/>
          <p:cNvSpPr txBox="1"/>
          <p:nvPr/>
        </p:nvSpPr>
        <p:spPr>
          <a:xfrm>
            <a:off x="3912533" y="3216552"/>
            <a:ext cx="1602105" cy="277495"/>
          </a:xfrm>
          <a:prstGeom prst="rect">
            <a:avLst/>
          </a:prstGeom>
        </p:spPr>
        <p:txBody>
          <a:bodyPr vert="horz" wrap="square" lIns="0" tIns="12700" rIns="0" bIns="0" rtlCol="0">
            <a:spAutoFit/>
          </a:bodyPr>
          <a:lstStyle/>
          <a:p>
            <a:pPr marL="12700">
              <a:lnSpc>
                <a:spcPct val="100000"/>
              </a:lnSpc>
              <a:spcBef>
                <a:spcPts val="100"/>
              </a:spcBef>
            </a:pPr>
            <a:r>
              <a:rPr sz="1650" dirty="0">
                <a:latin typeface="Arial"/>
                <a:cs typeface="Arial"/>
              </a:rPr>
              <a:t>Cloud </a:t>
            </a:r>
            <a:r>
              <a:rPr sz="1650" spc="-10" dirty="0">
                <a:latin typeface="Arial"/>
                <a:cs typeface="Arial"/>
              </a:rPr>
              <a:t>computing</a:t>
            </a:r>
            <a:endParaRPr sz="1650">
              <a:latin typeface="Arial"/>
              <a:cs typeface="Arial"/>
            </a:endParaRPr>
          </a:p>
        </p:txBody>
      </p:sp>
      <p:grpSp>
        <p:nvGrpSpPr>
          <p:cNvPr id="28" name="object 28"/>
          <p:cNvGrpSpPr/>
          <p:nvPr/>
        </p:nvGrpSpPr>
        <p:grpSpPr>
          <a:xfrm>
            <a:off x="2703079" y="2392523"/>
            <a:ext cx="3666490" cy="3539490"/>
            <a:chOff x="2703079" y="2392523"/>
            <a:chExt cx="3666490" cy="3539490"/>
          </a:xfrm>
        </p:grpSpPr>
        <p:sp>
          <p:nvSpPr>
            <p:cNvPr id="29" name="object 29"/>
            <p:cNvSpPr/>
            <p:nvPr/>
          </p:nvSpPr>
          <p:spPr>
            <a:xfrm>
              <a:off x="2704667" y="2611819"/>
              <a:ext cx="1291590" cy="541020"/>
            </a:xfrm>
            <a:custGeom>
              <a:avLst/>
              <a:gdLst/>
              <a:ahLst/>
              <a:cxnLst/>
              <a:rect l="l" t="t" r="r" b="b"/>
              <a:pathLst>
                <a:path w="1291589" h="541019">
                  <a:moveTo>
                    <a:pt x="285315" y="0"/>
                  </a:moveTo>
                  <a:lnTo>
                    <a:pt x="0" y="173877"/>
                  </a:lnTo>
                  <a:lnTo>
                    <a:pt x="173972" y="459037"/>
                  </a:lnTo>
                  <a:lnTo>
                    <a:pt x="245268" y="415601"/>
                  </a:lnTo>
                  <a:lnTo>
                    <a:pt x="158216" y="272955"/>
                  </a:lnTo>
                  <a:lnTo>
                    <a:pt x="1263369" y="540924"/>
                  </a:lnTo>
                  <a:lnTo>
                    <a:pt x="1291205" y="426099"/>
                  </a:lnTo>
                  <a:lnTo>
                    <a:pt x="186183" y="158261"/>
                  </a:lnTo>
                  <a:lnTo>
                    <a:pt x="328775" y="71257"/>
                  </a:lnTo>
                  <a:lnTo>
                    <a:pt x="285315" y="0"/>
                  </a:lnTo>
                  <a:close/>
                </a:path>
              </a:pathLst>
            </a:custGeom>
            <a:solidFill>
              <a:srgbClr val="A4A4A4"/>
            </a:solidFill>
          </p:spPr>
          <p:txBody>
            <a:bodyPr wrap="square" lIns="0" tIns="0" rIns="0" bIns="0" rtlCol="0"/>
            <a:lstStyle/>
            <a:p>
              <a:endParaRPr/>
            </a:p>
          </p:txBody>
        </p:sp>
        <p:sp>
          <p:nvSpPr>
            <p:cNvPr id="30" name="object 30"/>
            <p:cNvSpPr/>
            <p:nvPr/>
          </p:nvSpPr>
          <p:spPr>
            <a:xfrm>
              <a:off x="2704667" y="2611819"/>
              <a:ext cx="1291590" cy="541020"/>
            </a:xfrm>
            <a:custGeom>
              <a:avLst/>
              <a:gdLst/>
              <a:ahLst/>
              <a:cxnLst/>
              <a:rect l="l" t="t" r="r" b="b"/>
              <a:pathLst>
                <a:path w="1291589" h="541019">
                  <a:moveTo>
                    <a:pt x="0" y="173877"/>
                  </a:moveTo>
                  <a:lnTo>
                    <a:pt x="173972" y="459037"/>
                  </a:lnTo>
                  <a:lnTo>
                    <a:pt x="245268" y="415601"/>
                  </a:lnTo>
                  <a:lnTo>
                    <a:pt x="158216" y="272955"/>
                  </a:lnTo>
                  <a:lnTo>
                    <a:pt x="1263369" y="540924"/>
                  </a:lnTo>
                  <a:lnTo>
                    <a:pt x="1291205" y="426099"/>
                  </a:lnTo>
                  <a:lnTo>
                    <a:pt x="186183" y="158261"/>
                  </a:lnTo>
                  <a:lnTo>
                    <a:pt x="328775" y="71257"/>
                  </a:lnTo>
                  <a:lnTo>
                    <a:pt x="285315" y="0"/>
                  </a:lnTo>
                  <a:lnTo>
                    <a:pt x="0" y="173877"/>
                  </a:lnTo>
                  <a:close/>
                </a:path>
              </a:pathLst>
            </a:custGeom>
            <a:ln w="3175">
              <a:solidFill>
                <a:srgbClr val="000000"/>
              </a:solidFill>
            </a:ln>
          </p:spPr>
          <p:txBody>
            <a:bodyPr wrap="square" lIns="0" tIns="0" rIns="0" bIns="0" rtlCol="0"/>
            <a:lstStyle/>
            <a:p>
              <a:endParaRPr/>
            </a:p>
          </p:txBody>
        </p:sp>
        <p:sp>
          <p:nvSpPr>
            <p:cNvPr id="31" name="object 31"/>
            <p:cNvSpPr/>
            <p:nvPr/>
          </p:nvSpPr>
          <p:spPr>
            <a:xfrm>
              <a:off x="5199107" y="2394111"/>
              <a:ext cx="585470" cy="664845"/>
            </a:xfrm>
            <a:custGeom>
              <a:avLst/>
              <a:gdLst/>
              <a:ahLst/>
              <a:cxnLst/>
              <a:rect l="l" t="t" r="r" b="b"/>
              <a:pathLst>
                <a:path w="585470" h="664844">
                  <a:moveTo>
                    <a:pt x="548309" y="0"/>
                  </a:moveTo>
                  <a:lnTo>
                    <a:pt x="216251" y="37006"/>
                  </a:lnTo>
                  <a:lnTo>
                    <a:pt x="225442" y="119942"/>
                  </a:lnTo>
                  <a:lnTo>
                    <a:pt x="391536" y="101570"/>
                  </a:lnTo>
                  <a:lnTo>
                    <a:pt x="0" y="590922"/>
                  </a:lnTo>
                  <a:lnTo>
                    <a:pt x="92303" y="664673"/>
                  </a:lnTo>
                  <a:lnTo>
                    <a:pt x="483840" y="175321"/>
                  </a:lnTo>
                  <a:lnTo>
                    <a:pt x="502354" y="341325"/>
                  </a:lnTo>
                  <a:lnTo>
                    <a:pt x="585335" y="332008"/>
                  </a:lnTo>
                  <a:lnTo>
                    <a:pt x="548309" y="0"/>
                  </a:lnTo>
                  <a:close/>
                </a:path>
              </a:pathLst>
            </a:custGeom>
            <a:solidFill>
              <a:srgbClr val="A4A4A4"/>
            </a:solidFill>
          </p:spPr>
          <p:txBody>
            <a:bodyPr wrap="square" lIns="0" tIns="0" rIns="0" bIns="0" rtlCol="0"/>
            <a:lstStyle/>
            <a:p>
              <a:endParaRPr/>
            </a:p>
          </p:txBody>
        </p:sp>
        <p:sp>
          <p:nvSpPr>
            <p:cNvPr id="32" name="object 32"/>
            <p:cNvSpPr/>
            <p:nvPr/>
          </p:nvSpPr>
          <p:spPr>
            <a:xfrm>
              <a:off x="5199107" y="2394111"/>
              <a:ext cx="585470" cy="664845"/>
            </a:xfrm>
            <a:custGeom>
              <a:avLst/>
              <a:gdLst/>
              <a:ahLst/>
              <a:cxnLst/>
              <a:rect l="l" t="t" r="r" b="b"/>
              <a:pathLst>
                <a:path w="585470" h="664844">
                  <a:moveTo>
                    <a:pt x="548309" y="0"/>
                  </a:moveTo>
                  <a:lnTo>
                    <a:pt x="216251" y="37006"/>
                  </a:lnTo>
                  <a:lnTo>
                    <a:pt x="225442" y="119942"/>
                  </a:lnTo>
                  <a:lnTo>
                    <a:pt x="391536" y="101570"/>
                  </a:lnTo>
                  <a:lnTo>
                    <a:pt x="0" y="590922"/>
                  </a:lnTo>
                  <a:lnTo>
                    <a:pt x="92303" y="664673"/>
                  </a:lnTo>
                  <a:lnTo>
                    <a:pt x="483840" y="175321"/>
                  </a:lnTo>
                  <a:lnTo>
                    <a:pt x="502354" y="341325"/>
                  </a:lnTo>
                  <a:lnTo>
                    <a:pt x="585335" y="332008"/>
                  </a:lnTo>
                  <a:lnTo>
                    <a:pt x="548309" y="0"/>
                  </a:lnTo>
                  <a:close/>
                </a:path>
              </a:pathLst>
            </a:custGeom>
            <a:ln w="3175">
              <a:solidFill>
                <a:srgbClr val="000000"/>
              </a:solidFill>
            </a:ln>
          </p:spPr>
          <p:txBody>
            <a:bodyPr wrap="square" lIns="0" tIns="0" rIns="0" bIns="0" rtlCol="0"/>
            <a:lstStyle/>
            <a:p>
              <a:endParaRPr/>
            </a:p>
          </p:txBody>
        </p:sp>
        <p:sp>
          <p:nvSpPr>
            <p:cNvPr id="33" name="object 33"/>
            <p:cNvSpPr/>
            <p:nvPr/>
          </p:nvSpPr>
          <p:spPr>
            <a:xfrm>
              <a:off x="5554011" y="3518609"/>
              <a:ext cx="814069" cy="593090"/>
            </a:xfrm>
            <a:custGeom>
              <a:avLst/>
              <a:gdLst/>
              <a:ahLst/>
              <a:cxnLst/>
              <a:rect l="l" t="t" r="r" b="b"/>
              <a:pathLst>
                <a:path w="814070" h="593089">
                  <a:moveTo>
                    <a:pt x="59347" y="0"/>
                  </a:moveTo>
                  <a:lnTo>
                    <a:pt x="0" y="102095"/>
                  </a:lnTo>
                  <a:lnTo>
                    <a:pt x="630897" y="469142"/>
                  </a:lnTo>
                  <a:lnTo>
                    <a:pt x="469397" y="511791"/>
                  </a:lnTo>
                  <a:lnTo>
                    <a:pt x="490668" y="592497"/>
                  </a:lnTo>
                  <a:lnTo>
                    <a:pt x="813798" y="507198"/>
                  </a:lnTo>
                  <a:lnTo>
                    <a:pt x="728453" y="184245"/>
                  </a:lnTo>
                  <a:lnTo>
                    <a:pt x="647703" y="205504"/>
                  </a:lnTo>
                  <a:lnTo>
                    <a:pt x="690376" y="367046"/>
                  </a:lnTo>
                  <a:lnTo>
                    <a:pt x="59347" y="0"/>
                  </a:lnTo>
                  <a:close/>
                </a:path>
              </a:pathLst>
            </a:custGeom>
            <a:solidFill>
              <a:srgbClr val="7E7E7E"/>
            </a:solidFill>
          </p:spPr>
          <p:txBody>
            <a:bodyPr wrap="square" lIns="0" tIns="0" rIns="0" bIns="0" rtlCol="0"/>
            <a:lstStyle/>
            <a:p>
              <a:endParaRPr/>
            </a:p>
          </p:txBody>
        </p:sp>
        <p:sp>
          <p:nvSpPr>
            <p:cNvPr id="34" name="object 34"/>
            <p:cNvSpPr/>
            <p:nvPr/>
          </p:nvSpPr>
          <p:spPr>
            <a:xfrm>
              <a:off x="5554011" y="3518609"/>
              <a:ext cx="814069" cy="593090"/>
            </a:xfrm>
            <a:custGeom>
              <a:avLst/>
              <a:gdLst/>
              <a:ahLst/>
              <a:cxnLst/>
              <a:rect l="l" t="t" r="r" b="b"/>
              <a:pathLst>
                <a:path w="814070" h="593089">
                  <a:moveTo>
                    <a:pt x="813798" y="507198"/>
                  </a:moveTo>
                  <a:lnTo>
                    <a:pt x="728453" y="184245"/>
                  </a:lnTo>
                  <a:lnTo>
                    <a:pt x="647703" y="205504"/>
                  </a:lnTo>
                  <a:lnTo>
                    <a:pt x="690376" y="367046"/>
                  </a:lnTo>
                  <a:lnTo>
                    <a:pt x="59347" y="0"/>
                  </a:lnTo>
                  <a:lnTo>
                    <a:pt x="0" y="102095"/>
                  </a:lnTo>
                  <a:lnTo>
                    <a:pt x="630897" y="469142"/>
                  </a:lnTo>
                  <a:lnTo>
                    <a:pt x="469397" y="511791"/>
                  </a:lnTo>
                  <a:lnTo>
                    <a:pt x="490668" y="592497"/>
                  </a:lnTo>
                  <a:lnTo>
                    <a:pt x="813798" y="507198"/>
                  </a:lnTo>
                  <a:close/>
                </a:path>
              </a:pathLst>
            </a:custGeom>
            <a:ln w="3175">
              <a:solidFill>
                <a:srgbClr val="A4A4A4"/>
              </a:solidFill>
            </a:ln>
          </p:spPr>
          <p:txBody>
            <a:bodyPr wrap="square" lIns="0" tIns="0" rIns="0" bIns="0" rtlCol="0"/>
            <a:lstStyle/>
            <a:p>
              <a:endParaRPr/>
            </a:p>
          </p:txBody>
        </p:sp>
        <p:sp>
          <p:nvSpPr>
            <p:cNvPr id="35" name="object 35"/>
            <p:cNvSpPr/>
            <p:nvPr/>
          </p:nvSpPr>
          <p:spPr>
            <a:xfrm>
              <a:off x="3502315" y="4483402"/>
              <a:ext cx="2393315" cy="1447165"/>
            </a:xfrm>
            <a:custGeom>
              <a:avLst/>
              <a:gdLst/>
              <a:ahLst/>
              <a:cxnLst/>
              <a:rect l="l" t="t" r="r" b="b"/>
              <a:pathLst>
                <a:path w="2393315" h="1447164">
                  <a:moveTo>
                    <a:pt x="1196406" y="0"/>
                  </a:moveTo>
                  <a:lnTo>
                    <a:pt x="1136687" y="885"/>
                  </a:lnTo>
                  <a:lnTo>
                    <a:pt x="1077725" y="3514"/>
                  </a:lnTo>
                  <a:lnTo>
                    <a:pt x="1019590" y="7844"/>
                  </a:lnTo>
                  <a:lnTo>
                    <a:pt x="962350" y="13835"/>
                  </a:lnTo>
                  <a:lnTo>
                    <a:pt x="906074" y="21445"/>
                  </a:lnTo>
                  <a:lnTo>
                    <a:pt x="850830" y="30632"/>
                  </a:lnTo>
                  <a:lnTo>
                    <a:pt x="796686" y="41355"/>
                  </a:lnTo>
                  <a:lnTo>
                    <a:pt x="743713" y="53572"/>
                  </a:lnTo>
                  <a:lnTo>
                    <a:pt x="691977" y="67243"/>
                  </a:lnTo>
                  <a:lnTo>
                    <a:pt x="641548" y="82325"/>
                  </a:lnTo>
                  <a:lnTo>
                    <a:pt x="592494" y="98777"/>
                  </a:lnTo>
                  <a:lnTo>
                    <a:pt x="544883" y="116558"/>
                  </a:lnTo>
                  <a:lnTo>
                    <a:pt x="498785" y="135626"/>
                  </a:lnTo>
                  <a:lnTo>
                    <a:pt x="454268" y="155940"/>
                  </a:lnTo>
                  <a:lnTo>
                    <a:pt x="411400" y="177458"/>
                  </a:lnTo>
                  <a:lnTo>
                    <a:pt x="370250" y="200139"/>
                  </a:lnTo>
                  <a:lnTo>
                    <a:pt x="330887" y="223941"/>
                  </a:lnTo>
                  <a:lnTo>
                    <a:pt x="293379" y="248823"/>
                  </a:lnTo>
                  <a:lnTo>
                    <a:pt x="257794" y="274744"/>
                  </a:lnTo>
                  <a:lnTo>
                    <a:pt x="224202" y="301662"/>
                  </a:lnTo>
                  <a:lnTo>
                    <a:pt x="192671" y="329535"/>
                  </a:lnTo>
                  <a:lnTo>
                    <a:pt x="163269" y="358322"/>
                  </a:lnTo>
                  <a:lnTo>
                    <a:pt x="136065" y="387981"/>
                  </a:lnTo>
                  <a:lnTo>
                    <a:pt x="111127" y="418472"/>
                  </a:lnTo>
                  <a:lnTo>
                    <a:pt x="88525" y="449753"/>
                  </a:lnTo>
                  <a:lnTo>
                    <a:pt x="50600" y="514517"/>
                  </a:lnTo>
                  <a:lnTo>
                    <a:pt x="22838" y="581942"/>
                  </a:lnTo>
                  <a:lnTo>
                    <a:pt x="5789" y="651697"/>
                  </a:lnTo>
                  <a:lnTo>
                    <a:pt x="0" y="723450"/>
                  </a:lnTo>
                  <a:lnTo>
                    <a:pt x="1463" y="759554"/>
                  </a:lnTo>
                  <a:lnTo>
                    <a:pt x="12970" y="830346"/>
                  </a:lnTo>
                  <a:lnTo>
                    <a:pt x="35458" y="898974"/>
                  </a:lnTo>
                  <a:lnTo>
                    <a:pt x="68378" y="965107"/>
                  </a:lnTo>
                  <a:lnTo>
                    <a:pt x="111184" y="1028412"/>
                  </a:lnTo>
                  <a:lnTo>
                    <a:pt x="136123" y="1058900"/>
                  </a:lnTo>
                  <a:lnTo>
                    <a:pt x="163327" y="1088558"/>
                  </a:lnTo>
                  <a:lnTo>
                    <a:pt x="192729" y="1117342"/>
                  </a:lnTo>
                  <a:lnTo>
                    <a:pt x="224259" y="1145213"/>
                  </a:lnTo>
                  <a:lnTo>
                    <a:pt x="257850" y="1172128"/>
                  </a:lnTo>
                  <a:lnTo>
                    <a:pt x="293432" y="1198047"/>
                  </a:lnTo>
                  <a:lnTo>
                    <a:pt x="330938" y="1222927"/>
                  </a:lnTo>
                  <a:lnTo>
                    <a:pt x="370298" y="1246727"/>
                  </a:lnTo>
                  <a:lnTo>
                    <a:pt x="411445" y="1269405"/>
                  </a:lnTo>
                  <a:lnTo>
                    <a:pt x="454309" y="1290921"/>
                  </a:lnTo>
                  <a:lnTo>
                    <a:pt x="498822" y="1311233"/>
                  </a:lnTo>
                  <a:lnTo>
                    <a:pt x="544917" y="1330299"/>
                  </a:lnTo>
                  <a:lnTo>
                    <a:pt x="592523" y="1348078"/>
                  </a:lnTo>
                  <a:lnTo>
                    <a:pt x="641573" y="1364528"/>
                  </a:lnTo>
                  <a:lnTo>
                    <a:pt x="691998" y="1379609"/>
                  </a:lnTo>
                  <a:lnTo>
                    <a:pt x="743730" y="1393278"/>
                  </a:lnTo>
                  <a:lnTo>
                    <a:pt x="796700" y="1405494"/>
                  </a:lnTo>
                  <a:lnTo>
                    <a:pt x="850840" y="1416216"/>
                  </a:lnTo>
                  <a:lnTo>
                    <a:pt x="906081" y="1425402"/>
                  </a:lnTo>
                  <a:lnTo>
                    <a:pt x="962355" y="1433010"/>
                  </a:lnTo>
                  <a:lnTo>
                    <a:pt x="1019593" y="1439000"/>
                  </a:lnTo>
                  <a:lnTo>
                    <a:pt x="1077726" y="1443330"/>
                  </a:lnTo>
                  <a:lnTo>
                    <a:pt x="1136687" y="1445959"/>
                  </a:lnTo>
                  <a:lnTo>
                    <a:pt x="1196406" y="1446844"/>
                  </a:lnTo>
                  <a:lnTo>
                    <a:pt x="1256126" y="1445959"/>
                  </a:lnTo>
                  <a:lnTo>
                    <a:pt x="1315086" y="1443330"/>
                  </a:lnTo>
                  <a:lnTo>
                    <a:pt x="1373220" y="1439000"/>
                  </a:lnTo>
                  <a:lnTo>
                    <a:pt x="1430457" y="1433010"/>
                  </a:lnTo>
                  <a:lnTo>
                    <a:pt x="1486731" y="1425402"/>
                  </a:lnTo>
                  <a:lnTo>
                    <a:pt x="1541972" y="1416216"/>
                  </a:lnTo>
                  <a:lnTo>
                    <a:pt x="1596112" y="1405494"/>
                  </a:lnTo>
                  <a:lnTo>
                    <a:pt x="1649082" y="1393278"/>
                  </a:lnTo>
                  <a:lnTo>
                    <a:pt x="1700814" y="1379609"/>
                  </a:lnTo>
                  <a:lnTo>
                    <a:pt x="1751239" y="1364528"/>
                  </a:lnTo>
                  <a:lnTo>
                    <a:pt x="1800290" y="1348078"/>
                  </a:lnTo>
                  <a:lnTo>
                    <a:pt x="1847896" y="1330299"/>
                  </a:lnTo>
                  <a:lnTo>
                    <a:pt x="1893990" y="1311233"/>
                  </a:lnTo>
                  <a:lnTo>
                    <a:pt x="1938504" y="1290921"/>
                  </a:lnTo>
                  <a:lnTo>
                    <a:pt x="1981368" y="1269405"/>
                  </a:lnTo>
                  <a:lnTo>
                    <a:pt x="2022514" y="1246727"/>
                  </a:lnTo>
                  <a:lnTo>
                    <a:pt x="2061875" y="1222927"/>
                  </a:lnTo>
                  <a:lnTo>
                    <a:pt x="2099380" y="1198047"/>
                  </a:lnTo>
                  <a:lnTo>
                    <a:pt x="2134963" y="1172128"/>
                  </a:lnTo>
                  <a:lnTo>
                    <a:pt x="2168553" y="1145213"/>
                  </a:lnTo>
                  <a:lnTo>
                    <a:pt x="2200084" y="1117342"/>
                  </a:lnTo>
                  <a:lnTo>
                    <a:pt x="2229485" y="1088558"/>
                  </a:lnTo>
                  <a:lnTo>
                    <a:pt x="2256690" y="1058900"/>
                  </a:lnTo>
                  <a:lnTo>
                    <a:pt x="2281628" y="1028412"/>
                  </a:lnTo>
                  <a:lnTo>
                    <a:pt x="2304233" y="997133"/>
                  </a:lnTo>
                  <a:lnTo>
                    <a:pt x="2342164" y="932373"/>
                  </a:lnTo>
                  <a:lnTo>
                    <a:pt x="2369937" y="864952"/>
                  </a:lnTo>
                  <a:lnTo>
                    <a:pt x="2387003" y="795200"/>
                  </a:lnTo>
                  <a:lnTo>
                    <a:pt x="2392813" y="723450"/>
                  </a:lnTo>
                  <a:lnTo>
                    <a:pt x="2391349" y="687345"/>
                  </a:lnTo>
                  <a:lnTo>
                    <a:pt x="2379843" y="616549"/>
                  </a:lnTo>
                  <a:lnTo>
                    <a:pt x="2357355" y="547918"/>
                  </a:lnTo>
                  <a:lnTo>
                    <a:pt x="2324434" y="481782"/>
                  </a:lnTo>
                  <a:lnTo>
                    <a:pt x="2281628" y="418472"/>
                  </a:lnTo>
                  <a:lnTo>
                    <a:pt x="2256690" y="387981"/>
                  </a:lnTo>
                  <a:lnTo>
                    <a:pt x="2229485" y="358322"/>
                  </a:lnTo>
                  <a:lnTo>
                    <a:pt x="2200084" y="329535"/>
                  </a:lnTo>
                  <a:lnTo>
                    <a:pt x="2168553" y="301662"/>
                  </a:lnTo>
                  <a:lnTo>
                    <a:pt x="2134963" y="274744"/>
                  </a:lnTo>
                  <a:lnTo>
                    <a:pt x="2099380" y="248823"/>
                  </a:lnTo>
                  <a:lnTo>
                    <a:pt x="2061875" y="223941"/>
                  </a:lnTo>
                  <a:lnTo>
                    <a:pt x="2022514" y="200139"/>
                  </a:lnTo>
                  <a:lnTo>
                    <a:pt x="1981368" y="177458"/>
                  </a:lnTo>
                  <a:lnTo>
                    <a:pt x="1938504" y="155940"/>
                  </a:lnTo>
                  <a:lnTo>
                    <a:pt x="1893990" y="135626"/>
                  </a:lnTo>
                  <a:lnTo>
                    <a:pt x="1847896" y="116558"/>
                  </a:lnTo>
                  <a:lnTo>
                    <a:pt x="1800290" y="98777"/>
                  </a:lnTo>
                  <a:lnTo>
                    <a:pt x="1751239" y="82325"/>
                  </a:lnTo>
                  <a:lnTo>
                    <a:pt x="1700814" y="67243"/>
                  </a:lnTo>
                  <a:lnTo>
                    <a:pt x="1649082" y="53572"/>
                  </a:lnTo>
                  <a:lnTo>
                    <a:pt x="1596112" y="41355"/>
                  </a:lnTo>
                  <a:lnTo>
                    <a:pt x="1541972" y="30632"/>
                  </a:lnTo>
                  <a:lnTo>
                    <a:pt x="1486731" y="21445"/>
                  </a:lnTo>
                  <a:lnTo>
                    <a:pt x="1430457" y="13835"/>
                  </a:lnTo>
                  <a:lnTo>
                    <a:pt x="1373220" y="7844"/>
                  </a:lnTo>
                  <a:lnTo>
                    <a:pt x="1315086" y="3514"/>
                  </a:lnTo>
                  <a:lnTo>
                    <a:pt x="1256126" y="885"/>
                  </a:lnTo>
                  <a:lnTo>
                    <a:pt x="1196406" y="0"/>
                  </a:lnTo>
                  <a:close/>
                </a:path>
              </a:pathLst>
            </a:custGeom>
            <a:solidFill>
              <a:srgbClr val="D7D7D7"/>
            </a:solidFill>
          </p:spPr>
          <p:txBody>
            <a:bodyPr wrap="square" lIns="0" tIns="0" rIns="0" bIns="0" rtlCol="0"/>
            <a:lstStyle/>
            <a:p>
              <a:endParaRPr/>
            </a:p>
          </p:txBody>
        </p:sp>
        <p:sp>
          <p:nvSpPr>
            <p:cNvPr id="36" name="object 36"/>
            <p:cNvSpPr/>
            <p:nvPr/>
          </p:nvSpPr>
          <p:spPr>
            <a:xfrm>
              <a:off x="3502315" y="4483402"/>
              <a:ext cx="2393315" cy="1447165"/>
            </a:xfrm>
            <a:custGeom>
              <a:avLst/>
              <a:gdLst/>
              <a:ahLst/>
              <a:cxnLst/>
              <a:rect l="l" t="t" r="r" b="b"/>
              <a:pathLst>
                <a:path w="2393315" h="1447164">
                  <a:moveTo>
                    <a:pt x="0" y="723450"/>
                  </a:moveTo>
                  <a:lnTo>
                    <a:pt x="5789" y="651697"/>
                  </a:lnTo>
                  <a:lnTo>
                    <a:pt x="22838" y="581942"/>
                  </a:lnTo>
                  <a:lnTo>
                    <a:pt x="50600" y="514517"/>
                  </a:lnTo>
                  <a:lnTo>
                    <a:pt x="88525" y="449753"/>
                  </a:lnTo>
                  <a:lnTo>
                    <a:pt x="111127" y="418472"/>
                  </a:lnTo>
                  <a:lnTo>
                    <a:pt x="136065" y="387981"/>
                  </a:lnTo>
                  <a:lnTo>
                    <a:pt x="163269" y="358322"/>
                  </a:lnTo>
                  <a:lnTo>
                    <a:pt x="192671" y="329535"/>
                  </a:lnTo>
                  <a:lnTo>
                    <a:pt x="224202" y="301662"/>
                  </a:lnTo>
                  <a:lnTo>
                    <a:pt x="257794" y="274744"/>
                  </a:lnTo>
                  <a:lnTo>
                    <a:pt x="293379" y="248823"/>
                  </a:lnTo>
                  <a:lnTo>
                    <a:pt x="330887" y="223941"/>
                  </a:lnTo>
                  <a:lnTo>
                    <a:pt x="370250" y="200139"/>
                  </a:lnTo>
                  <a:lnTo>
                    <a:pt x="411400" y="177458"/>
                  </a:lnTo>
                  <a:lnTo>
                    <a:pt x="454268" y="155940"/>
                  </a:lnTo>
                  <a:lnTo>
                    <a:pt x="498785" y="135626"/>
                  </a:lnTo>
                  <a:lnTo>
                    <a:pt x="544883" y="116558"/>
                  </a:lnTo>
                  <a:lnTo>
                    <a:pt x="592494" y="98777"/>
                  </a:lnTo>
                  <a:lnTo>
                    <a:pt x="641548" y="82325"/>
                  </a:lnTo>
                  <a:lnTo>
                    <a:pt x="691977" y="67243"/>
                  </a:lnTo>
                  <a:lnTo>
                    <a:pt x="743713" y="53572"/>
                  </a:lnTo>
                  <a:lnTo>
                    <a:pt x="796686" y="41355"/>
                  </a:lnTo>
                  <a:lnTo>
                    <a:pt x="850830" y="30632"/>
                  </a:lnTo>
                  <a:lnTo>
                    <a:pt x="906074" y="21445"/>
                  </a:lnTo>
                  <a:lnTo>
                    <a:pt x="962350" y="13835"/>
                  </a:lnTo>
                  <a:lnTo>
                    <a:pt x="1019590" y="7844"/>
                  </a:lnTo>
                  <a:lnTo>
                    <a:pt x="1077725" y="3514"/>
                  </a:lnTo>
                  <a:lnTo>
                    <a:pt x="1136687" y="885"/>
                  </a:lnTo>
                  <a:lnTo>
                    <a:pt x="1196406" y="0"/>
                  </a:lnTo>
                  <a:lnTo>
                    <a:pt x="1256126" y="885"/>
                  </a:lnTo>
                  <a:lnTo>
                    <a:pt x="1315086" y="3514"/>
                  </a:lnTo>
                  <a:lnTo>
                    <a:pt x="1373220" y="7844"/>
                  </a:lnTo>
                  <a:lnTo>
                    <a:pt x="1430458" y="13835"/>
                  </a:lnTo>
                  <a:lnTo>
                    <a:pt x="1486731" y="21445"/>
                  </a:lnTo>
                  <a:lnTo>
                    <a:pt x="1541972" y="30632"/>
                  </a:lnTo>
                  <a:lnTo>
                    <a:pt x="1596112" y="41355"/>
                  </a:lnTo>
                  <a:lnTo>
                    <a:pt x="1649082" y="53572"/>
                  </a:lnTo>
                  <a:lnTo>
                    <a:pt x="1700814" y="67243"/>
                  </a:lnTo>
                  <a:lnTo>
                    <a:pt x="1751239" y="82325"/>
                  </a:lnTo>
                  <a:lnTo>
                    <a:pt x="1800290" y="98777"/>
                  </a:lnTo>
                  <a:lnTo>
                    <a:pt x="1847896" y="116558"/>
                  </a:lnTo>
                  <a:lnTo>
                    <a:pt x="1893990" y="135626"/>
                  </a:lnTo>
                  <a:lnTo>
                    <a:pt x="1938504" y="155940"/>
                  </a:lnTo>
                  <a:lnTo>
                    <a:pt x="1981368" y="177458"/>
                  </a:lnTo>
                  <a:lnTo>
                    <a:pt x="2022514" y="200139"/>
                  </a:lnTo>
                  <a:lnTo>
                    <a:pt x="2061875" y="223941"/>
                  </a:lnTo>
                  <a:lnTo>
                    <a:pt x="2099380" y="248823"/>
                  </a:lnTo>
                  <a:lnTo>
                    <a:pt x="2134963" y="274744"/>
                  </a:lnTo>
                  <a:lnTo>
                    <a:pt x="2168553" y="301662"/>
                  </a:lnTo>
                  <a:lnTo>
                    <a:pt x="2200084" y="329535"/>
                  </a:lnTo>
                  <a:lnTo>
                    <a:pt x="2229485" y="358322"/>
                  </a:lnTo>
                  <a:lnTo>
                    <a:pt x="2256690" y="387981"/>
                  </a:lnTo>
                  <a:lnTo>
                    <a:pt x="2281628" y="418472"/>
                  </a:lnTo>
                  <a:lnTo>
                    <a:pt x="2304233" y="449753"/>
                  </a:lnTo>
                  <a:lnTo>
                    <a:pt x="2342164" y="514517"/>
                  </a:lnTo>
                  <a:lnTo>
                    <a:pt x="2369937" y="581942"/>
                  </a:lnTo>
                  <a:lnTo>
                    <a:pt x="2387003" y="651697"/>
                  </a:lnTo>
                  <a:lnTo>
                    <a:pt x="2392813" y="723450"/>
                  </a:lnTo>
                  <a:lnTo>
                    <a:pt x="2391349" y="759554"/>
                  </a:lnTo>
                  <a:lnTo>
                    <a:pt x="2387003" y="795200"/>
                  </a:lnTo>
                  <a:lnTo>
                    <a:pt x="2369937" y="864951"/>
                  </a:lnTo>
                  <a:lnTo>
                    <a:pt x="2342164" y="932373"/>
                  </a:lnTo>
                  <a:lnTo>
                    <a:pt x="2304233" y="997133"/>
                  </a:lnTo>
                  <a:lnTo>
                    <a:pt x="2281628" y="1028412"/>
                  </a:lnTo>
                  <a:lnTo>
                    <a:pt x="2256690" y="1058900"/>
                  </a:lnTo>
                  <a:lnTo>
                    <a:pt x="2229485" y="1088558"/>
                  </a:lnTo>
                  <a:lnTo>
                    <a:pt x="2200084" y="1117342"/>
                  </a:lnTo>
                  <a:lnTo>
                    <a:pt x="2168553" y="1145213"/>
                  </a:lnTo>
                  <a:lnTo>
                    <a:pt x="2134963" y="1172128"/>
                  </a:lnTo>
                  <a:lnTo>
                    <a:pt x="2099380" y="1198047"/>
                  </a:lnTo>
                  <a:lnTo>
                    <a:pt x="2061875" y="1222927"/>
                  </a:lnTo>
                  <a:lnTo>
                    <a:pt x="2022514" y="1246727"/>
                  </a:lnTo>
                  <a:lnTo>
                    <a:pt x="1981368" y="1269405"/>
                  </a:lnTo>
                  <a:lnTo>
                    <a:pt x="1938504" y="1290921"/>
                  </a:lnTo>
                  <a:lnTo>
                    <a:pt x="1893990" y="1311233"/>
                  </a:lnTo>
                  <a:lnTo>
                    <a:pt x="1847896" y="1330299"/>
                  </a:lnTo>
                  <a:lnTo>
                    <a:pt x="1800290" y="1348078"/>
                  </a:lnTo>
                  <a:lnTo>
                    <a:pt x="1751239" y="1364528"/>
                  </a:lnTo>
                  <a:lnTo>
                    <a:pt x="1700814" y="1379609"/>
                  </a:lnTo>
                  <a:lnTo>
                    <a:pt x="1649082" y="1393278"/>
                  </a:lnTo>
                  <a:lnTo>
                    <a:pt x="1596112" y="1405494"/>
                  </a:lnTo>
                  <a:lnTo>
                    <a:pt x="1541972" y="1416216"/>
                  </a:lnTo>
                  <a:lnTo>
                    <a:pt x="1486731" y="1425402"/>
                  </a:lnTo>
                  <a:lnTo>
                    <a:pt x="1430458" y="1433010"/>
                  </a:lnTo>
                  <a:lnTo>
                    <a:pt x="1373220" y="1439000"/>
                  </a:lnTo>
                  <a:lnTo>
                    <a:pt x="1315086" y="1443330"/>
                  </a:lnTo>
                  <a:lnTo>
                    <a:pt x="1256126" y="1445959"/>
                  </a:lnTo>
                  <a:lnTo>
                    <a:pt x="1196406" y="1446844"/>
                  </a:lnTo>
                  <a:lnTo>
                    <a:pt x="1136687" y="1445959"/>
                  </a:lnTo>
                  <a:lnTo>
                    <a:pt x="1077726" y="1443330"/>
                  </a:lnTo>
                  <a:lnTo>
                    <a:pt x="1019593" y="1439000"/>
                  </a:lnTo>
                  <a:lnTo>
                    <a:pt x="962355" y="1433010"/>
                  </a:lnTo>
                  <a:lnTo>
                    <a:pt x="906081" y="1425402"/>
                  </a:lnTo>
                  <a:lnTo>
                    <a:pt x="850840" y="1416216"/>
                  </a:lnTo>
                  <a:lnTo>
                    <a:pt x="796700" y="1405494"/>
                  </a:lnTo>
                  <a:lnTo>
                    <a:pt x="743730" y="1393278"/>
                  </a:lnTo>
                  <a:lnTo>
                    <a:pt x="691998" y="1379609"/>
                  </a:lnTo>
                  <a:lnTo>
                    <a:pt x="641573" y="1364528"/>
                  </a:lnTo>
                  <a:lnTo>
                    <a:pt x="592523" y="1348078"/>
                  </a:lnTo>
                  <a:lnTo>
                    <a:pt x="544917" y="1330299"/>
                  </a:lnTo>
                  <a:lnTo>
                    <a:pt x="498822" y="1311233"/>
                  </a:lnTo>
                  <a:lnTo>
                    <a:pt x="454309" y="1290921"/>
                  </a:lnTo>
                  <a:lnTo>
                    <a:pt x="411445" y="1269405"/>
                  </a:lnTo>
                  <a:lnTo>
                    <a:pt x="370298" y="1246727"/>
                  </a:lnTo>
                  <a:lnTo>
                    <a:pt x="330938" y="1222927"/>
                  </a:lnTo>
                  <a:lnTo>
                    <a:pt x="293432" y="1198047"/>
                  </a:lnTo>
                  <a:lnTo>
                    <a:pt x="257850" y="1172128"/>
                  </a:lnTo>
                  <a:lnTo>
                    <a:pt x="224259" y="1145213"/>
                  </a:lnTo>
                  <a:lnTo>
                    <a:pt x="192729" y="1117342"/>
                  </a:lnTo>
                  <a:lnTo>
                    <a:pt x="163327" y="1088558"/>
                  </a:lnTo>
                  <a:lnTo>
                    <a:pt x="136123" y="1058900"/>
                  </a:lnTo>
                  <a:lnTo>
                    <a:pt x="111184" y="1028412"/>
                  </a:lnTo>
                  <a:lnTo>
                    <a:pt x="88580" y="997133"/>
                  </a:lnTo>
                  <a:lnTo>
                    <a:pt x="50648" y="932373"/>
                  </a:lnTo>
                  <a:lnTo>
                    <a:pt x="22875" y="864951"/>
                  </a:lnTo>
                  <a:lnTo>
                    <a:pt x="5810" y="795200"/>
                  </a:lnTo>
                  <a:lnTo>
                    <a:pt x="1463" y="759554"/>
                  </a:lnTo>
                  <a:lnTo>
                    <a:pt x="0" y="723450"/>
                  </a:lnTo>
                  <a:close/>
                </a:path>
              </a:pathLst>
            </a:custGeom>
            <a:ln w="3175">
              <a:solidFill>
                <a:srgbClr val="000000"/>
              </a:solidFill>
            </a:ln>
          </p:spPr>
          <p:txBody>
            <a:bodyPr wrap="square" lIns="0" tIns="0" rIns="0" bIns="0" rtlCol="0"/>
            <a:lstStyle/>
            <a:p>
              <a:endParaRPr/>
            </a:p>
          </p:txBody>
        </p:sp>
      </p:grpSp>
      <p:sp>
        <p:nvSpPr>
          <p:cNvPr id="37" name="object 37"/>
          <p:cNvSpPr txBox="1"/>
          <p:nvPr/>
        </p:nvSpPr>
        <p:spPr>
          <a:xfrm>
            <a:off x="4246692" y="4595295"/>
            <a:ext cx="904240" cy="246379"/>
          </a:xfrm>
          <a:prstGeom prst="rect">
            <a:avLst/>
          </a:prstGeom>
        </p:spPr>
        <p:txBody>
          <a:bodyPr vert="horz" wrap="square" lIns="0" tIns="12065" rIns="0" bIns="0" rtlCol="0">
            <a:spAutoFit/>
          </a:bodyPr>
          <a:lstStyle/>
          <a:p>
            <a:pPr marL="12700">
              <a:lnSpc>
                <a:spcPct val="100000"/>
              </a:lnSpc>
              <a:spcBef>
                <a:spcPts val="95"/>
              </a:spcBef>
            </a:pPr>
            <a:r>
              <a:rPr sz="1450" u="sng" spc="-10" dirty="0">
                <a:uFill>
                  <a:solidFill>
                    <a:srgbClr val="000000"/>
                  </a:solidFill>
                </a:uFill>
                <a:latin typeface="Arial"/>
                <a:cs typeface="Arial"/>
              </a:rPr>
              <a:t>Resources</a:t>
            </a:r>
            <a:endParaRPr sz="1450">
              <a:latin typeface="Arial"/>
              <a:cs typeface="Arial"/>
            </a:endParaRPr>
          </a:p>
        </p:txBody>
      </p:sp>
      <p:sp>
        <p:nvSpPr>
          <p:cNvPr id="38" name="object 38"/>
          <p:cNvSpPr txBox="1"/>
          <p:nvPr/>
        </p:nvSpPr>
        <p:spPr>
          <a:xfrm>
            <a:off x="3654492" y="5220684"/>
            <a:ext cx="852169" cy="233045"/>
          </a:xfrm>
          <a:prstGeom prst="rect">
            <a:avLst/>
          </a:prstGeom>
          <a:solidFill>
            <a:srgbClr val="E8EDF7"/>
          </a:solidFill>
        </p:spPr>
        <p:txBody>
          <a:bodyPr vert="horz" wrap="square" lIns="0" tIns="10795" rIns="0" bIns="0" rtlCol="0">
            <a:spAutoFit/>
          </a:bodyPr>
          <a:lstStyle/>
          <a:p>
            <a:pPr marL="97790">
              <a:lnSpc>
                <a:spcPct val="100000"/>
              </a:lnSpc>
              <a:spcBef>
                <a:spcPts val="85"/>
              </a:spcBef>
            </a:pPr>
            <a:r>
              <a:rPr sz="1200" spc="-10" dirty="0">
                <a:latin typeface="Arial"/>
                <a:cs typeface="Arial"/>
              </a:rPr>
              <a:t>Networks</a:t>
            </a:r>
            <a:endParaRPr sz="1200">
              <a:latin typeface="Arial"/>
              <a:cs typeface="Arial"/>
            </a:endParaRPr>
          </a:p>
        </p:txBody>
      </p:sp>
      <p:sp>
        <p:nvSpPr>
          <p:cNvPr id="39" name="object 39"/>
          <p:cNvSpPr txBox="1"/>
          <p:nvPr/>
        </p:nvSpPr>
        <p:spPr>
          <a:xfrm>
            <a:off x="3652391" y="4927270"/>
            <a:ext cx="2063114" cy="233045"/>
          </a:xfrm>
          <a:prstGeom prst="rect">
            <a:avLst/>
          </a:prstGeom>
          <a:solidFill>
            <a:srgbClr val="E8EDF7"/>
          </a:solidFill>
        </p:spPr>
        <p:txBody>
          <a:bodyPr vert="horz" wrap="square" lIns="0" tIns="10795" rIns="0" bIns="0" rtlCol="0">
            <a:spAutoFit/>
          </a:bodyPr>
          <a:lstStyle/>
          <a:p>
            <a:pPr marL="72390">
              <a:lnSpc>
                <a:spcPct val="100000"/>
              </a:lnSpc>
              <a:spcBef>
                <a:spcPts val="85"/>
              </a:spcBef>
            </a:pPr>
            <a:r>
              <a:rPr sz="1200" dirty="0">
                <a:latin typeface="Arial"/>
                <a:cs typeface="Arial"/>
              </a:rPr>
              <a:t>Compute</a:t>
            </a:r>
            <a:r>
              <a:rPr sz="1200" spc="120" dirty="0">
                <a:latin typeface="Arial"/>
                <a:cs typeface="Arial"/>
              </a:rPr>
              <a:t> </a:t>
            </a:r>
            <a:r>
              <a:rPr sz="1200" dirty="0">
                <a:latin typeface="Arial"/>
                <a:cs typeface="Arial"/>
              </a:rPr>
              <a:t>&amp;</a:t>
            </a:r>
            <a:r>
              <a:rPr sz="1200" spc="120" dirty="0">
                <a:latin typeface="Arial"/>
                <a:cs typeface="Arial"/>
              </a:rPr>
              <a:t> </a:t>
            </a:r>
            <a:r>
              <a:rPr sz="1200" dirty="0">
                <a:latin typeface="Arial"/>
                <a:cs typeface="Arial"/>
              </a:rPr>
              <a:t>storage</a:t>
            </a:r>
            <a:r>
              <a:rPr sz="1200" spc="125" dirty="0">
                <a:latin typeface="Arial"/>
                <a:cs typeface="Arial"/>
              </a:rPr>
              <a:t> </a:t>
            </a:r>
            <a:r>
              <a:rPr sz="1200" spc="-10" dirty="0">
                <a:latin typeface="Arial"/>
                <a:cs typeface="Arial"/>
              </a:rPr>
              <a:t>servers</a:t>
            </a:r>
            <a:endParaRPr sz="1200">
              <a:latin typeface="Arial"/>
              <a:cs typeface="Arial"/>
            </a:endParaRPr>
          </a:p>
        </p:txBody>
      </p:sp>
      <p:sp>
        <p:nvSpPr>
          <p:cNvPr id="40" name="object 40"/>
          <p:cNvSpPr/>
          <p:nvPr/>
        </p:nvSpPr>
        <p:spPr>
          <a:xfrm>
            <a:off x="4641737" y="5235447"/>
            <a:ext cx="1076325" cy="207010"/>
          </a:xfrm>
          <a:custGeom>
            <a:avLst/>
            <a:gdLst/>
            <a:ahLst/>
            <a:cxnLst/>
            <a:rect l="l" t="t" r="r" b="b"/>
            <a:pathLst>
              <a:path w="1076325" h="207010">
                <a:moveTo>
                  <a:pt x="1076188" y="0"/>
                </a:moveTo>
                <a:lnTo>
                  <a:pt x="0" y="0"/>
                </a:lnTo>
                <a:lnTo>
                  <a:pt x="0" y="206685"/>
                </a:lnTo>
                <a:lnTo>
                  <a:pt x="1076188" y="206685"/>
                </a:lnTo>
                <a:lnTo>
                  <a:pt x="1076188" y="0"/>
                </a:lnTo>
                <a:close/>
              </a:path>
            </a:pathLst>
          </a:custGeom>
          <a:solidFill>
            <a:srgbClr val="E8EDF7"/>
          </a:solidFill>
        </p:spPr>
        <p:txBody>
          <a:bodyPr wrap="square" lIns="0" tIns="0" rIns="0" bIns="0" rtlCol="0"/>
          <a:lstStyle/>
          <a:p>
            <a:endParaRPr/>
          </a:p>
        </p:txBody>
      </p:sp>
      <p:sp>
        <p:nvSpPr>
          <p:cNvPr id="41" name="object 41"/>
          <p:cNvSpPr txBox="1"/>
          <p:nvPr/>
        </p:nvSpPr>
        <p:spPr>
          <a:xfrm>
            <a:off x="4865115" y="5215868"/>
            <a:ext cx="629920" cy="214629"/>
          </a:xfrm>
          <a:prstGeom prst="rect">
            <a:avLst/>
          </a:prstGeom>
        </p:spPr>
        <p:txBody>
          <a:bodyPr vert="horz" wrap="square" lIns="0" tIns="17780" rIns="0" bIns="0" rtlCol="0">
            <a:spAutoFit/>
          </a:bodyPr>
          <a:lstStyle/>
          <a:p>
            <a:pPr marL="12700">
              <a:lnSpc>
                <a:spcPct val="100000"/>
              </a:lnSpc>
              <a:spcBef>
                <a:spcPts val="140"/>
              </a:spcBef>
            </a:pPr>
            <a:r>
              <a:rPr sz="1200" spc="-10" dirty="0">
                <a:latin typeface="Arial"/>
                <a:cs typeface="Arial"/>
              </a:rPr>
              <a:t>Services</a:t>
            </a:r>
            <a:endParaRPr sz="1200">
              <a:latin typeface="Arial"/>
              <a:cs typeface="Arial"/>
            </a:endParaRPr>
          </a:p>
        </p:txBody>
      </p:sp>
      <p:sp>
        <p:nvSpPr>
          <p:cNvPr id="42" name="object 42"/>
          <p:cNvSpPr txBox="1"/>
          <p:nvPr/>
        </p:nvSpPr>
        <p:spPr>
          <a:xfrm>
            <a:off x="4139515" y="5545475"/>
            <a:ext cx="1076325" cy="207010"/>
          </a:xfrm>
          <a:prstGeom prst="rect">
            <a:avLst/>
          </a:prstGeom>
          <a:solidFill>
            <a:srgbClr val="E8EDF7"/>
          </a:solidFill>
        </p:spPr>
        <p:txBody>
          <a:bodyPr vert="horz" wrap="square" lIns="0" tIns="0" rIns="0" bIns="0" rtlCol="0">
            <a:spAutoFit/>
          </a:bodyPr>
          <a:lstStyle/>
          <a:p>
            <a:pPr marL="113030">
              <a:lnSpc>
                <a:spcPts val="1425"/>
              </a:lnSpc>
            </a:pPr>
            <a:r>
              <a:rPr sz="1200" spc="-10" dirty="0">
                <a:latin typeface="Arial"/>
                <a:cs typeface="Arial"/>
              </a:rPr>
              <a:t>Applications</a:t>
            </a:r>
            <a:endParaRPr sz="1200">
              <a:latin typeface="Arial"/>
              <a:cs typeface="Arial"/>
            </a:endParaRPr>
          </a:p>
        </p:txBody>
      </p:sp>
      <p:grpSp>
        <p:nvGrpSpPr>
          <p:cNvPr id="43" name="object 43"/>
          <p:cNvGrpSpPr/>
          <p:nvPr/>
        </p:nvGrpSpPr>
        <p:grpSpPr>
          <a:xfrm>
            <a:off x="841834" y="3448389"/>
            <a:ext cx="2721610" cy="1464945"/>
            <a:chOff x="841834" y="3448389"/>
            <a:chExt cx="2721610" cy="1464945"/>
          </a:xfrm>
        </p:grpSpPr>
        <p:sp>
          <p:nvSpPr>
            <p:cNvPr id="44" name="object 44"/>
            <p:cNvSpPr/>
            <p:nvPr/>
          </p:nvSpPr>
          <p:spPr>
            <a:xfrm>
              <a:off x="2202444" y="4039718"/>
              <a:ext cx="0" cy="259715"/>
            </a:xfrm>
            <a:custGeom>
              <a:avLst/>
              <a:gdLst/>
              <a:ahLst/>
              <a:cxnLst/>
              <a:rect l="l" t="t" r="r" b="b"/>
              <a:pathLst>
                <a:path h="259714">
                  <a:moveTo>
                    <a:pt x="0" y="0"/>
                  </a:moveTo>
                  <a:lnTo>
                    <a:pt x="0" y="259176"/>
                  </a:lnTo>
                  <a:lnTo>
                    <a:pt x="0" y="141070"/>
                  </a:lnTo>
                </a:path>
              </a:pathLst>
            </a:custGeom>
            <a:ln w="3175">
              <a:solidFill>
                <a:srgbClr val="000000"/>
              </a:solidFill>
            </a:ln>
          </p:spPr>
          <p:txBody>
            <a:bodyPr wrap="square" lIns="0" tIns="0" rIns="0" bIns="0" rtlCol="0"/>
            <a:lstStyle/>
            <a:p>
              <a:endParaRPr/>
            </a:p>
          </p:txBody>
        </p:sp>
        <p:sp>
          <p:nvSpPr>
            <p:cNvPr id="45" name="object 45"/>
            <p:cNvSpPr/>
            <p:nvPr/>
          </p:nvSpPr>
          <p:spPr>
            <a:xfrm>
              <a:off x="843422" y="3449976"/>
              <a:ext cx="2718435" cy="1461770"/>
            </a:xfrm>
            <a:custGeom>
              <a:avLst/>
              <a:gdLst/>
              <a:ahLst/>
              <a:cxnLst/>
              <a:rect l="l" t="t" r="r" b="b"/>
              <a:pathLst>
                <a:path w="2718435" h="1461770">
                  <a:moveTo>
                    <a:pt x="1358890" y="0"/>
                  </a:moveTo>
                  <a:lnTo>
                    <a:pt x="1296690" y="752"/>
                  </a:lnTo>
                  <a:lnTo>
                    <a:pt x="1235207" y="2987"/>
                  </a:lnTo>
                  <a:lnTo>
                    <a:pt x="1174501" y="6673"/>
                  </a:lnTo>
                  <a:lnTo>
                    <a:pt x="1114634" y="11777"/>
                  </a:lnTo>
                  <a:lnTo>
                    <a:pt x="1055664" y="18267"/>
                  </a:lnTo>
                  <a:lnTo>
                    <a:pt x="997651" y="26111"/>
                  </a:lnTo>
                  <a:lnTo>
                    <a:pt x="940656" y="35276"/>
                  </a:lnTo>
                  <a:lnTo>
                    <a:pt x="884738" y="45731"/>
                  </a:lnTo>
                  <a:lnTo>
                    <a:pt x="829958" y="57443"/>
                  </a:lnTo>
                  <a:lnTo>
                    <a:pt x="776375" y="70379"/>
                  </a:lnTo>
                  <a:lnTo>
                    <a:pt x="724050" y="84508"/>
                  </a:lnTo>
                  <a:lnTo>
                    <a:pt x="673042" y="99796"/>
                  </a:lnTo>
                  <a:lnTo>
                    <a:pt x="623411" y="116213"/>
                  </a:lnTo>
                  <a:lnTo>
                    <a:pt x="575218" y="133725"/>
                  </a:lnTo>
                  <a:lnTo>
                    <a:pt x="528522" y="152300"/>
                  </a:lnTo>
                  <a:lnTo>
                    <a:pt x="483383" y="171907"/>
                  </a:lnTo>
                  <a:lnTo>
                    <a:pt x="439862" y="192511"/>
                  </a:lnTo>
                  <a:lnTo>
                    <a:pt x="398017" y="214083"/>
                  </a:lnTo>
                  <a:lnTo>
                    <a:pt x="357910" y="236588"/>
                  </a:lnTo>
                  <a:lnTo>
                    <a:pt x="319600" y="259995"/>
                  </a:lnTo>
                  <a:lnTo>
                    <a:pt x="283148" y="284272"/>
                  </a:lnTo>
                  <a:lnTo>
                    <a:pt x="248612" y="309386"/>
                  </a:lnTo>
                  <a:lnTo>
                    <a:pt x="216054" y="335305"/>
                  </a:lnTo>
                  <a:lnTo>
                    <a:pt x="185532" y="361996"/>
                  </a:lnTo>
                  <a:lnTo>
                    <a:pt x="157108" y="389428"/>
                  </a:lnTo>
                  <a:lnTo>
                    <a:pt x="130841" y="417568"/>
                  </a:lnTo>
                  <a:lnTo>
                    <a:pt x="85017" y="475843"/>
                  </a:lnTo>
                  <a:lnTo>
                    <a:pt x="48541" y="536564"/>
                  </a:lnTo>
                  <a:lnTo>
                    <a:pt x="21893" y="599471"/>
                  </a:lnTo>
                  <a:lnTo>
                    <a:pt x="5553" y="664306"/>
                  </a:lnTo>
                  <a:lnTo>
                    <a:pt x="0" y="730812"/>
                  </a:lnTo>
                  <a:lnTo>
                    <a:pt x="1398" y="764268"/>
                  </a:lnTo>
                  <a:lnTo>
                    <a:pt x="12405" y="829988"/>
                  </a:lnTo>
                  <a:lnTo>
                    <a:pt x="33960" y="893904"/>
                  </a:lnTo>
                  <a:lnTo>
                    <a:pt x="65584" y="955758"/>
                  </a:lnTo>
                  <a:lnTo>
                    <a:pt x="106795" y="1015293"/>
                  </a:lnTo>
                  <a:lnTo>
                    <a:pt x="157115" y="1072251"/>
                  </a:lnTo>
                  <a:lnTo>
                    <a:pt x="185541" y="1099682"/>
                  </a:lnTo>
                  <a:lnTo>
                    <a:pt x="216064" y="1126373"/>
                  </a:lnTo>
                  <a:lnTo>
                    <a:pt x="248624" y="1152291"/>
                  </a:lnTo>
                  <a:lnTo>
                    <a:pt x="283162" y="1177403"/>
                  </a:lnTo>
                  <a:lnTo>
                    <a:pt x="319617" y="1201677"/>
                  </a:lnTo>
                  <a:lnTo>
                    <a:pt x="357929" y="1225082"/>
                  </a:lnTo>
                  <a:lnTo>
                    <a:pt x="398039" y="1247584"/>
                  </a:lnTo>
                  <a:lnTo>
                    <a:pt x="439886" y="1269152"/>
                  </a:lnTo>
                  <a:lnTo>
                    <a:pt x="483411" y="1289753"/>
                  </a:lnTo>
                  <a:lnTo>
                    <a:pt x="528554" y="1309355"/>
                  </a:lnTo>
                  <a:lnTo>
                    <a:pt x="575254" y="1327926"/>
                  </a:lnTo>
                  <a:lnTo>
                    <a:pt x="623451" y="1345434"/>
                  </a:lnTo>
                  <a:lnTo>
                    <a:pt x="673087" y="1361847"/>
                  </a:lnTo>
                  <a:lnTo>
                    <a:pt x="724100" y="1377131"/>
                  </a:lnTo>
                  <a:lnTo>
                    <a:pt x="776430" y="1391256"/>
                  </a:lnTo>
                  <a:lnTo>
                    <a:pt x="830019" y="1404188"/>
                  </a:lnTo>
                  <a:lnTo>
                    <a:pt x="884805" y="1415896"/>
                  </a:lnTo>
                  <a:lnTo>
                    <a:pt x="940729" y="1426347"/>
                  </a:lnTo>
                  <a:lnTo>
                    <a:pt x="997732" y="1435510"/>
                  </a:lnTo>
                  <a:lnTo>
                    <a:pt x="1055751" y="1443351"/>
                  </a:lnTo>
                  <a:lnTo>
                    <a:pt x="1114729" y="1449839"/>
                  </a:lnTo>
                  <a:lnTo>
                    <a:pt x="1174605" y="1454941"/>
                  </a:lnTo>
                  <a:lnTo>
                    <a:pt x="1235319" y="1458625"/>
                  </a:lnTo>
                  <a:lnTo>
                    <a:pt x="1296811" y="1460859"/>
                  </a:lnTo>
                  <a:lnTo>
                    <a:pt x="1359021" y="1461611"/>
                  </a:lnTo>
                  <a:lnTo>
                    <a:pt x="1421225" y="1460859"/>
                  </a:lnTo>
                  <a:lnTo>
                    <a:pt x="1482711" y="1458625"/>
                  </a:lnTo>
                  <a:lnTo>
                    <a:pt x="1543420" y="1454941"/>
                  </a:lnTo>
                  <a:lnTo>
                    <a:pt x="1603290" y="1449839"/>
                  </a:lnTo>
                  <a:lnTo>
                    <a:pt x="1662264" y="1443351"/>
                  </a:lnTo>
                  <a:lnTo>
                    <a:pt x="1720279" y="1435510"/>
                  </a:lnTo>
                  <a:lnTo>
                    <a:pt x="1777277" y="1426347"/>
                  </a:lnTo>
                  <a:lnTo>
                    <a:pt x="1833197" y="1415896"/>
                  </a:lnTo>
                  <a:lnTo>
                    <a:pt x="1887980" y="1404188"/>
                  </a:lnTo>
                  <a:lnTo>
                    <a:pt x="1941566" y="1391256"/>
                  </a:lnTo>
                  <a:lnTo>
                    <a:pt x="1993894" y="1377131"/>
                  </a:lnTo>
                  <a:lnTo>
                    <a:pt x="2044904" y="1361847"/>
                  </a:lnTo>
                  <a:lnTo>
                    <a:pt x="2094537" y="1345434"/>
                  </a:lnTo>
                  <a:lnTo>
                    <a:pt x="2142733" y="1327926"/>
                  </a:lnTo>
                  <a:lnTo>
                    <a:pt x="2189431" y="1309355"/>
                  </a:lnTo>
                  <a:lnTo>
                    <a:pt x="2234572" y="1289753"/>
                  </a:lnTo>
                  <a:lnTo>
                    <a:pt x="2278095" y="1269152"/>
                  </a:lnTo>
                  <a:lnTo>
                    <a:pt x="2319941" y="1247584"/>
                  </a:lnTo>
                  <a:lnTo>
                    <a:pt x="2360050" y="1225082"/>
                  </a:lnTo>
                  <a:lnTo>
                    <a:pt x="2398362" y="1201677"/>
                  </a:lnTo>
                  <a:lnTo>
                    <a:pt x="2434816" y="1177403"/>
                  </a:lnTo>
                  <a:lnTo>
                    <a:pt x="2469353" y="1152291"/>
                  </a:lnTo>
                  <a:lnTo>
                    <a:pt x="2501913" y="1126373"/>
                  </a:lnTo>
                  <a:lnTo>
                    <a:pt x="2532436" y="1099682"/>
                  </a:lnTo>
                  <a:lnTo>
                    <a:pt x="2560862" y="1072251"/>
                  </a:lnTo>
                  <a:lnTo>
                    <a:pt x="2587130" y="1044110"/>
                  </a:lnTo>
                  <a:lnTo>
                    <a:pt x="2632956" y="985832"/>
                  </a:lnTo>
                  <a:lnTo>
                    <a:pt x="2669433" y="925105"/>
                  </a:lnTo>
                  <a:lnTo>
                    <a:pt x="2696082" y="862187"/>
                  </a:lnTo>
                  <a:lnTo>
                    <a:pt x="2712424" y="797337"/>
                  </a:lnTo>
                  <a:lnTo>
                    <a:pt x="2717978" y="730812"/>
                  </a:lnTo>
                  <a:lnTo>
                    <a:pt x="2716569" y="697366"/>
                  </a:lnTo>
                  <a:lnTo>
                    <a:pt x="2705544" y="631664"/>
                  </a:lnTo>
                  <a:lnTo>
                    <a:pt x="2683975" y="567760"/>
                  </a:lnTo>
                  <a:lnTo>
                    <a:pt x="2652342" y="505914"/>
                  </a:lnTo>
                  <a:lnTo>
                    <a:pt x="2611124" y="446384"/>
                  </a:lnTo>
                  <a:lnTo>
                    <a:pt x="2560800" y="389428"/>
                  </a:lnTo>
                  <a:lnTo>
                    <a:pt x="2532373" y="361996"/>
                  </a:lnTo>
                  <a:lnTo>
                    <a:pt x="2501849" y="335305"/>
                  </a:lnTo>
                  <a:lnTo>
                    <a:pt x="2469288" y="309386"/>
                  </a:lnTo>
                  <a:lnTo>
                    <a:pt x="2434751" y="284272"/>
                  </a:lnTo>
                  <a:lnTo>
                    <a:pt x="2398296" y="259995"/>
                  </a:lnTo>
                  <a:lnTo>
                    <a:pt x="2359985" y="236588"/>
                  </a:lnTo>
                  <a:lnTo>
                    <a:pt x="2319876" y="214083"/>
                  </a:lnTo>
                  <a:lnTo>
                    <a:pt x="2278030" y="192511"/>
                  </a:lnTo>
                  <a:lnTo>
                    <a:pt x="2234506" y="171907"/>
                  </a:lnTo>
                  <a:lnTo>
                    <a:pt x="2189365" y="152300"/>
                  </a:lnTo>
                  <a:lnTo>
                    <a:pt x="2142666" y="133725"/>
                  </a:lnTo>
                  <a:lnTo>
                    <a:pt x="2094470" y="116213"/>
                  </a:lnTo>
                  <a:lnTo>
                    <a:pt x="2044836" y="99796"/>
                  </a:lnTo>
                  <a:lnTo>
                    <a:pt x="1993824" y="84508"/>
                  </a:lnTo>
                  <a:lnTo>
                    <a:pt x="1941494" y="70379"/>
                  </a:lnTo>
                  <a:lnTo>
                    <a:pt x="1887907" y="57443"/>
                  </a:lnTo>
                  <a:lnTo>
                    <a:pt x="1833121" y="45731"/>
                  </a:lnTo>
                  <a:lnTo>
                    <a:pt x="1777196" y="35276"/>
                  </a:lnTo>
                  <a:lnTo>
                    <a:pt x="1720194" y="26111"/>
                  </a:lnTo>
                  <a:lnTo>
                    <a:pt x="1662173" y="18267"/>
                  </a:lnTo>
                  <a:lnTo>
                    <a:pt x="1603194" y="11777"/>
                  </a:lnTo>
                  <a:lnTo>
                    <a:pt x="1543316" y="6673"/>
                  </a:lnTo>
                  <a:lnTo>
                    <a:pt x="1482600" y="2987"/>
                  </a:lnTo>
                  <a:lnTo>
                    <a:pt x="1421104" y="752"/>
                  </a:lnTo>
                  <a:lnTo>
                    <a:pt x="1358890" y="0"/>
                  </a:lnTo>
                  <a:close/>
                </a:path>
              </a:pathLst>
            </a:custGeom>
            <a:solidFill>
              <a:srgbClr val="D7D7D7"/>
            </a:solidFill>
          </p:spPr>
          <p:txBody>
            <a:bodyPr wrap="square" lIns="0" tIns="0" rIns="0" bIns="0" rtlCol="0"/>
            <a:lstStyle/>
            <a:p>
              <a:endParaRPr/>
            </a:p>
          </p:txBody>
        </p:sp>
        <p:sp>
          <p:nvSpPr>
            <p:cNvPr id="46" name="object 46"/>
            <p:cNvSpPr/>
            <p:nvPr/>
          </p:nvSpPr>
          <p:spPr>
            <a:xfrm>
              <a:off x="843422" y="3449976"/>
              <a:ext cx="2718435" cy="1461770"/>
            </a:xfrm>
            <a:custGeom>
              <a:avLst/>
              <a:gdLst/>
              <a:ahLst/>
              <a:cxnLst/>
              <a:rect l="l" t="t" r="r" b="b"/>
              <a:pathLst>
                <a:path w="2718435" h="1461770">
                  <a:moveTo>
                    <a:pt x="0" y="730812"/>
                  </a:moveTo>
                  <a:lnTo>
                    <a:pt x="5553" y="664306"/>
                  </a:lnTo>
                  <a:lnTo>
                    <a:pt x="21893" y="599471"/>
                  </a:lnTo>
                  <a:lnTo>
                    <a:pt x="48541" y="536564"/>
                  </a:lnTo>
                  <a:lnTo>
                    <a:pt x="85017" y="475843"/>
                  </a:lnTo>
                  <a:lnTo>
                    <a:pt x="130841" y="417568"/>
                  </a:lnTo>
                  <a:lnTo>
                    <a:pt x="157108" y="389428"/>
                  </a:lnTo>
                  <a:lnTo>
                    <a:pt x="185532" y="361996"/>
                  </a:lnTo>
                  <a:lnTo>
                    <a:pt x="216054" y="335305"/>
                  </a:lnTo>
                  <a:lnTo>
                    <a:pt x="248612" y="309386"/>
                  </a:lnTo>
                  <a:lnTo>
                    <a:pt x="283148" y="284272"/>
                  </a:lnTo>
                  <a:lnTo>
                    <a:pt x="319600" y="259995"/>
                  </a:lnTo>
                  <a:lnTo>
                    <a:pt x="357910" y="236588"/>
                  </a:lnTo>
                  <a:lnTo>
                    <a:pt x="398017" y="214083"/>
                  </a:lnTo>
                  <a:lnTo>
                    <a:pt x="439862" y="192511"/>
                  </a:lnTo>
                  <a:lnTo>
                    <a:pt x="483383" y="171907"/>
                  </a:lnTo>
                  <a:lnTo>
                    <a:pt x="528522" y="152300"/>
                  </a:lnTo>
                  <a:lnTo>
                    <a:pt x="575218" y="133725"/>
                  </a:lnTo>
                  <a:lnTo>
                    <a:pt x="623411" y="116213"/>
                  </a:lnTo>
                  <a:lnTo>
                    <a:pt x="673042" y="99796"/>
                  </a:lnTo>
                  <a:lnTo>
                    <a:pt x="724050" y="84508"/>
                  </a:lnTo>
                  <a:lnTo>
                    <a:pt x="776375" y="70379"/>
                  </a:lnTo>
                  <a:lnTo>
                    <a:pt x="829958" y="57443"/>
                  </a:lnTo>
                  <a:lnTo>
                    <a:pt x="884738" y="45731"/>
                  </a:lnTo>
                  <a:lnTo>
                    <a:pt x="940656" y="35276"/>
                  </a:lnTo>
                  <a:lnTo>
                    <a:pt x="997651" y="26111"/>
                  </a:lnTo>
                  <a:lnTo>
                    <a:pt x="1055664" y="18267"/>
                  </a:lnTo>
                  <a:lnTo>
                    <a:pt x="1114634" y="11777"/>
                  </a:lnTo>
                  <a:lnTo>
                    <a:pt x="1174501" y="6673"/>
                  </a:lnTo>
                  <a:lnTo>
                    <a:pt x="1235207" y="2987"/>
                  </a:lnTo>
                  <a:lnTo>
                    <a:pt x="1296690" y="752"/>
                  </a:lnTo>
                  <a:lnTo>
                    <a:pt x="1358890" y="0"/>
                  </a:lnTo>
                  <a:lnTo>
                    <a:pt x="1421104" y="752"/>
                  </a:lnTo>
                  <a:lnTo>
                    <a:pt x="1482600" y="2987"/>
                  </a:lnTo>
                  <a:lnTo>
                    <a:pt x="1543316" y="6673"/>
                  </a:lnTo>
                  <a:lnTo>
                    <a:pt x="1603194" y="11777"/>
                  </a:lnTo>
                  <a:lnTo>
                    <a:pt x="1662173" y="18267"/>
                  </a:lnTo>
                  <a:lnTo>
                    <a:pt x="1720194" y="26111"/>
                  </a:lnTo>
                  <a:lnTo>
                    <a:pt x="1777196" y="35276"/>
                  </a:lnTo>
                  <a:lnTo>
                    <a:pt x="1833121" y="45731"/>
                  </a:lnTo>
                  <a:lnTo>
                    <a:pt x="1887907" y="57443"/>
                  </a:lnTo>
                  <a:lnTo>
                    <a:pt x="1941494" y="70379"/>
                  </a:lnTo>
                  <a:lnTo>
                    <a:pt x="1993824" y="84508"/>
                  </a:lnTo>
                  <a:lnTo>
                    <a:pt x="2044836" y="99796"/>
                  </a:lnTo>
                  <a:lnTo>
                    <a:pt x="2094470" y="116213"/>
                  </a:lnTo>
                  <a:lnTo>
                    <a:pt x="2142666" y="133725"/>
                  </a:lnTo>
                  <a:lnTo>
                    <a:pt x="2189365" y="152300"/>
                  </a:lnTo>
                  <a:lnTo>
                    <a:pt x="2234506" y="171907"/>
                  </a:lnTo>
                  <a:lnTo>
                    <a:pt x="2278030" y="192511"/>
                  </a:lnTo>
                  <a:lnTo>
                    <a:pt x="2319876" y="214083"/>
                  </a:lnTo>
                  <a:lnTo>
                    <a:pt x="2359985" y="236588"/>
                  </a:lnTo>
                  <a:lnTo>
                    <a:pt x="2398296" y="259995"/>
                  </a:lnTo>
                  <a:lnTo>
                    <a:pt x="2434751" y="284272"/>
                  </a:lnTo>
                  <a:lnTo>
                    <a:pt x="2469288" y="309386"/>
                  </a:lnTo>
                  <a:lnTo>
                    <a:pt x="2501849" y="335305"/>
                  </a:lnTo>
                  <a:lnTo>
                    <a:pt x="2532373" y="361996"/>
                  </a:lnTo>
                  <a:lnTo>
                    <a:pt x="2560800" y="389428"/>
                  </a:lnTo>
                  <a:lnTo>
                    <a:pt x="2587070" y="417568"/>
                  </a:lnTo>
                  <a:lnTo>
                    <a:pt x="2632901" y="475843"/>
                  </a:lnTo>
                  <a:lnTo>
                    <a:pt x="2669387" y="536564"/>
                  </a:lnTo>
                  <a:lnTo>
                    <a:pt x="2696048" y="599471"/>
                  </a:lnTo>
                  <a:lnTo>
                    <a:pt x="2712404" y="664306"/>
                  </a:lnTo>
                  <a:lnTo>
                    <a:pt x="2717978" y="730812"/>
                  </a:lnTo>
                  <a:lnTo>
                    <a:pt x="2716579" y="764268"/>
                  </a:lnTo>
                  <a:lnTo>
                    <a:pt x="2712424" y="797337"/>
                  </a:lnTo>
                  <a:lnTo>
                    <a:pt x="2696082" y="862187"/>
                  </a:lnTo>
                  <a:lnTo>
                    <a:pt x="2669433" y="925105"/>
                  </a:lnTo>
                  <a:lnTo>
                    <a:pt x="2632956" y="985832"/>
                  </a:lnTo>
                  <a:lnTo>
                    <a:pt x="2587130" y="1044110"/>
                  </a:lnTo>
                  <a:lnTo>
                    <a:pt x="2560862" y="1072251"/>
                  </a:lnTo>
                  <a:lnTo>
                    <a:pt x="2532436" y="1099682"/>
                  </a:lnTo>
                  <a:lnTo>
                    <a:pt x="2501913" y="1126373"/>
                  </a:lnTo>
                  <a:lnTo>
                    <a:pt x="2469353" y="1152291"/>
                  </a:lnTo>
                  <a:lnTo>
                    <a:pt x="2434816" y="1177403"/>
                  </a:lnTo>
                  <a:lnTo>
                    <a:pt x="2398362" y="1201677"/>
                  </a:lnTo>
                  <a:lnTo>
                    <a:pt x="2360050" y="1225081"/>
                  </a:lnTo>
                  <a:lnTo>
                    <a:pt x="2319941" y="1247584"/>
                  </a:lnTo>
                  <a:lnTo>
                    <a:pt x="2278095" y="1269152"/>
                  </a:lnTo>
                  <a:lnTo>
                    <a:pt x="2234572" y="1289753"/>
                  </a:lnTo>
                  <a:lnTo>
                    <a:pt x="2189431" y="1309355"/>
                  </a:lnTo>
                  <a:lnTo>
                    <a:pt x="2142733" y="1327926"/>
                  </a:lnTo>
                  <a:lnTo>
                    <a:pt x="2094537" y="1345434"/>
                  </a:lnTo>
                  <a:lnTo>
                    <a:pt x="2044904" y="1361847"/>
                  </a:lnTo>
                  <a:lnTo>
                    <a:pt x="1993894" y="1377131"/>
                  </a:lnTo>
                  <a:lnTo>
                    <a:pt x="1941566" y="1391256"/>
                  </a:lnTo>
                  <a:lnTo>
                    <a:pt x="1887980" y="1404188"/>
                  </a:lnTo>
                  <a:lnTo>
                    <a:pt x="1833198" y="1415896"/>
                  </a:lnTo>
                  <a:lnTo>
                    <a:pt x="1777277" y="1426347"/>
                  </a:lnTo>
                  <a:lnTo>
                    <a:pt x="1720279" y="1435510"/>
                  </a:lnTo>
                  <a:lnTo>
                    <a:pt x="1662264" y="1443351"/>
                  </a:lnTo>
                  <a:lnTo>
                    <a:pt x="1603290" y="1449839"/>
                  </a:lnTo>
                  <a:lnTo>
                    <a:pt x="1543420" y="1454941"/>
                  </a:lnTo>
                  <a:lnTo>
                    <a:pt x="1482711" y="1458625"/>
                  </a:lnTo>
                  <a:lnTo>
                    <a:pt x="1421225" y="1460859"/>
                  </a:lnTo>
                  <a:lnTo>
                    <a:pt x="1359021" y="1461611"/>
                  </a:lnTo>
                  <a:lnTo>
                    <a:pt x="1296811" y="1460859"/>
                  </a:lnTo>
                  <a:lnTo>
                    <a:pt x="1235319" y="1458625"/>
                  </a:lnTo>
                  <a:lnTo>
                    <a:pt x="1174605" y="1454941"/>
                  </a:lnTo>
                  <a:lnTo>
                    <a:pt x="1114729" y="1449839"/>
                  </a:lnTo>
                  <a:lnTo>
                    <a:pt x="1055751" y="1443351"/>
                  </a:lnTo>
                  <a:lnTo>
                    <a:pt x="997732" y="1435510"/>
                  </a:lnTo>
                  <a:lnTo>
                    <a:pt x="940729" y="1426347"/>
                  </a:lnTo>
                  <a:lnTo>
                    <a:pt x="884805" y="1415896"/>
                  </a:lnTo>
                  <a:lnTo>
                    <a:pt x="830019" y="1404188"/>
                  </a:lnTo>
                  <a:lnTo>
                    <a:pt x="776430" y="1391256"/>
                  </a:lnTo>
                  <a:lnTo>
                    <a:pt x="724100" y="1377131"/>
                  </a:lnTo>
                  <a:lnTo>
                    <a:pt x="673087" y="1361847"/>
                  </a:lnTo>
                  <a:lnTo>
                    <a:pt x="623451" y="1345434"/>
                  </a:lnTo>
                  <a:lnTo>
                    <a:pt x="575254" y="1327926"/>
                  </a:lnTo>
                  <a:lnTo>
                    <a:pt x="528554" y="1309355"/>
                  </a:lnTo>
                  <a:lnTo>
                    <a:pt x="483411" y="1289753"/>
                  </a:lnTo>
                  <a:lnTo>
                    <a:pt x="439886" y="1269152"/>
                  </a:lnTo>
                  <a:lnTo>
                    <a:pt x="398039" y="1247584"/>
                  </a:lnTo>
                  <a:lnTo>
                    <a:pt x="357929" y="1225081"/>
                  </a:lnTo>
                  <a:lnTo>
                    <a:pt x="319617" y="1201677"/>
                  </a:lnTo>
                  <a:lnTo>
                    <a:pt x="283162" y="1177403"/>
                  </a:lnTo>
                  <a:lnTo>
                    <a:pt x="248624" y="1152291"/>
                  </a:lnTo>
                  <a:lnTo>
                    <a:pt x="216064" y="1126373"/>
                  </a:lnTo>
                  <a:lnTo>
                    <a:pt x="185541" y="1099682"/>
                  </a:lnTo>
                  <a:lnTo>
                    <a:pt x="157115" y="1072251"/>
                  </a:lnTo>
                  <a:lnTo>
                    <a:pt x="130846" y="1044110"/>
                  </a:lnTo>
                  <a:lnTo>
                    <a:pt x="85021" y="985832"/>
                  </a:lnTo>
                  <a:lnTo>
                    <a:pt x="48543" y="925105"/>
                  </a:lnTo>
                  <a:lnTo>
                    <a:pt x="21894" y="862187"/>
                  </a:lnTo>
                  <a:lnTo>
                    <a:pt x="5553" y="797337"/>
                  </a:lnTo>
                  <a:lnTo>
                    <a:pt x="1398" y="764268"/>
                  </a:lnTo>
                  <a:lnTo>
                    <a:pt x="0" y="730812"/>
                  </a:lnTo>
                  <a:close/>
                </a:path>
              </a:pathLst>
            </a:custGeom>
            <a:ln w="3175">
              <a:solidFill>
                <a:srgbClr val="000000"/>
              </a:solidFill>
            </a:ln>
          </p:spPr>
          <p:txBody>
            <a:bodyPr wrap="square" lIns="0" tIns="0" rIns="0" bIns="0" rtlCol="0"/>
            <a:lstStyle/>
            <a:p>
              <a:endParaRPr/>
            </a:p>
          </p:txBody>
        </p:sp>
      </p:grpSp>
      <p:sp>
        <p:nvSpPr>
          <p:cNvPr id="47" name="object 47"/>
          <p:cNvSpPr txBox="1"/>
          <p:nvPr/>
        </p:nvSpPr>
        <p:spPr>
          <a:xfrm>
            <a:off x="1648236" y="3562735"/>
            <a:ext cx="1108710" cy="246379"/>
          </a:xfrm>
          <a:prstGeom prst="rect">
            <a:avLst/>
          </a:prstGeom>
        </p:spPr>
        <p:txBody>
          <a:bodyPr vert="horz" wrap="square" lIns="0" tIns="12065" rIns="0" bIns="0" rtlCol="0">
            <a:spAutoFit/>
          </a:bodyPr>
          <a:lstStyle/>
          <a:p>
            <a:pPr marL="12700">
              <a:lnSpc>
                <a:spcPct val="100000"/>
              </a:lnSpc>
              <a:spcBef>
                <a:spcPts val="95"/>
              </a:spcBef>
            </a:pPr>
            <a:r>
              <a:rPr sz="1450" u="sng" spc="-10" dirty="0">
                <a:uFill>
                  <a:solidFill>
                    <a:srgbClr val="000000"/>
                  </a:solidFill>
                </a:uFill>
                <a:latin typeface="Arial"/>
                <a:cs typeface="Arial"/>
              </a:rPr>
              <a:t>Infrastructure</a:t>
            </a:r>
            <a:endParaRPr sz="1450">
              <a:latin typeface="Arial"/>
              <a:cs typeface="Arial"/>
            </a:endParaRPr>
          </a:p>
        </p:txBody>
      </p:sp>
      <p:sp>
        <p:nvSpPr>
          <p:cNvPr id="48" name="object 48"/>
          <p:cNvSpPr txBox="1"/>
          <p:nvPr/>
        </p:nvSpPr>
        <p:spPr>
          <a:xfrm>
            <a:off x="1286560" y="3815356"/>
            <a:ext cx="1831975" cy="224790"/>
          </a:xfrm>
          <a:prstGeom prst="rect">
            <a:avLst/>
          </a:prstGeom>
          <a:solidFill>
            <a:srgbClr val="E8EDF7"/>
          </a:solidFill>
        </p:spPr>
        <p:txBody>
          <a:bodyPr vert="horz" wrap="square" lIns="0" tIns="6985" rIns="0" bIns="0" rtlCol="0">
            <a:spAutoFit/>
          </a:bodyPr>
          <a:lstStyle/>
          <a:p>
            <a:pPr marL="57150">
              <a:lnSpc>
                <a:spcPct val="100000"/>
              </a:lnSpc>
              <a:spcBef>
                <a:spcPts val="55"/>
              </a:spcBef>
            </a:pPr>
            <a:r>
              <a:rPr sz="1200" dirty="0">
                <a:latin typeface="Arial"/>
                <a:cs typeface="Arial"/>
              </a:rPr>
              <a:t>Distributed</a:t>
            </a:r>
            <a:r>
              <a:rPr sz="1200" spc="210" dirty="0">
                <a:latin typeface="Arial"/>
                <a:cs typeface="Arial"/>
              </a:rPr>
              <a:t> </a:t>
            </a:r>
            <a:r>
              <a:rPr sz="1200" spc="-10" dirty="0">
                <a:latin typeface="Arial"/>
                <a:cs typeface="Arial"/>
              </a:rPr>
              <a:t>infrastructure</a:t>
            </a:r>
            <a:endParaRPr sz="1200">
              <a:latin typeface="Arial"/>
              <a:cs typeface="Arial"/>
            </a:endParaRPr>
          </a:p>
        </p:txBody>
      </p:sp>
      <p:sp>
        <p:nvSpPr>
          <p:cNvPr id="49" name="object 49"/>
          <p:cNvSpPr txBox="1"/>
          <p:nvPr/>
        </p:nvSpPr>
        <p:spPr>
          <a:xfrm>
            <a:off x="1286560" y="4080897"/>
            <a:ext cx="1831975" cy="202565"/>
          </a:xfrm>
          <a:prstGeom prst="rect">
            <a:avLst/>
          </a:prstGeom>
          <a:solidFill>
            <a:srgbClr val="E8EDF7"/>
          </a:solidFill>
        </p:spPr>
        <p:txBody>
          <a:bodyPr vert="horz" wrap="square" lIns="0" tIns="0" rIns="0" bIns="0" rtlCol="0">
            <a:spAutoFit/>
          </a:bodyPr>
          <a:lstStyle/>
          <a:p>
            <a:pPr marL="118745">
              <a:lnSpc>
                <a:spcPts val="1410"/>
              </a:lnSpc>
            </a:pPr>
            <a:r>
              <a:rPr sz="1200" dirty="0">
                <a:latin typeface="Arial"/>
                <a:cs typeface="Arial"/>
              </a:rPr>
              <a:t>Resource</a:t>
            </a:r>
            <a:r>
              <a:rPr sz="1200" spc="185" dirty="0">
                <a:latin typeface="Arial"/>
                <a:cs typeface="Arial"/>
              </a:rPr>
              <a:t> </a:t>
            </a:r>
            <a:r>
              <a:rPr sz="1200" spc="-10" dirty="0">
                <a:latin typeface="Arial"/>
                <a:cs typeface="Arial"/>
              </a:rPr>
              <a:t>virtualization</a:t>
            </a:r>
            <a:endParaRPr sz="1200">
              <a:latin typeface="Arial"/>
              <a:cs typeface="Arial"/>
            </a:endParaRPr>
          </a:p>
        </p:txBody>
      </p:sp>
      <p:sp>
        <p:nvSpPr>
          <p:cNvPr id="50" name="object 50"/>
          <p:cNvSpPr txBox="1"/>
          <p:nvPr/>
        </p:nvSpPr>
        <p:spPr>
          <a:xfrm>
            <a:off x="1286560" y="4321781"/>
            <a:ext cx="1831975" cy="231140"/>
          </a:xfrm>
          <a:prstGeom prst="rect">
            <a:avLst/>
          </a:prstGeom>
          <a:solidFill>
            <a:srgbClr val="E8EDF7"/>
          </a:solidFill>
        </p:spPr>
        <p:txBody>
          <a:bodyPr vert="horz" wrap="square" lIns="0" tIns="10160" rIns="0" bIns="0" rtlCol="0">
            <a:spAutoFit/>
          </a:bodyPr>
          <a:lstStyle/>
          <a:p>
            <a:pPr marL="162560">
              <a:lnSpc>
                <a:spcPct val="100000"/>
              </a:lnSpc>
              <a:spcBef>
                <a:spcPts val="80"/>
              </a:spcBef>
            </a:pPr>
            <a:r>
              <a:rPr sz="1200" dirty="0">
                <a:latin typeface="Arial"/>
                <a:cs typeface="Arial"/>
              </a:rPr>
              <a:t>Autonomous</a:t>
            </a:r>
            <a:r>
              <a:rPr sz="1200" spc="245" dirty="0">
                <a:latin typeface="Arial"/>
                <a:cs typeface="Arial"/>
              </a:rPr>
              <a:t> </a:t>
            </a:r>
            <a:r>
              <a:rPr sz="1200" spc="-10" dirty="0">
                <a:latin typeface="Arial"/>
                <a:cs typeface="Arial"/>
              </a:rPr>
              <a:t>systems</a:t>
            </a:r>
            <a:endParaRPr sz="1200">
              <a:latin typeface="Arial"/>
              <a:cs typeface="Arial"/>
            </a:endParaRPr>
          </a:p>
        </p:txBody>
      </p:sp>
      <p:grpSp>
        <p:nvGrpSpPr>
          <p:cNvPr id="51" name="object 51"/>
          <p:cNvGrpSpPr/>
          <p:nvPr/>
        </p:nvGrpSpPr>
        <p:grpSpPr>
          <a:xfrm>
            <a:off x="3116687" y="3420318"/>
            <a:ext cx="1835150" cy="1168400"/>
            <a:chOff x="3116687" y="3420318"/>
            <a:chExt cx="1835150" cy="1168400"/>
          </a:xfrm>
        </p:grpSpPr>
        <p:sp>
          <p:nvSpPr>
            <p:cNvPr id="52" name="object 52"/>
            <p:cNvSpPr/>
            <p:nvPr/>
          </p:nvSpPr>
          <p:spPr>
            <a:xfrm>
              <a:off x="3118262" y="3421893"/>
              <a:ext cx="711835" cy="570230"/>
            </a:xfrm>
            <a:custGeom>
              <a:avLst/>
              <a:gdLst/>
              <a:ahLst/>
              <a:cxnLst/>
              <a:rect l="l" t="t" r="r" b="b"/>
              <a:pathLst>
                <a:path w="711835" h="570229">
                  <a:moveTo>
                    <a:pt x="645602" y="0"/>
                  </a:moveTo>
                  <a:lnTo>
                    <a:pt x="113968" y="357729"/>
                  </a:lnTo>
                  <a:lnTo>
                    <a:pt x="146005" y="193824"/>
                  </a:lnTo>
                  <a:lnTo>
                    <a:pt x="63943" y="177814"/>
                  </a:lnTo>
                  <a:lnTo>
                    <a:pt x="0" y="505755"/>
                  </a:lnTo>
                  <a:lnTo>
                    <a:pt x="327987" y="569663"/>
                  </a:lnTo>
                  <a:lnTo>
                    <a:pt x="344006" y="487776"/>
                  </a:lnTo>
                  <a:lnTo>
                    <a:pt x="180012" y="455757"/>
                  </a:lnTo>
                  <a:lnTo>
                    <a:pt x="711646" y="97896"/>
                  </a:lnTo>
                  <a:lnTo>
                    <a:pt x="645602" y="0"/>
                  </a:lnTo>
                  <a:close/>
                </a:path>
              </a:pathLst>
            </a:custGeom>
            <a:solidFill>
              <a:srgbClr val="A4A4A4"/>
            </a:solidFill>
          </p:spPr>
          <p:txBody>
            <a:bodyPr wrap="square" lIns="0" tIns="0" rIns="0" bIns="0" rtlCol="0"/>
            <a:lstStyle/>
            <a:p>
              <a:endParaRPr/>
            </a:p>
          </p:txBody>
        </p:sp>
        <p:sp>
          <p:nvSpPr>
            <p:cNvPr id="53" name="object 53"/>
            <p:cNvSpPr/>
            <p:nvPr/>
          </p:nvSpPr>
          <p:spPr>
            <a:xfrm>
              <a:off x="3118262" y="3421893"/>
              <a:ext cx="711835" cy="570230"/>
            </a:xfrm>
            <a:custGeom>
              <a:avLst/>
              <a:gdLst/>
              <a:ahLst/>
              <a:cxnLst/>
              <a:rect l="l" t="t" r="r" b="b"/>
              <a:pathLst>
                <a:path w="711835" h="570229">
                  <a:moveTo>
                    <a:pt x="0" y="505755"/>
                  </a:moveTo>
                  <a:lnTo>
                    <a:pt x="327987" y="569663"/>
                  </a:lnTo>
                  <a:lnTo>
                    <a:pt x="344006" y="487776"/>
                  </a:lnTo>
                  <a:lnTo>
                    <a:pt x="180012" y="455757"/>
                  </a:lnTo>
                  <a:lnTo>
                    <a:pt x="711646" y="97896"/>
                  </a:lnTo>
                  <a:lnTo>
                    <a:pt x="645602" y="0"/>
                  </a:lnTo>
                  <a:lnTo>
                    <a:pt x="113968" y="357729"/>
                  </a:lnTo>
                  <a:lnTo>
                    <a:pt x="146005" y="193824"/>
                  </a:lnTo>
                  <a:lnTo>
                    <a:pt x="63943" y="177814"/>
                  </a:lnTo>
                  <a:lnTo>
                    <a:pt x="0" y="505755"/>
                  </a:lnTo>
                  <a:close/>
                </a:path>
              </a:pathLst>
            </a:custGeom>
            <a:ln w="3175">
              <a:solidFill>
                <a:srgbClr val="000000"/>
              </a:solidFill>
            </a:ln>
          </p:spPr>
          <p:txBody>
            <a:bodyPr wrap="square" lIns="0" tIns="0" rIns="0" bIns="0" rtlCol="0"/>
            <a:lstStyle/>
            <a:p>
              <a:endParaRPr/>
            </a:p>
          </p:txBody>
        </p:sp>
        <p:sp>
          <p:nvSpPr>
            <p:cNvPr id="54" name="object 54"/>
            <p:cNvSpPr/>
            <p:nvPr/>
          </p:nvSpPr>
          <p:spPr>
            <a:xfrm>
              <a:off x="4477087" y="3760070"/>
              <a:ext cx="473075" cy="826769"/>
            </a:xfrm>
            <a:custGeom>
              <a:avLst/>
              <a:gdLst/>
              <a:ahLst/>
              <a:cxnLst/>
              <a:rect l="l" t="t" r="r" b="b"/>
              <a:pathLst>
                <a:path w="473075" h="826770">
                  <a:moveTo>
                    <a:pt x="295425" y="0"/>
                  </a:moveTo>
                  <a:lnTo>
                    <a:pt x="177255" y="0"/>
                  </a:lnTo>
                  <a:lnTo>
                    <a:pt x="177255" y="649581"/>
                  </a:lnTo>
                  <a:lnTo>
                    <a:pt x="59085" y="531476"/>
                  </a:lnTo>
                  <a:lnTo>
                    <a:pt x="0" y="590528"/>
                  </a:lnTo>
                  <a:lnTo>
                    <a:pt x="236340" y="826740"/>
                  </a:lnTo>
                  <a:lnTo>
                    <a:pt x="472680" y="590528"/>
                  </a:lnTo>
                  <a:lnTo>
                    <a:pt x="413595" y="531476"/>
                  </a:lnTo>
                  <a:lnTo>
                    <a:pt x="295425" y="649581"/>
                  </a:lnTo>
                  <a:lnTo>
                    <a:pt x="295425" y="0"/>
                  </a:lnTo>
                  <a:close/>
                </a:path>
              </a:pathLst>
            </a:custGeom>
            <a:solidFill>
              <a:srgbClr val="A4A4A4"/>
            </a:solidFill>
          </p:spPr>
          <p:txBody>
            <a:bodyPr wrap="square" lIns="0" tIns="0" rIns="0" bIns="0" rtlCol="0"/>
            <a:lstStyle/>
            <a:p>
              <a:endParaRPr/>
            </a:p>
          </p:txBody>
        </p:sp>
        <p:sp>
          <p:nvSpPr>
            <p:cNvPr id="55" name="object 55"/>
            <p:cNvSpPr/>
            <p:nvPr/>
          </p:nvSpPr>
          <p:spPr>
            <a:xfrm>
              <a:off x="4477087" y="3760070"/>
              <a:ext cx="473075" cy="826769"/>
            </a:xfrm>
            <a:custGeom>
              <a:avLst/>
              <a:gdLst/>
              <a:ahLst/>
              <a:cxnLst/>
              <a:rect l="l" t="t" r="r" b="b"/>
              <a:pathLst>
                <a:path w="473075" h="826770">
                  <a:moveTo>
                    <a:pt x="236340" y="826740"/>
                  </a:moveTo>
                  <a:lnTo>
                    <a:pt x="472680" y="590528"/>
                  </a:lnTo>
                  <a:lnTo>
                    <a:pt x="413595" y="531476"/>
                  </a:lnTo>
                  <a:lnTo>
                    <a:pt x="295425" y="649581"/>
                  </a:lnTo>
                  <a:lnTo>
                    <a:pt x="295425" y="0"/>
                  </a:lnTo>
                  <a:lnTo>
                    <a:pt x="177255" y="0"/>
                  </a:lnTo>
                  <a:lnTo>
                    <a:pt x="177255" y="649581"/>
                  </a:lnTo>
                  <a:lnTo>
                    <a:pt x="59085" y="531476"/>
                  </a:lnTo>
                  <a:lnTo>
                    <a:pt x="0" y="590528"/>
                  </a:lnTo>
                  <a:lnTo>
                    <a:pt x="236340" y="826740"/>
                  </a:lnTo>
                  <a:close/>
                </a:path>
              </a:pathLst>
            </a:custGeom>
            <a:ln w="3175">
              <a:solidFill>
                <a:srgbClr val="000000"/>
              </a:solidFill>
            </a:ln>
          </p:spPr>
          <p:txBody>
            <a:bodyPr wrap="square" lIns="0" tIns="0" rIns="0" bIns="0" rtlCol="0"/>
            <a:lstStyle/>
            <a:p>
              <a:endParaRPr/>
            </a:p>
          </p:txBody>
        </p:sp>
      </p:grpSp>
      <p:sp>
        <p:nvSpPr>
          <p:cNvPr id="56" name="object 56"/>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7" name="object 57"/>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18</a:t>
            </a:fld>
            <a:endParaRPr spc="-25" dirty="0"/>
          </a:p>
        </p:txBody>
      </p:sp>
      <p:sp>
        <p:nvSpPr>
          <p:cNvPr id="58" name="object 58"/>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84021"/>
            <a:ext cx="4018279" cy="513715"/>
          </a:xfrm>
          <a:prstGeom prst="rect">
            <a:avLst/>
          </a:prstGeom>
        </p:spPr>
        <p:txBody>
          <a:bodyPr vert="horz" wrap="square" lIns="0" tIns="13335" rIns="0" bIns="0" rtlCol="0">
            <a:spAutoFit/>
          </a:bodyPr>
          <a:lstStyle/>
          <a:p>
            <a:pPr marL="12700">
              <a:lnSpc>
                <a:spcPct val="100000"/>
              </a:lnSpc>
              <a:spcBef>
                <a:spcPts val="105"/>
              </a:spcBef>
            </a:pPr>
            <a:r>
              <a:rPr dirty="0"/>
              <a:t>Cloud</a:t>
            </a:r>
            <a:r>
              <a:rPr spc="-40" dirty="0"/>
              <a:t> </a:t>
            </a:r>
            <a:r>
              <a:rPr dirty="0"/>
              <a:t>delivery</a:t>
            </a:r>
            <a:r>
              <a:rPr spc="-50" dirty="0"/>
              <a:t> </a:t>
            </a:r>
            <a:r>
              <a:rPr spc="-10" dirty="0"/>
              <a:t>models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19</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2007235"/>
            <a:ext cx="4091940" cy="1794510"/>
          </a:xfrm>
          <a:prstGeom prst="rect">
            <a:avLst/>
          </a:prstGeom>
        </p:spPr>
        <p:txBody>
          <a:bodyPr vert="horz" wrap="square" lIns="0" tIns="13335" rIns="0" bIns="0" rtlCol="0">
            <a:spAutoFit/>
          </a:bodyPr>
          <a:lstStyle/>
          <a:p>
            <a:pPr marL="355600" indent="-342900">
              <a:lnSpc>
                <a:spcPct val="100000"/>
              </a:lnSpc>
              <a:spcBef>
                <a:spcPts val="105"/>
              </a:spcBef>
              <a:buClr>
                <a:srgbClr val="00007C"/>
              </a:buClr>
              <a:buSzPct val="75000"/>
              <a:buFont typeface="Wingdings"/>
              <a:buChar char=""/>
              <a:tabLst>
                <a:tab pos="355600" algn="l"/>
              </a:tabLst>
            </a:pPr>
            <a:r>
              <a:rPr sz="2000" dirty="0">
                <a:latin typeface="Arial"/>
                <a:cs typeface="Arial"/>
              </a:rPr>
              <a:t>Software</a:t>
            </a:r>
            <a:r>
              <a:rPr sz="2000" spc="-50" dirty="0">
                <a:latin typeface="Arial"/>
                <a:cs typeface="Arial"/>
              </a:rPr>
              <a:t> </a:t>
            </a:r>
            <a:r>
              <a:rPr sz="2000" dirty="0">
                <a:latin typeface="Arial"/>
                <a:cs typeface="Arial"/>
              </a:rPr>
              <a:t>as</a:t>
            </a:r>
            <a:r>
              <a:rPr sz="2000" spc="-30" dirty="0">
                <a:latin typeface="Arial"/>
                <a:cs typeface="Arial"/>
              </a:rPr>
              <a:t> </a:t>
            </a:r>
            <a:r>
              <a:rPr sz="2000" dirty="0">
                <a:latin typeface="Arial"/>
                <a:cs typeface="Arial"/>
              </a:rPr>
              <a:t>a</a:t>
            </a:r>
            <a:r>
              <a:rPr sz="2000" spc="-20" dirty="0">
                <a:latin typeface="Arial"/>
                <a:cs typeface="Arial"/>
              </a:rPr>
              <a:t> </a:t>
            </a:r>
            <a:r>
              <a:rPr sz="2000" dirty="0">
                <a:latin typeface="Arial"/>
                <a:cs typeface="Arial"/>
              </a:rPr>
              <a:t>Service</a:t>
            </a:r>
            <a:r>
              <a:rPr sz="2000" spc="-30" dirty="0">
                <a:latin typeface="Arial"/>
                <a:cs typeface="Arial"/>
              </a:rPr>
              <a:t> </a:t>
            </a:r>
            <a:r>
              <a:rPr sz="2000" spc="-10" dirty="0">
                <a:latin typeface="Arial"/>
                <a:cs typeface="Arial"/>
              </a:rPr>
              <a:t>(SaaS)</a:t>
            </a:r>
            <a:endParaRPr sz="2000">
              <a:latin typeface="Arial"/>
              <a:cs typeface="Arial"/>
            </a:endParaRPr>
          </a:p>
          <a:p>
            <a:pPr>
              <a:lnSpc>
                <a:spcPct val="100000"/>
              </a:lnSpc>
              <a:spcBef>
                <a:spcPts val="1055"/>
              </a:spcBef>
              <a:buClr>
                <a:srgbClr val="00007C"/>
              </a:buClr>
              <a:buFont typeface="Wingdings"/>
              <a:buChar char=""/>
            </a:pPr>
            <a:endParaRPr sz="2000">
              <a:latin typeface="Arial"/>
              <a:cs typeface="Arial"/>
            </a:endParaRPr>
          </a:p>
          <a:p>
            <a:pPr marL="355600" indent="-342900">
              <a:lnSpc>
                <a:spcPct val="100000"/>
              </a:lnSpc>
              <a:spcBef>
                <a:spcPts val="5"/>
              </a:spcBef>
              <a:buClr>
                <a:srgbClr val="00007C"/>
              </a:buClr>
              <a:buSzPct val="75000"/>
              <a:buFont typeface="Wingdings"/>
              <a:buChar char=""/>
              <a:tabLst>
                <a:tab pos="355600" algn="l"/>
              </a:tabLst>
            </a:pPr>
            <a:r>
              <a:rPr sz="2000" dirty="0">
                <a:latin typeface="Arial"/>
                <a:cs typeface="Arial"/>
              </a:rPr>
              <a:t>Platform</a:t>
            </a:r>
            <a:r>
              <a:rPr sz="2000" spc="-40" dirty="0">
                <a:latin typeface="Arial"/>
                <a:cs typeface="Arial"/>
              </a:rPr>
              <a:t> </a:t>
            </a:r>
            <a:r>
              <a:rPr sz="2000" dirty="0">
                <a:latin typeface="Arial"/>
                <a:cs typeface="Arial"/>
              </a:rPr>
              <a:t>as</a:t>
            </a:r>
            <a:r>
              <a:rPr sz="2000" spc="-40" dirty="0">
                <a:latin typeface="Arial"/>
                <a:cs typeface="Arial"/>
              </a:rPr>
              <a:t> </a:t>
            </a:r>
            <a:r>
              <a:rPr sz="2000" dirty="0">
                <a:latin typeface="Arial"/>
                <a:cs typeface="Arial"/>
              </a:rPr>
              <a:t>a</a:t>
            </a:r>
            <a:r>
              <a:rPr sz="2000" spc="-20" dirty="0">
                <a:latin typeface="Arial"/>
                <a:cs typeface="Arial"/>
              </a:rPr>
              <a:t> </a:t>
            </a:r>
            <a:r>
              <a:rPr sz="2000" dirty="0">
                <a:latin typeface="Arial"/>
                <a:cs typeface="Arial"/>
              </a:rPr>
              <a:t>Service</a:t>
            </a:r>
            <a:r>
              <a:rPr sz="2000" spc="-30" dirty="0">
                <a:latin typeface="Arial"/>
                <a:cs typeface="Arial"/>
              </a:rPr>
              <a:t> </a:t>
            </a:r>
            <a:r>
              <a:rPr sz="2000" spc="-10" dirty="0">
                <a:latin typeface="Arial"/>
                <a:cs typeface="Arial"/>
              </a:rPr>
              <a:t>(PaaS)</a:t>
            </a:r>
            <a:endParaRPr sz="2000">
              <a:latin typeface="Arial"/>
              <a:cs typeface="Arial"/>
            </a:endParaRPr>
          </a:p>
          <a:p>
            <a:pPr>
              <a:lnSpc>
                <a:spcPct val="100000"/>
              </a:lnSpc>
              <a:spcBef>
                <a:spcPts val="1060"/>
              </a:spcBef>
              <a:buClr>
                <a:srgbClr val="00007C"/>
              </a:buClr>
              <a:buFont typeface="Wingdings"/>
              <a:buChar char=""/>
            </a:pPr>
            <a:endParaRPr sz="2000">
              <a:latin typeface="Arial"/>
              <a:cs typeface="Arial"/>
            </a:endParaRPr>
          </a:p>
          <a:p>
            <a:pPr marL="355600" indent="-342900">
              <a:lnSpc>
                <a:spcPct val="100000"/>
              </a:lnSpc>
              <a:buClr>
                <a:srgbClr val="00007C"/>
              </a:buClr>
              <a:buSzPct val="75000"/>
              <a:buFont typeface="Wingdings"/>
              <a:buChar char=""/>
              <a:tabLst>
                <a:tab pos="355600" algn="l"/>
              </a:tabLst>
            </a:pPr>
            <a:r>
              <a:rPr sz="2000" dirty="0">
                <a:latin typeface="Arial"/>
                <a:cs typeface="Arial"/>
              </a:rPr>
              <a:t>Infrastructure</a:t>
            </a:r>
            <a:r>
              <a:rPr sz="2000" spc="-70" dirty="0">
                <a:latin typeface="Arial"/>
                <a:cs typeface="Arial"/>
              </a:rPr>
              <a:t> </a:t>
            </a:r>
            <a:r>
              <a:rPr sz="2000" dirty="0">
                <a:latin typeface="Arial"/>
                <a:cs typeface="Arial"/>
              </a:rPr>
              <a:t>as</a:t>
            </a:r>
            <a:r>
              <a:rPr sz="2000" spc="-40" dirty="0">
                <a:latin typeface="Arial"/>
                <a:cs typeface="Arial"/>
              </a:rPr>
              <a:t> </a:t>
            </a:r>
            <a:r>
              <a:rPr sz="2000" dirty="0">
                <a:latin typeface="Arial"/>
                <a:cs typeface="Arial"/>
              </a:rPr>
              <a:t>a</a:t>
            </a:r>
            <a:r>
              <a:rPr sz="2000" spc="-40" dirty="0">
                <a:latin typeface="Arial"/>
                <a:cs typeface="Arial"/>
              </a:rPr>
              <a:t> </a:t>
            </a:r>
            <a:r>
              <a:rPr sz="2000" dirty="0">
                <a:latin typeface="Arial"/>
                <a:cs typeface="Arial"/>
              </a:rPr>
              <a:t>Service</a:t>
            </a:r>
            <a:r>
              <a:rPr sz="2000" spc="-20" dirty="0">
                <a:latin typeface="Arial"/>
                <a:cs typeface="Arial"/>
              </a:rPr>
              <a:t> </a:t>
            </a:r>
            <a:r>
              <a:rPr sz="2000" spc="-10" dirty="0">
                <a:latin typeface="Arial"/>
                <a:cs typeface="Arial"/>
              </a:rPr>
              <a:t>(IaaS)</a:t>
            </a:r>
            <a:endParaRPr sz="200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Software-as-a-</a:t>
            </a:r>
            <a:r>
              <a:rPr dirty="0"/>
              <a:t>Service</a:t>
            </a:r>
            <a:r>
              <a:rPr spc="-25" dirty="0"/>
              <a:t> </a:t>
            </a:r>
            <a:r>
              <a:rPr spc="-10" dirty="0"/>
              <a:t>(SaaS)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20</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488922"/>
            <a:ext cx="8019415" cy="4221480"/>
          </a:xfrm>
          <a:prstGeom prst="rect">
            <a:avLst/>
          </a:prstGeom>
        </p:spPr>
        <p:txBody>
          <a:bodyPr vert="horz" wrap="square" lIns="0" tIns="73660" rIns="0" bIns="0" rtlCol="0">
            <a:spAutoFit/>
          </a:bodyPr>
          <a:lstStyle/>
          <a:p>
            <a:pPr marL="355600" indent="-342900">
              <a:lnSpc>
                <a:spcPct val="100000"/>
              </a:lnSpc>
              <a:spcBef>
                <a:spcPts val="580"/>
              </a:spcBef>
              <a:buClr>
                <a:srgbClr val="00007C"/>
              </a:buClr>
              <a:buSzPct val="75000"/>
              <a:buFont typeface="Wingdings"/>
              <a:buChar char=""/>
              <a:tabLst>
                <a:tab pos="355600" algn="l"/>
              </a:tabLst>
            </a:pPr>
            <a:r>
              <a:rPr sz="2000" dirty="0">
                <a:latin typeface="Arial"/>
                <a:cs typeface="Arial"/>
              </a:rPr>
              <a:t>Applications</a:t>
            </a:r>
            <a:r>
              <a:rPr sz="2000" spc="-35" dirty="0">
                <a:latin typeface="Arial"/>
                <a:cs typeface="Arial"/>
              </a:rPr>
              <a:t> </a:t>
            </a:r>
            <a:r>
              <a:rPr sz="2000" dirty="0">
                <a:latin typeface="Arial"/>
                <a:cs typeface="Arial"/>
              </a:rPr>
              <a:t>are</a:t>
            </a:r>
            <a:r>
              <a:rPr sz="2000" spc="-50" dirty="0">
                <a:latin typeface="Arial"/>
                <a:cs typeface="Arial"/>
              </a:rPr>
              <a:t> </a:t>
            </a:r>
            <a:r>
              <a:rPr sz="2000" dirty="0">
                <a:latin typeface="Arial"/>
                <a:cs typeface="Arial"/>
              </a:rPr>
              <a:t>supplied</a:t>
            </a:r>
            <a:r>
              <a:rPr sz="2000" spc="-20" dirty="0">
                <a:latin typeface="Arial"/>
                <a:cs typeface="Arial"/>
              </a:rPr>
              <a:t> </a:t>
            </a:r>
            <a:r>
              <a:rPr sz="2000" dirty="0">
                <a:latin typeface="Arial"/>
                <a:cs typeface="Arial"/>
              </a:rPr>
              <a:t>by</a:t>
            </a:r>
            <a:r>
              <a:rPr sz="2000" spc="-30"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service</a:t>
            </a:r>
            <a:r>
              <a:rPr sz="2000" spc="-40" dirty="0">
                <a:latin typeface="Arial"/>
                <a:cs typeface="Arial"/>
              </a:rPr>
              <a:t> </a:t>
            </a:r>
            <a:r>
              <a:rPr sz="2000" spc="-10" dirty="0">
                <a:latin typeface="Arial"/>
                <a:cs typeface="Arial"/>
              </a:rPr>
              <a:t>provider.</a:t>
            </a:r>
            <a:endParaRPr sz="2000">
              <a:latin typeface="Arial"/>
              <a:cs typeface="Arial"/>
            </a:endParaRPr>
          </a:p>
          <a:p>
            <a:pPr marL="355600" marR="1153160" indent="-343535">
              <a:lnSpc>
                <a:spcPct val="100000"/>
              </a:lnSpc>
              <a:spcBef>
                <a:spcPts val="484"/>
              </a:spcBef>
              <a:buClr>
                <a:srgbClr val="00007C"/>
              </a:buClr>
              <a:buSzPct val="75000"/>
              <a:buFont typeface="Wingdings"/>
              <a:buChar char=""/>
              <a:tabLst>
                <a:tab pos="355600" algn="l"/>
              </a:tabLst>
            </a:pPr>
            <a:r>
              <a:rPr sz="2000" dirty="0">
                <a:latin typeface="Arial"/>
                <a:cs typeface="Arial"/>
              </a:rPr>
              <a:t>The</a:t>
            </a:r>
            <a:r>
              <a:rPr sz="2000" spc="-30" dirty="0">
                <a:latin typeface="Arial"/>
                <a:cs typeface="Arial"/>
              </a:rPr>
              <a:t> </a:t>
            </a:r>
            <a:r>
              <a:rPr sz="2000" dirty="0">
                <a:latin typeface="Arial"/>
                <a:cs typeface="Arial"/>
              </a:rPr>
              <a:t>user</a:t>
            </a:r>
            <a:r>
              <a:rPr sz="2000" spc="-35" dirty="0">
                <a:latin typeface="Arial"/>
                <a:cs typeface="Arial"/>
              </a:rPr>
              <a:t> </a:t>
            </a:r>
            <a:r>
              <a:rPr sz="2000" dirty="0">
                <a:latin typeface="Arial"/>
                <a:cs typeface="Arial"/>
              </a:rPr>
              <a:t>does</a:t>
            </a:r>
            <a:r>
              <a:rPr sz="2000" spc="-30" dirty="0">
                <a:latin typeface="Arial"/>
                <a:cs typeface="Arial"/>
              </a:rPr>
              <a:t> </a:t>
            </a:r>
            <a:r>
              <a:rPr sz="2000" dirty="0">
                <a:latin typeface="Arial"/>
                <a:cs typeface="Arial"/>
              </a:rPr>
              <a:t>not</a:t>
            </a:r>
            <a:r>
              <a:rPr sz="2000" spc="-15" dirty="0">
                <a:latin typeface="Arial"/>
                <a:cs typeface="Arial"/>
              </a:rPr>
              <a:t> </a:t>
            </a:r>
            <a:r>
              <a:rPr sz="2000" dirty="0">
                <a:latin typeface="Arial"/>
                <a:cs typeface="Arial"/>
              </a:rPr>
              <a:t>manage</a:t>
            </a:r>
            <a:r>
              <a:rPr sz="2000" spc="-45" dirty="0">
                <a:latin typeface="Arial"/>
                <a:cs typeface="Arial"/>
              </a:rPr>
              <a:t> </a:t>
            </a:r>
            <a:r>
              <a:rPr sz="2000" dirty="0">
                <a:latin typeface="Arial"/>
                <a:cs typeface="Arial"/>
              </a:rPr>
              <a:t>or</a:t>
            </a:r>
            <a:r>
              <a:rPr sz="2000" spc="-25" dirty="0">
                <a:latin typeface="Arial"/>
                <a:cs typeface="Arial"/>
              </a:rPr>
              <a:t> </a:t>
            </a:r>
            <a:r>
              <a:rPr sz="2000" dirty="0">
                <a:latin typeface="Arial"/>
                <a:cs typeface="Arial"/>
              </a:rPr>
              <a:t>control</a:t>
            </a:r>
            <a:r>
              <a:rPr sz="2000" spc="-35"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underlying</a:t>
            </a:r>
            <a:r>
              <a:rPr sz="2000" spc="-25" dirty="0">
                <a:latin typeface="Arial"/>
                <a:cs typeface="Arial"/>
              </a:rPr>
              <a:t> </a:t>
            </a:r>
            <a:r>
              <a:rPr sz="2000" spc="-10" dirty="0">
                <a:latin typeface="Arial"/>
                <a:cs typeface="Arial"/>
              </a:rPr>
              <a:t>cloud </a:t>
            </a:r>
            <a:r>
              <a:rPr sz="2000" dirty="0">
                <a:latin typeface="Arial"/>
                <a:cs typeface="Arial"/>
              </a:rPr>
              <a:t>infrastructure</a:t>
            </a:r>
            <a:r>
              <a:rPr sz="2000" spc="-100" dirty="0">
                <a:latin typeface="Arial"/>
                <a:cs typeface="Arial"/>
              </a:rPr>
              <a:t> </a:t>
            </a:r>
            <a:r>
              <a:rPr sz="2000" dirty="0">
                <a:latin typeface="Arial"/>
                <a:cs typeface="Arial"/>
              </a:rPr>
              <a:t>or</a:t>
            </a:r>
            <a:r>
              <a:rPr sz="2000" spc="-70" dirty="0">
                <a:latin typeface="Arial"/>
                <a:cs typeface="Arial"/>
              </a:rPr>
              <a:t> </a:t>
            </a:r>
            <a:r>
              <a:rPr sz="2000" dirty="0">
                <a:latin typeface="Arial"/>
                <a:cs typeface="Arial"/>
              </a:rPr>
              <a:t>individual</a:t>
            </a:r>
            <a:r>
              <a:rPr sz="2000" spc="-50" dirty="0">
                <a:latin typeface="Arial"/>
                <a:cs typeface="Arial"/>
              </a:rPr>
              <a:t> </a:t>
            </a:r>
            <a:r>
              <a:rPr sz="2000" dirty="0">
                <a:latin typeface="Arial"/>
                <a:cs typeface="Arial"/>
              </a:rPr>
              <a:t>application</a:t>
            </a:r>
            <a:r>
              <a:rPr sz="2000" spc="-70" dirty="0">
                <a:latin typeface="Arial"/>
                <a:cs typeface="Arial"/>
              </a:rPr>
              <a:t> </a:t>
            </a:r>
            <a:r>
              <a:rPr sz="2000" spc="-10" dirty="0">
                <a:latin typeface="Arial"/>
                <a:cs typeface="Arial"/>
              </a:rPr>
              <a:t>capabilities.</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Services</a:t>
            </a:r>
            <a:r>
              <a:rPr sz="2000" spc="-45" dirty="0">
                <a:latin typeface="Arial"/>
                <a:cs typeface="Arial"/>
              </a:rPr>
              <a:t> </a:t>
            </a:r>
            <a:r>
              <a:rPr sz="2000" dirty="0">
                <a:latin typeface="Arial"/>
                <a:cs typeface="Arial"/>
              </a:rPr>
              <a:t>offered</a:t>
            </a:r>
            <a:r>
              <a:rPr sz="2000" spc="-30" dirty="0">
                <a:latin typeface="Arial"/>
                <a:cs typeface="Arial"/>
              </a:rPr>
              <a:t> </a:t>
            </a:r>
            <a:r>
              <a:rPr sz="2000" spc="-10" dirty="0">
                <a:latin typeface="Arial"/>
                <a:cs typeface="Arial"/>
              </a:rPr>
              <a:t>include:</a:t>
            </a:r>
            <a:endParaRPr sz="2000">
              <a:latin typeface="Arial"/>
              <a:cs typeface="Arial"/>
            </a:endParaRPr>
          </a:p>
          <a:p>
            <a:pPr marL="755015" marR="5080" lvl="1" indent="-285750">
              <a:lnSpc>
                <a:spcPct val="100000"/>
              </a:lnSpc>
              <a:spcBef>
                <a:spcPts val="440"/>
              </a:spcBef>
              <a:buClr>
                <a:srgbClr val="9999CC"/>
              </a:buClr>
              <a:buSzPct val="80555"/>
              <a:buFont typeface="Wingdings"/>
              <a:buChar char=""/>
              <a:tabLst>
                <a:tab pos="756285" algn="l"/>
              </a:tabLst>
            </a:pPr>
            <a:r>
              <a:rPr sz="1800" dirty="0">
                <a:latin typeface="Arial"/>
                <a:cs typeface="Arial"/>
              </a:rPr>
              <a:t>Enterprise</a:t>
            </a:r>
            <a:r>
              <a:rPr sz="1800" spc="-40" dirty="0">
                <a:latin typeface="Arial"/>
                <a:cs typeface="Arial"/>
              </a:rPr>
              <a:t> </a:t>
            </a:r>
            <a:r>
              <a:rPr sz="1800" dirty="0">
                <a:latin typeface="Arial"/>
                <a:cs typeface="Arial"/>
              </a:rPr>
              <a:t>services</a:t>
            </a:r>
            <a:r>
              <a:rPr sz="1800" spc="-35" dirty="0">
                <a:latin typeface="Arial"/>
                <a:cs typeface="Arial"/>
              </a:rPr>
              <a:t> </a:t>
            </a:r>
            <a:r>
              <a:rPr sz="1800" dirty="0">
                <a:latin typeface="Arial"/>
                <a:cs typeface="Arial"/>
              </a:rPr>
              <a:t>such</a:t>
            </a:r>
            <a:r>
              <a:rPr sz="1800" spc="-50" dirty="0">
                <a:latin typeface="Arial"/>
                <a:cs typeface="Arial"/>
              </a:rPr>
              <a:t> </a:t>
            </a:r>
            <a:r>
              <a:rPr sz="1800" dirty="0">
                <a:latin typeface="Arial"/>
                <a:cs typeface="Arial"/>
              </a:rPr>
              <a:t>as:</a:t>
            </a:r>
            <a:r>
              <a:rPr sz="1800" spc="-45" dirty="0">
                <a:latin typeface="Arial"/>
                <a:cs typeface="Arial"/>
              </a:rPr>
              <a:t> </a:t>
            </a:r>
            <a:r>
              <a:rPr sz="1800" dirty="0">
                <a:latin typeface="Arial"/>
                <a:cs typeface="Arial"/>
              </a:rPr>
              <a:t>workflow</a:t>
            </a:r>
            <a:r>
              <a:rPr sz="1800" spc="-10" dirty="0">
                <a:latin typeface="Arial"/>
                <a:cs typeface="Arial"/>
              </a:rPr>
              <a:t> </a:t>
            </a:r>
            <a:r>
              <a:rPr sz="1800" dirty="0">
                <a:latin typeface="Arial"/>
                <a:cs typeface="Arial"/>
              </a:rPr>
              <a:t>management,</a:t>
            </a:r>
            <a:r>
              <a:rPr sz="1800" spc="-30" dirty="0">
                <a:latin typeface="Arial"/>
                <a:cs typeface="Arial"/>
              </a:rPr>
              <a:t> </a:t>
            </a:r>
            <a:r>
              <a:rPr sz="1800" spc="-10" dirty="0">
                <a:latin typeface="Arial"/>
                <a:cs typeface="Arial"/>
              </a:rPr>
              <a:t>group-</a:t>
            </a:r>
            <a:r>
              <a:rPr sz="1800" dirty="0">
                <a:latin typeface="Arial"/>
                <a:cs typeface="Arial"/>
              </a:rPr>
              <a:t>ware</a:t>
            </a:r>
            <a:r>
              <a:rPr sz="1800" spc="5" dirty="0">
                <a:latin typeface="Arial"/>
                <a:cs typeface="Arial"/>
              </a:rPr>
              <a:t> </a:t>
            </a:r>
            <a:r>
              <a:rPr sz="1800" spc="-25" dirty="0">
                <a:latin typeface="Arial"/>
                <a:cs typeface="Arial"/>
              </a:rPr>
              <a:t>and 	</a:t>
            </a:r>
            <a:r>
              <a:rPr sz="1800" dirty="0">
                <a:latin typeface="Arial"/>
                <a:cs typeface="Arial"/>
              </a:rPr>
              <a:t>collaborative,</a:t>
            </a:r>
            <a:r>
              <a:rPr sz="1800" spc="-45" dirty="0">
                <a:latin typeface="Arial"/>
                <a:cs typeface="Arial"/>
              </a:rPr>
              <a:t> </a:t>
            </a:r>
            <a:r>
              <a:rPr sz="1800" dirty="0">
                <a:latin typeface="Arial"/>
                <a:cs typeface="Arial"/>
              </a:rPr>
              <a:t>supply</a:t>
            </a:r>
            <a:r>
              <a:rPr sz="1800" spc="-45" dirty="0">
                <a:latin typeface="Arial"/>
                <a:cs typeface="Arial"/>
              </a:rPr>
              <a:t> </a:t>
            </a:r>
            <a:r>
              <a:rPr sz="1800" dirty="0">
                <a:latin typeface="Arial"/>
                <a:cs typeface="Arial"/>
              </a:rPr>
              <a:t>chain,</a:t>
            </a:r>
            <a:r>
              <a:rPr sz="1800" spc="-40" dirty="0">
                <a:latin typeface="Arial"/>
                <a:cs typeface="Arial"/>
              </a:rPr>
              <a:t> </a:t>
            </a:r>
            <a:r>
              <a:rPr sz="1800" dirty="0">
                <a:latin typeface="Arial"/>
                <a:cs typeface="Arial"/>
              </a:rPr>
              <a:t>communications,</a:t>
            </a:r>
            <a:r>
              <a:rPr sz="1800" spc="-40" dirty="0">
                <a:latin typeface="Arial"/>
                <a:cs typeface="Arial"/>
              </a:rPr>
              <a:t> </a:t>
            </a:r>
            <a:r>
              <a:rPr sz="1800" dirty="0">
                <a:latin typeface="Arial"/>
                <a:cs typeface="Arial"/>
              </a:rPr>
              <a:t>digital</a:t>
            </a:r>
            <a:r>
              <a:rPr sz="1800" spc="-40" dirty="0">
                <a:latin typeface="Arial"/>
                <a:cs typeface="Arial"/>
              </a:rPr>
              <a:t> </a:t>
            </a:r>
            <a:r>
              <a:rPr sz="1800" dirty="0">
                <a:latin typeface="Arial"/>
                <a:cs typeface="Arial"/>
              </a:rPr>
              <a:t>signature,</a:t>
            </a:r>
            <a:r>
              <a:rPr sz="1800" spc="-35" dirty="0">
                <a:latin typeface="Arial"/>
                <a:cs typeface="Arial"/>
              </a:rPr>
              <a:t> </a:t>
            </a:r>
            <a:r>
              <a:rPr sz="1800" spc="-10" dirty="0">
                <a:latin typeface="Arial"/>
                <a:cs typeface="Arial"/>
              </a:rPr>
              <a:t>customer 	</a:t>
            </a:r>
            <a:r>
              <a:rPr sz="1800" dirty="0">
                <a:latin typeface="Arial"/>
                <a:cs typeface="Arial"/>
              </a:rPr>
              <a:t>relationship</a:t>
            </a:r>
            <a:r>
              <a:rPr sz="1800" spc="-50" dirty="0">
                <a:latin typeface="Arial"/>
                <a:cs typeface="Arial"/>
              </a:rPr>
              <a:t> </a:t>
            </a:r>
            <a:r>
              <a:rPr sz="1800" dirty="0">
                <a:latin typeface="Arial"/>
                <a:cs typeface="Arial"/>
              </a:rPr>
              <a:t>management</a:t>
            </a:r>
            <a:r>
              <a:rPr sz="1800" spc="-35" dirty="0">
                <a:latin typeface="Arial"/>
                <a:cs typeface="Arial"/>
              </a:rPr>
              <a:t> </a:t>
            </a:r>
            <a:r>
              <a:rPr sz="1800" dirty="0">
                <a:latin typeface="Arial"/>
                <a:cs typeface="Arial"/>
              </a:rPr>
              <a:t>(CRM),</a:t>
            </a:r>
            <a:r>
              <a:rPr sz="1800" spc="-55" dirty="0">
                <a:latin typeface="Arial"/>
                <a:cs typeface="Arial"/>
              </a:rPr>
              <a:t> </a:t>
            </a:r>
            <a:r>
              <a:rPr sz="1800" dirty="0">
                <a:latin typeface="Arial"/>
                <a:cs typeface="Arial"/>
              </a:rPr>
              <a:t>desktop</a:t>
            </a:r>
            <a:r>
              <a:rPr sz="1800" spc="-55" dirty="0">
                <a:latin typeface="Arial"/>
                <a:cs typeface="Arial"/>
              </a:rPr>
              <a:t> </a:t>
            </a:r>
            <a:r>
              <a:rPr sz="1800" dirty="0">
                <a:latin typeface="Arial"/>
                <a:cs typeface="Arial"/>
              </a:rPr>
              <a:t>software,</a:t>
            </a:r>
            <a:r>
              <a:rPr sz="1800" spc="-25" dirty="0">
                <a:latin typeface="Arial"/>
                <a:cs typeface="Arial"/>
              </a:rPr>
              <a:t> </a:t>
            </a:r>
            <a:r>
              <a:rPr sz="1800" spc="-10" dirty="0">
                <a:latin typeface="Arial"/>
                <a:cs typeface="Arial"/>
              </a:rPr>
              <a:t>financial 	</a:t>
            </a:r>
            <a:r>
              <a:rPr sz="1800" dirty="0">
                <a:latin typeface="Arial"/>
                <a:cs typeface="Arial"/>
              </a:rPr>
              <a:t>management,</a:t>
            </a:r>
            <a:r>
              <a:rPr sz="1800" spc="-20" dirty="0">
                <a:latin typeface="Arial"/>
                <a:cs typeface="Arial"/>
              </a:rPr>
              <a:t> </a:t>
            </a:r>
            <a:r>
              <a:rPr sz="1800" spc="-10" dirty="0">
                <a:latin typeface="Arial"/>
                <a:cs typeface="Arial"/>
              </a:rPr>
              <a:t>geo-</a:t>
            </a:r>
            <a:r>
              <a:rPr sz="1800" dirty="0">
                <a:latin typeface="Arial"/>
                <a:cs typeface="Arial"/>
              </a:rPr>
              <a:t>spatial,</a:t>
            </a:r>
            <a:r>
              <a:rPr sz="1800" spc="-10" dirty="0">
                <a:latin typeface="Arial"/>
                <a:cs typeface="Arial"/>
              </a:rPr>
              <a:t> </a:t>
            </a:r>
            <a:r>
              <a:rPr sz="1800" dirty="0">
                <a:latin typeface="Arial"/>
                <a:cs typeface="Arial"/>
              </a:rPr>
              <a:t>and</a:t>
            </a:r>
            <a:r>
              <a:rPr sz="1800" spc="-30" dirty="0">
                <a:latin typeface="Arial"/>
                <a:cs typeface="Arial"/>
              </a:rPr>
              <a:t> </a:t>
            </a:r>
            <a:r>
              <a:rPr sz="1800" spc="-10" dirty="0">
                <a:latin typeface="Arial"/>
                <a:cs typeface="Arial"/>
              </a:rPr>
              <a:t>search.</a:t>
            </a:r>
            <a:endParaRPr sz="1800">
              <a:latin typeface="Arial"/>
              <a:cs typeface="Arial"/>
            </a:endParaRPr>
          </a:p>
          <a:p>
            <a:pPr marL="755015" marR="1097280" lvl="1" indent="-285750">
              <a:lnSpc>
                <a:spcPct val="100000"/>
              </a:lnSpc>
              <a:spcBef>
                <a:spcPts val="434"/>
              </a:spcBef>
              <a:buClr>
                <a:srgbClr val="9999CC"/>
              </a:buClr>
              <a:buSzPct val="80555"/>
              <a:buFont typeface="Wingdings"/>
              <a:buChar char=""/>
              <a:tabLst>
                <a:tab pos="756285" algn="l"/>
              </a:tabLst>
            </a:pPr>
            <a:r>
              <a:rPr sz="1800" dirty="0">
                <a:latin typeface="Arial"/>
                <a:cs typeface="Arial"/>
              </a:rPr>
              <a:t>Web</a:t>
            </a:r>
            <a:r>
              <a:rPr sz="1800" spc="-40" dirty="0">
                <a:latin typeface="Arial"/>
                <a:cs typeface="Arial"/>
              </a:rPr>
              <a:t> </a:t>
            </a:r>
            <a:r>
              <a:rPr sz="1800" dirty="0">
                <a:latin typeface="Arial"/>
                <a:cs typeface="Arial"/>
              </a:rPr>
              <a:t>2.0</a:t>
            </a:r>
            <a:r>
              <a:rPr sz="1800" spc="-30" dirty="0">
                <a:latin typeface="Arial"/>
                <a:cs typeface="Arial"/>
              </a:rPr>
              <a:t> </a:t>
            </a:r>
            <a:r>
              <a:rPr sz="1800" dirty="0">
                <a:latin typeface="Arial"/>
                <a:cs typeface="Arial"/>
              </a:rPr>
              <a:t>applications</a:t>
            </a:r>
            <a:r>
              <a:rPr sz="1800" spc="-10" dirty="0">
                <a:latin typeface="Arial"/>
                <a:cs typeface="Arial"/>
              </a:rPr>
              <a:t> </a:t>
            </a:r>
            <a:r>
              <a:rPr sz="1800" dirty="0">
                <a:latin typeface="Arial"/>
                <a:cs typeface="Arial"/>
              </a:rPr>
              <a:t>such</a:t>
            </a:r>
            <a:r>
              <a:rPr sz="1800" spc="-25" dirty="0">
                <a:latin typeface="Arial"/>
                <a:cs typeface="Arial"/>
              </a:rPr>
              <a:t> </a:t>
            </a:r>
            <a:r>
              <a:rPr sz="1800" dirty="0">
                <a:latin typeface="Arial"/>
                <a:cs typeface="Arial"/>
              </a:rPr>
              <a:t>as:</a:t>
            </a:r>
            <a:r>
              <a:rPr sz="1800" spc="-35" dirty="0">
                <a:latin typeface="Arial"/>
                <a:cs typeface="Arial"/>
              </a:rPr>
              <a:t> </a:t>
            </a:r>
            <a:r>
              <a:rPr sz="1800" dirty="0">
                <a:latin typeface="Arial"/>
                <a:cs typeface="Arial"/>
              </a:rPr>
              <a:t>metadata</a:t>
            </a:r>
            <a:r>
              <a:rPr sz="1800" spc="-20" dirty="0">
                <a:latin typeface="Arial"/>
                <a:cs typeface="Arial"/>
              </a:rPr>
              <a:t> </a:t>
            </a:r>
            <a:r>
              <a:rPr sz="1800" dirty="0">
                <a:latin typeface="Arial"/>
                <a:cs typeface="Arial"/>
              </a:rPr>
              <a:t>management,</a:t>
            </a:r>
            <a:r>
              <a:rPr sz="1800" spc="-15" dirty="0">
                <a:latin typeface="Arial"/>
                <a:cs typeface="Arial"/>
              </a:rPr>
              <a:t> </a:t>
            </a:r>
            <a:r>
              <a:rPr sz="1800" spc="-10" dirty="0">
                <a:latin typeface="Arial"/>
                <a:cs typeface="Arial"/>
              </a:rPr>
              <a:t>social 	</a:t>
            </a:r>
            <a:r>
              <a:rPr sz="1800" dirty="0">
                <a:latin typeface="Arial"/>
                <a:cs typeface="Arial"/>
              </a:rPr>
              <a:t>networking, blogs,</a:t>
            </a:r>
            <a:r>
              <a:rPr sz="1800" spc="-30" dirty="0">
                <a:latin typeface="Arial"/>
                <a:cs typeface="Arial"/>
              </a:rPr>
              <a:t> </a:t>
            </a:r>
            <a:r>
              <a:rPr sz="1800" dirty="0">
                <a:latin typeface="Arial"/>
                <a:cs typeface="Arial"/>
              </a:rPr>
              <a:t>wiki</a:t>
            </a:r>
            <a:r>
              <a:rPr sz="1800" spc="-10" dirty="0">
                <a:latin typeface="Arial"/>
                <a:cs typeface="Arial"/>
              </a:rPr>
              <a:t> </a:t>
            </a:r>
            <a:r>
              <a:rPr sz="1800" dirty="0">
                <a:latin typeface="Arial"/>
                <a:cs typeface="Arial"/>
              </a:rPr>
              <a:t>services,</a:t>
            </a:r>
            <a:r>
              <a:rPr sz="1800" spc="-40" dirty="0">
                <a:latin typeface="Arial"/>
                <a:cs typeface="Arial"/>
              </a:rPr>
              <a:t> </a:t>
            </a:r>
            <a:r>
              <a:rPr sz="1800" dirty="0">
                <a:latin typeface="Arial"/>
                <a:cs typeface="Arial"/>
              </a:rPr>
              <a:t>and</a:t>
            </a:r>
            <a:r>
              <a:rPr sz="1800" spc="-40" dirty="0">
                <a:latin typeface="Arial"/>
                <a:cs typeface="Arial"/>
              </a:rPr>
              <a:t> </a:t>
            </a:r>
            <a:r>
              <a:rPr sz="1800" dirty="0">
                <a:latin typeface="Arial"/>
                <a:cs typeface="Arial"/>
              </a:rPr>
              <a:t>portal</a:t>
            </a:r>
            <a:r>
              <a:rPr sz="1800" spc="-45" dirty="0">
                <a:latin typeface="Arial"/>
                <a:cs typeface="Arial"/>
              </a:rPr>
              <a:t> </a:t>
            </a:r>
            <a:r>
              <a:rPr sz="1800" spc="-10" dirty="0">
                <a:latin typeface="Arial"/>
                <a:cs typeface="Arial"/>
              </a:rPr>
              <a:t>services.</a:t>
            </a:r>
            <a:endParaRPr sz="1800">
              <a:latin typeface="Arial"/>
              <a:cs typeface="Arial"/>
            </a:endParaRPr>
          </a:p>
          <a:p>
            <a:pPr marL="355600" marR="124460" indent="-343535">
              <a:lnSpc>
                <a:spcPct val="100000"/>
              </a:lnSpc>
              <a:spcBef>
                <a:spcPts val="475"/>
              </a:spcBef>
              <a:buClr>
                <a:srgbClr val="00007C"/>
              </a:buClr>
              <a:buSzPct val="75000"/>
              <a:buFont typeface="Wingdings"/>
              <a:buChar char=""/>
              <a:tabLst>
                <a:tab pos="355600" algn="l"/>
              </a:tabLst>
            </a:pPr>
            <a:r>
              <a:rPr sz="2000" dirty="0">
                <a:latin typeface="Arial"/>
                <a:cs typeface="Arial"/>
              </a:rPr>
              <a:t>Not</a:t>
            </a:r>
            <a:r>
              <a:rPr sz="2000" spc="-35" dirty="0">
                <a:latin typeface="Arial"/>
                <a:cs typeface="Arial"/>
              </a:rPr>
              <a:t> </a:t>
            </a:r>
            <a:r>
              <a:rPr sz="2000" dirty="0">
                <a:latin typeface="Arial"/>
                <a:cs typeface="Arial"/>
              </a:rPr>
              <a:t>suitable</a:t>
            </a:r>
            <a:r>
              <a:rPr sz="2000" spc="-30" dirty="0">
                <a:latin typeface="Arial"/>
                <a:cs typeface="Arial"/>
              </a:rPr>
              <a:t> </a:t>
            </a:r>
            <a:r>
              <a:rPr sz="2000" dirty="0">
                <a:latin typeface="Arial"/>
                <a:cs typeface="Arial"/>
              </a:rPr>
              <a:t>for</a:t>
            </a:r>
            <a:r>
              <a:rPr sz="2000" spc="-30" dirty="0">
                <a:latin typeface="Arial"/>
                <a:cs typeface="Arial"/>
              </a:rPr>
              <a:t> </a:t>
            </a:r>
            <a:r>
              <a:rPr sz="2000" spc="-10" dirty="0">
                <a:latin typeface="Arial"/>
                <a:cs typeface="Arial"/>
              </a:rPr>
              <a:t>real-</a:t>
            </a:r>
            <a:r>
              <a:rPr sz="2000" dirty="0">
                <a:latin typeface="Arial"/>
                <a:cs typeface="Arial"/>
              </a:rPr>
              <a:t>time</a:t>
            </a:r>
            <a:r>
              <a:rPr sz="2000" spc="-55" dirty="0">
                <a:latin typeface="Arial"/>
                <a:cs typeface="Arial"/>
              </a:rPr>
              <a:t> </a:t>
            </a:r>
            <a:r>
              <a:rPr sz="2000" dirty="0">
                <a:latin typeface="Arial"/>
                <a:cs typeface="Arial"/>
              </a:rPr>
              <a:t>applications</a:t>
            </a:r>
            <a:r>
              <a:rPr sz="2000" spc="-40" dirty="0">
                <a:latin typeface="Arial"/>
                <a:cs typeface="Arial"/>
              </a:rPr>
              <a:t> </a:t>
            </a:r>
            <a:r>
              <a:rPr sz="2000" dirty="0">
                <a:latin typeface="Arial"/>
                <a:cs typeface="Arial"/>
              </a:rPr>
              <a:t>or</a:t>
            </a:r>
            <a:r>
              <a:rPr sz="2000" spc="-30" dirty="0">
                <a:latin typeface="Arial"/>
                <a:cs typeface="Arial"/>
              </a:rPr>
              <a:t> </a:t>
            </a:r>
            <a:r>
              <a:rPr sz="2000" dirty="0">
                <a:latin typeface="Arial"/>
                <a:cs typeface="Arial"/>
              </a:rPr>
              <a:t>for</a:t>
            </a:r>
            <a:r>
              <a:rPr sz="2000" spc="-30" dirty="0">
                <a:latin typeface="Arial"/>
                <a:cs typeface="Arial"/>
              </a:rPr>
              <a:t> </a:t>
            </a:r>
            <a:r>
              <a:rPr sz="2000" dirty="0">
                <a:latin typeface="Arial"/>
                <a:cs typeface="Arial"/>
              </a:rPr>
              <a:t>those</a:t>
            </a:r>
            <a:r>
              <a:rPr sz="2000" spc="-30" dirty="0">
                <a:latin typeface="Arial"/>
                <a:cs typeface="Arial"/>
              </a:rPr>
              <a:t> </a:t>
            </a:r>
            <a:r>
              <a:rPr sz="2000" dirty="0">
                <a:latin typeface="Arial"/>
                <a:cs typeface="Arial"/>
              </a:rPr>
              <a:t>where</a:t>
            </a:r>
            <a:r>
              <a:rPr sz="2000" spc="-40" dirty="0">
                <a:latin typeface="Arial"/>
                <a:cs typeface="Arial"/>
              </a:rPr>
              <a:t> </a:t>
            </a:r>
            <a:r>
              <a:rPr sz="2000" dirty="0">
                <a:latin typeface="Arial"/>
                <a:cs typeface="Arial"/>
              </a:rPr>
              <a:t>data</a:t>
            </a:r>
            <a:r>
              <a:rPr sz="2000" spc="-30" dirty="0">
                <a:latin typeface="Arial"/>
                <a:cs typeface="Arial"/>
              </a:rPr>
              <a:t> </a:t>
            </a:r>
            <a:r>
              <a:rPr sz="2000" dirty="0">
                <a:latin typeface="Arial"/>
                <a:cs typeface="Arial"/>
              </a:rPr>
              <a:t>is</a:t>
            </a:r>
            <a:r>
              <a:rPr sz="2000" spc="-30" dirty="0">
                <a:latin typeface="Arial"/>
                <a:cs typeface="Arial"/>
              </a:rPr>
              <a:t> </a:t>
            </a:r>
            <a:r>
              <a:rPr sz="2000" spc="-25" dirty="0">
                <a:latin typeface="Arial"/>
                <a:cs typeface="Arial"/>
              </a:rPr>
              <a:t>not </a:t>
            </a:r>
            <a:r>
              <a:rPr sz="2000" dirty="0">
                <a:latin typeface="Arial"/>
                <a:cs typeface="Arial"/>
              </a:rPr>
              <a:t>allowed</a:t>
            </a:r>
            <a:r>
              <a:rPr sz="2000" spc="-40" dirty="0">
                <a:latin typeface="Arial"/>
                <a:cs typeface="Arial"/>
              </a:rPr>
              <a:t> </a:t>
            </a:r>
            <a:r>
              <a:rPr sz="2000" dirty="0">
                <a:latin typeface="Arial"/>
                <a:cs typeface="Arial"/>
              </a:rPr>
              <a:t>to</a:t>
            </a:r>
            <a:r>
              <a:rPr sz="2000" spc="-30" dirty="0">
                <a:latin typeface="Arial"/>
                <a:cs typeface="Arial"/>
              </a:rPr>
              <a:t> </a:t>
            </a:r>
            <a:r>
              <a:rPr sz="2000" dirty="0">
                <a:latin typeface="Arial"/>
                <a:cs typeface="Arial"/>
              </a:rPr>
              <a:t>be</a:t>
            </a:r>
            <a:r>
              <a:rPr sz="2000" spc="-35" dirty="0">
                <a:latin typeface="Arial"/>
                <a:cs typeface="Arial"/>
              </a:rPr>
              <a:t> </a:t>
            </a:r>
            <a:r>
              <a:rPr sz="2000" dirty="0">
                <a:latin typeface="Arial"/>
                <a:cs typeface="Arial"/>
              </a:rPr>
              <a:t>hosted</a:t>
            </a:r>
            <a:r>
              <a:rPr sz="2000" spc="-50" dirty="0">
                <a:latin typeface="Arial"/>
                <a:cs typeface="Arial"/>
              </a:rPr>
              <a:t> </a:t>
            </a:r>
            <a:r>
              <a:rPr sz="2000" spc="-10" dirty="0">
                <a:latin typeface="Arial"/>
                <a:cs typeface="Arial"/>
              </a:rPr>
              <a:t>externally.</a:t>
            </a:r>
            <a:endParaRPr sz="2000">
              <a:latin typeface="Arial"/>
              <a:cs typeface="Arial"/>
            </a:endParaRPr>
          </a:p>
          <a:p>
            <a:pPr marL="355600" indent="-342900">
              <a:lnSpc>
                <a:spcPct val="100000"/>
              </a:lnSpc>
              <a:spcBef>
                <a:spcPts val="480"/>
              </a:spcBef>
              <a:buClr>
                <a:srgbClr val="00007C"/>
              </a:buClr>
              <a:buSzPct val="75000"/>
              <a:buFont typeface="Wingdings"/>
              <a:buChar char=""/>
              <a:tabLst>
                <a:tab pos="355600" algn="l"/>
              </a:tabLst>
            </a:pPr>
            <a:r>
              <a:rPr sz="2000" dirty="0">
                <a:latin typeface="Arial"/>
                <a:cs typeface="Arial"/>
              </a:rPr>
              <a:t>Examples:</a:t>
            </a:r>
            <a:r>
              <a:rPr sz="2000" spc="-40" dirty="0">
                <a:latin typeface="Arial"/>
                <a:cs typeface="Arial"/>
              </a:rPr>
              <a:t> </a:t>
            </a:r>
            <a:r>
              <a:rPr sz="2000" dirty="0">
                <a:latin typeface="Arial"/>
                <a:cs typeface="Arial"/>
              </a:rPr>
              <a:t>Gmail,</a:t>
            </a:r>
            <a:r>
              <a:rPr sz="2000" spc="-45" dirty="0">
                <a:latin typeface="Arial"/>
                <a:cs typeface="Arial"/>
              </a:rPr>
              <a:t> </a:t>
            </a:r>
            <a:r>
              <a:rPr sz="2000" dirty="0">
                <a:latin typeface="Arial"/>
                <a:cs typeface="Arial"/>
              </a:rPr>
              <a:t>Google</a:t>
            </a:r>
            <a:r>
              <a:rPr sz="2000" spc="-45" dirty="0">
                <a:latin typeface="Arial"/>
                <a:cs typeface="Arial"/>
              </a:rPr>
              <a:t> </a:t>
            </a:r>
            <a:r>
              <a:rPr sz="2000" dirty="0">
                <a:latin typeface="Arial"/>
                <a:cs typeface="Arial"/>
              </a:rPr>
              <a:t>search</a:t>
            </a:r>
            <a:r>
              <a:rPr sz="2000" spc="-50" dirty="0">
                <a:latin typeface="Arial"/>
                <a:cs typeface="Arial"/>
              </a:rPr>
              <a:t> </a:t>
            </a:r>
            <a:r>
              <a:rPr sz="2000" spc="-10" dirty="0">
                <a:latin typeface="Arial"/>
                <a:cs typeface="Arial"/>
              </a:rPr>
              <a:t>engine.</a:t>
            </a:r>
            <a:endParaRPr sz="20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74319"/>
            <a:ext cx="5328285" cy="514350"/>
          </a:xfrm>
          <a:prstGeom prst="rect">
            <a:avLst/>
          </a:prstGeom>
        </p:spPr>
        <p:txBody>
          <a:bodyPr vert="horz" wrap="square" lIns="0" tIns="13335" rIns="0" bIns="0" rtlCol="0">
            <a:spAutoFit/>
          </a:bodyPr>
          <a:lstStyle/>
          <a:p>
            <a:pPr marL="12700">
              <a:lnSpc>
                <a:spcPct val="100000"/>
              </a:lnSpc>
              <a:spcBef>
                <a:spcPts val="105"/>
              </a:spcBef>
            </a:pPr>
            <a:r>
              <a:rPr spc="-10" dirty="0"/>
              <a:t>Platform-as-a-</a:t>
            </a:r>
            <a:r>
              <a:rPr dirty="0"/>
              <a:t>Service</a:t>
            </a:r>
            <a:r>
              <a:rPr spc="-20" dirty="0"/>
              <a:t> </a:t>
            </a:r>
            <a:r>
              <a:rPr spc="-10" dirty="0"/>
              <a:t>(PaaS)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21</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355600" marR="225425" indent="-343535">
              <a:lnSpc>
                <a:spcPct val="100000"/>
              </a:lnSpc>
              <a:spcBef>
                <a:spcPts val="105"/>
              </a:spcBef>
              <a:buClr>
                <a:srgbClr val="00007C"/>
              </a:buClr>
              <a:buSzPct val="75000"/>
              <a:buFont typeface="Wingdings"/>
              <a:buChar char=""/>
              <a:tabLst>
                <a:tab pos="355600" algn="l"/>
                <a:tab pos="2683510" algn="l"/>
              </a:tabLst>
            </a:pPr>
            <a:r>
              <a:rPr dirty="0"/>
              <a:t>Allows</a:t>
            </a:r>
            <a:r>
              <a:rPr spc="-30" dirty="0"/>
              <a:t> </a:t>
            </a:r>
            <a:r>
              <a:rPr dirty="0"/>
              <a:t>a</a:t>
            </a:r>
            <a:r>
              <a:rPr spc="-30" dirty="0"/>
              <a:t> </a:t>
            </a:r>
            <a:r>
              <a:rPr dirty="0"/>
              <a:t>cloud</a:t>
            </a:r>
            <a:r>
              <a:rPr spc="-45" dirty="0"/>
              <a:t> </a:t>
            </a:r>
            <a:r>
              <a:rPr spc="-20" dirty="0"/>
              <a:t>user</a:t>
            </a:r>
            <a:r>
              <a:rPr dirty="0"/>
              <a:t>	to</a:t>
            </a:r>
            <a:r>
              <a:rPr spc="15" dirty="0"/>
              <a:t> </a:t>
            </a:r>
            <a:r>
              <a:rPr dirty="0"/>
              <a:t>deploy</a:t>
            </a:r>
            <a:r>
              <a:rPr spc="-20" dirty="0"/>
              <a:t> </a:t>
            </a:r>
            <a:r>
              <a:rPr spc="-10" dirty="0"/>
              <a:t>consumer-</a:t>
            </a:r>
            <a:r>
              <a:rPr dirty="0"/>
              <a:t>created</a:t>
            </a:r>
            <a:r>
              <a:rPr spc="-40" dirty="0"/>
              <a:t> </a:t>
            </a:r>
            <a:r>
              <a:rPr dirty="0"/>
              <a:t>or</a:t>
            </a:r>
            <a:r>
              <a:rPr spc="-20" dirty="0"/>
              <a:t> </a:t>
            </a:r>
            <a:r>
              <a:rPr spc="-10" dirty="0"/>
              <a:t>acquired </a:t>
            </a:r>
            <a:r>
              <a:rPr dirty="0"/>
              <a:t>applications</a:t>
            </a:r>
            <a:r>
              <a:rPr spc="-50" dirty="0"/>
              <a:t> </a:t>
            </a:r>
            <a:r>
              <a:rPr dirty="0"/>
              <a:t>using</a:t>
            </a:r>
            <a:r>
              <a:rPr spc="-40" dirty="0"/>
              <a:t> </a:t>
            </a:r>
            <a:r>
              <a:rPr dirty="0"/>
              <a:t>programming</a:t>
            </a:r>
            <a:r>
              <a:rPr spc="-60" dirty="0"/>
              <a:t> </a:t>
            </a:r>
            <a:r>
              <a:rPr dirty="0"/>
              <a:t>languages</a:t>
            </a:r>
            <a:r>
              <a:rPr spc="-45" dirty="0"/>
              <a:t> </a:t>
            </a:r>
            <a:r>
              <a:rPr dirty="0"/>
              <a:t>and</a:t>
            </a:r>
            <a:r>
              <a:rPr spc="-40" dirty="0"/>
              <a:t> </a:t>
            </a:r>
            <a:r>
              <a:rPr dirty="0"/>
              <a:t>tools</a:t>
            </a:r>
            <a:r>
              <a:rPr spc="-45" dirty="0"/>
              <a:t> </a:t>
            </a:r>
            <a:r>
              <a:rPr dirty="0"/>
              <a:t>supported</a:t>
            </a:r>
            <a:r>
              <a:rPr spc="-70" dirty="0"/>
              <a:t> </a:t>
            </a:r>
            <a:r>
              <a:rPr spc="-25" dirty="0"/>
              <a:t>by </a:t>
            </a:r>
            <a:r>
              <a:rPr dirty="0"/>
              <a:t>the</a:t>
            </a:r>
            <a:r>
              <a:rPr spc="-50" dirty="0"/>
              <a:t> </a:t>
            </a:r>
            <a:r>
              <a:rPr dirty="0"/>
              <a:t>service</a:t>
            </a:r>
            <a:r>
              <a:rPr spc="-35" dirty="0"/>
              <a:t> </a:t>
            </a:r>
            <a:r>
              <a:rPr spc="-10" dirty="0"/>
              <a:t>provider.</a:t>
            </a:r>
          </a:p>
          <a:p>
            <a:pPr marL="355600" indent="-342900">
              <a:lnSpc>
                <a:spcPct val="100000"/>
              </a:lnSpc>
              <a:spcBef>
                <a:spcPts val="480"/>
              </a:spcBef>
              <a:buClr>
                <a:srgbClr val="00007C"/>
              </a:buClr>
              <a:buSzPct val="75000"/>
              <a:buFont typeface="Wingdings"/>
              <a:buChar char=""/>
              <a:tabLst>
                <a:tab pos="355600" algn="l"/>
              </a:tabLst>
            </a:pPr>
            <a:r>
              <a:rPr dirty="0"/>
              <a:t>The</a:t>
            </a:r>
            <a:r>
              <a:rPr spc="-25" dirty="0"/>
              <a:t> </a:t>
            </a:r>
            <a:r>
              <a:rPr spc="-10" dirty="0"/>
              <a:t>user:</a:t>
            </a:r>
          </a:p>
          <a:p>
            <a:pPr marL="755015" marR="372745" lvl="1" indent="-285750">
              <a:lnSpc>
                <a:spcPct val="100000"/>
              </a:lnSpc>
              <a:spcBef>
                <a:spcPts val="440"/>
              </a:spcBef>
              <a:buClr>
                <a:srgbClr val="9999CC"/>
              </a:buClr>
              <a:buSzPct val="80555"/>
              <a:buFont typeface="Wingdings"/>
              <a:buChar char=""/>
              <a:tabLst>
                <a:tab pos="756285" algn="l"/>
              </a:tabLst>
            </a:pPr>
            <a:r>
              <a:rPr sz="1800" dirty="0">
                <a:latin typeface="Arial"/>
                <a:cs typeface="Arial"/>
              </a:rPr>
              <a:t>Has</a:t>
            </a:r>
            <a:r>
              <a:rPr sz="1800" spc="-40" dirty="0">
                <a:latin typeface="Arial"/>
                <a:cs typeface="Arial"/>
              </a:rPr>
              <a:t> </a:t>
            </a:r>
            <a:r>
              <a:rPr sz="1800" dirty="0">
                <a:latin typeface="Arial"/>
                <a:cs typeface="Arial"/>
              </a:rPr>
              <a:t>control</a:t>
            </a:r>
            <a:r>
              <a:rPr sz="1800" spc="-35" dirty="0">
                <a:latin typeface="Arial"/>
                <a:cs typeface="Arial"/>
              </a:rPr>
              <a:t> </a:t>
            </a:r>
            <a:r>
              <a:rPr sz="1800" dirty="0">
                <a:latin typeface="Arial"/>
                <a:cs typeface="Arial"/>
              </a:rPr>
              <a:t>over</a:t>
            </a:r>
            <a:r>
              <a:rPr sz="1800" spc="-35" dirty="0">
                <a:latin typeface="Arial"/>
                <a:cs typeface="Arial"/>
              </a:rPr>
              <a:t> </a:t>
            </a:r>
            <a:r>
              <a:rPr sz="1800" dirty="0">
                <a:latin typeface="Arial"/>
                <a:cs typeface="Arial"/>
              </a:rPr>
              <a:t>the</a:t>
            </a:r>
            <a:r>
              <a:rPr sz="1800" spc="-50" dirty="0">
                <a:latin typeface="Arial"/>
                <a:cs typeface="Arial"/>
              </a:rPr>
              <a:t> </a:t>
            </a:r>
            <a:r>
              <a:rPr sz="1800" dirty="0">
                <a:latin typeface="Arial"/>
                <a:cs typeface="Arial"/>
              </a:rPr>
              <a:t>deployed applications</a:t>
            </a:r>
            <a:r>
              <a:rPr sz="1800" spc="-5" dirty="0">
                <a:latin typeface="Arial"/>
                <a:cs typeface="Arial"/>
              </a:rPr>
              <a:t> </a:t>
            </a:r>
            <a:r>
              <a:rPr sz="1800" dirty="0">
                <a:latin typeface="Arial"/>
                <a:cs typeface="Arial"/>
              </a:rPr>
              <a:t>and,</a:t>
            </a:r>
            <a:r>
              <a:rPr sz="1800" spc="-40" dirty="0">
                <a:latin typeface="Arial"/>
                <a:cs typeface="Arial"/>
              </a:rPr>
              <a:t> </a:t>
            </a:r>
            <a:r>
              <a:rPr sz="1800" dirty="0">
                <a:latin typeface="Arial"/>
                <a:cs typeface="Arial"/>
              </a:rPr>
              <a:t>possibly, </a:t>
            </a:r>
            <a:r>
              <a:rPr sz="1800" spc="-10" dirty="0">
                <a:latin typeface="Arial"/>
                <a:cs typeface="Arial"/>
              </a:rPr>
              <a:t>application 	</a:t>
            </a:r>
            <a:r>
              <a:rPr sz="1800" dirty="0">
                <a:latin typeface="Arial"/>
                <a:cs typeface="Arial"/>
              </a:rPr>
              <a:t>hosting</a:t>
            </a:r>
            <a:r>
              <a:rPr sz="1800" spc="-55" dirty="0">
                <a:latin typeface="Arial"/>
                <a:cs typeface="Arial"/>
              </a:rPr>
              <a:t> </a:t>
            </a:r>
            <a:r>
              <a:rPr sz="1800" dirty="0">
                <a:latin typeface="Arial"/>
                <a:cs typeface="Arial"/>
              </a:rPr>
              <a:t>environment</a:t>
            </a:r>
            <a:r>
              <a:rPr sz="1800" spc="-20" dirty="0">
                <a:latin typeface="Arial"/>
                <a:cs typeface="Arial"/>
              </a:rPr>
              <a:t> </a:t>
            </a:r>
            <a:r>
              <a:rPr sz="1800" spc="-10" dirty="0">
                <a:latin typeface="Arial"/>
                <a:cs typeface="Arial"/>
              </a:rPr>
              <a:t>configurations.</a:t>
            </a:r>
            <a:endParaRPr sz="1800">
              <a:latin typeface="Arial"/>
              <a:cs typeface="Arial"/>
            </a:endParaRPr>
          </a:p>
          <a:p>
            <a:pPr marL="755015" marR="5080" lvl="1" indent="-285750">
              <a:lnSpc>
                <a:spcPct val="100000"/>
              </a:lnSpc>
              <a:spcBef>
                <a:spcPts val="434"/>
              </a:spcBef>
              <a:buClr>
                <a:srgbClr val="9999CC"/>
              </a:buClr>
              <a:buSzPct val="80555"/>
              <a:buFont typeface="Wingdings"/>
              <a:buChar char=""/>
              <a:tabLst>
                <a:tab pos="756285" algn="l"/>
              </a:tabLst>
            </a:pPr>
            <a:r>
              <a:rPr sz="1800" dirty="0">
                <a:latin typeface="Arial"/>
                <a:cs typeface="Arial"/>
              </a:rPr>
              <a:t>Does</a:t>
            </a:r>
            <a:r>
              <a:rPr sz="1800" spc="-25" dirty="0">
                <a:latin typeface="Arial"/>
                <a:cs typeface="Arial"/>
              </a:rPr>
              <a:t> </a:t>
            </a:r>
            <a:r>
              <a:rPr sz="1800" dirty="0">
                <a:latin typeface="Arial"/>
                <a:cs typeface="Arial"/>
              </a:rPr>
              <a:t>not</a:t>
            </a:r>
            <a:r>
              <a:rPr sz="1800" spc="-30" dirty="0">
                <a:latin typeface="Arial"/>
                <a:cs typeface="Arial"/>
              </a:rPr>
              <a:t> </a:t>
            </a:r>
            <a:r>
              <a:rPr sz="1800" dirty="0">
                <a:latin typeface="Arial"/>
                <a:cs typeface="Arial"/>
              </a:rPr>
              <a:t>manage</a:t>
            </a:r>
            <a:r>
              <a:rPr sz="1800" spc="-30" dirty="0">
                <a:latin typeface="Arial"/>
                <a:cs typeface="Arial"/>
              </a:rPr>
              <a:t> </a:t>
            </a:r>
            <a:r>
              <a:rPr sz="1800" dirty="0">
                <a:latin typeface="Arial"/>
                <a:cs typeface="Arial"/>
              </a:rPr>
              <a:t>or</a:t>
            </a:r>
            <a:r>
              <a:rPr sz="1800" spc="-35" dirty="0">
                <a:latin typeface="Arial"/>
                <a:cs typeface="Arial"/>
              </a:rPr>
              <a:t> </a:t>
            </a:r>
            <a:r>
              <a:rPr sz="1800" dirty="0">
                <a:latin typeface="Arial"/>
                <a:cs typeface="Arial"/>
              </a:rPr>
              <a:t>control</a:t>
            </a:r>
            <a:r>
              <a:rPr sz="1800" spc="-25"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underlying</a:t>
            </a:r>
            <a:r>
              <a:rPr sz="1800" spc="10" dirty="0">
                <a:latin typeface="Arial"/>
                <a:cs typeface="Arial"/>
              </a:rPr>
              <a:t> </a:t>
            </a:r>
            <a:r>
              <a:rPr sz="1800" dirty="0">
                <a:latin typeface="Arial"/>
                <a:cs typeface="Arial"/>
              </a:rPr>
              <a:t>cloud</a:t>
            </a:r>
            <a:r>
              <a:rPr sz="1800" spc="-30" dirty="0">
                <a:latin typeface="Arial"/>
                <a:cs typeface="Arial"/>
              </a:rPr>
              <a:t> </a:t>
            </a:r>
            <a:r>
              <a:rPr sz="1800" dirty="0">
                <a:latin typeface="Arial"/>
                <a:cs typeface="Arial"/>
              </a:rPr>
              <a:t>infrastructure</a:t>
            </a:r>
            <a:r>
              <a:rPr sz="1800" spc="-30" dirty="0">
                <a:latin typeface="Arial"/>
                <a:cs typeface="Arial"/>
              </a:rPr>
              <a:t> </a:t>
            </a:r>
            <a:r>
              <a:rPr sz="1800" spc="-10" dirty="0">
                <a:latin typeface="Arial"/>
                <a:cs typeface="Arial"/>
              </a:rPr>
              <a:t>including 	</a:t>
            </a:r>
            <a:r>
              <a:rPr sz="1800" dirty="0">
                <a:latin typeface="Arial"/>
                <a:cs typeface="Arial"/>
              </a:rPr>
              <a:t>network,</a:t>
            </a:r>
            <a:r>
              <a:rPr sz="1800" spc="-15" dirty="0">
                <a:latin typeface="Arial"/>
                <a:cs typeface="Arial"/>
              </a:rPr>
              <a:t> </a:t>
            </a:r>
            <a:r>
              <a:rPr sz="1800" dirty="0">
                <a:latin typeface="Arial"/>
                <a:cs typeface="Arial"/>
              </a:rPr>
              <a:t>servers,</a:t>
            </a:r>
            <a:r>
              <a:rPr sz="1800" spc="-35" dirty="0">
                <a:latin typeface="Arial"/>
                <a:cs typeface="Arial"/>
              </a:rPr>
              <a:t> </a:t>
            </a:r>
            <a:r>
              <a:rPr sz="1800" dirty="0">
                <a:latin typeface="Arial"/>
                <a:cs typeface="Arial"/>
              </a:rPr>
              <a:t>operating</a:t>
            </a:r>
            <a:r>
              <a:rPr sz="1800" spc="-25" dirty="0">
                <a:latin typeface="Arial"/>
                <a:cs typeface="Arial"/>
              </a:rPr>
              <a:t> </a:t>
            </a:r>
            <a:r>
              <a:rPr sz="1800" dirty="0">
                <a:latin typeface="Arial"/>
                <a:cs typeface="Arial"/>
              </a:rPr>
              <a:t>systems,</a:t>
            </a:r>
            <a:r>
              <a:rPr sz="1800" spc="-20" dirty="0">
                <a:latin typeface="Arial"/>
                <a:cs typeface="Arial"/>
              </a:rPr>
              <a:t> </a:t>
            </a:r>
            <a:r>
              <a:rPr sz="1800" dirty="0">
                <a:latin typeface="Arial"/>
                <a:cs typeface="Arial"/>
              </a:rPr>
              <a:t>or</a:t>
            </a:r>
            <a:r>
              <a:rPr sz="1800" spc="-35" dirty="0">
                <a:latin typeface="Arial"/>
                <a:cs typeface="Arial"/>
              </a:rPr>
              <a:t> </a:t>
            </a:r>
            <a:r>
              <a:rPr sz="1800" spc="-10" dirty="0">
                <a:latin typeface="Arial"/>
                <a:cs typeface="Arial"/>
              </a:rPr>
              <a:t>storage.</a:t>
            </a:r>
            <a:endParaRPr sz="1800">
              <a:latin typeface="Arial"/>
              <a:cs typeface="Arial"/>
            </a:endParaRPr>
          </a:p>
          <a:p>
            <a:pPr marL="355600" indent="-342900">
              <a:lnSpc>
                <a:spcPct val="100000"/>
              </a:lnSpc>
              <a:spcBef>
                <a:spcPts val="470"/>
              </a:spcBef>
              <a:buClr>
                <a:srgbClr val="00007C"/>
              </a:buClr>
              <a:buSzPct val="75000"/>
              <a:buFont typeface="Wingdings"/>
              <a:buChar char=""/>
              <a:tabLst>
                <a:tab pos="355600" algn="l"/>
              </a:tabLst>
            </a:pPr>
            <a:r>
              <a:rPr dirty="0"/>
              <a:t>Not</a:t>
            </a:r>
            <a:r>
              <a:rPr spc="-40" dirty="0"/>
              <a:t> </a:t>
            </a:r>
            <a:r>
              <a:rPr dirty="0"/>
              <a:t>particularly</a:t>
            </a:r>
            <a:r>
              <a:rPr spc="-50" dirty="0"/>
              <a:t> </a:t>
            </a:r>
            <a:r>
              <a:rPr dirty="0"/>
              <a:t>useful</a:t>
            </a:r>
            <a:r>
              <a:rPr spc="-25" dirty="0"/>
              <a:t> </a:t>
            </a:r>
            <a:r>
              <a:rPr spc="-10" dirty="0"/>
              <a:t>when:</a:t>
            </a:r>
          </a:p>
          <a:p>
            <a:pPr marL="755650" lvl="1" indent="-285750">
              <a:lnSpc>
                <a:spcPct val="100000"/>
              </a:lnSpc>
              <a:spcBef>
                <a:spcPts val="445"/>
              </a:spcBef>
              <a:buClr>
                <a:srgbClr val="9999CC"/>
              </a:buClr>
              <a:buSzPct val="80555"/>
              <a:buFont typeface="Wingdings"/>
              <a:buChar char=""/>
              <a:tabLst>
                <a:tab pos="755650" algn="l"/>
              </a:tabLst>
            </a:pPr>
            <a:r>
              <a:rPr sz="1800" dirty="0">
                <a:latin typeface="Arial"/>
                <a:cs typeface="Arial"/>
              </a:rPr>
              <a:t>The</a:t>
            </a:r>
            <a:r>
              <a:rPr sz="1800" spc="-40" dirty="0">
                <a:latin typeface="Arial"/>
                <a:cs typeface="Arial"/>
              </a:rPr>
              <a:t> </a:t>
            </a:r>
            <a:r>
              <a:rPr sz="1800" dirty="0">
                <a:latin typeface="Arial"/>
                <a:cs typeface="Arial"/>
              </a:rPr>
              <a:t>application</a:t>
            </a:r>
            <a:r>
              <a:rPr sz="1800" spc="-5" dirty="0">
                <a:latin typeface="Arial"/>
                <a:cs typeface="Arial"/>
              </a:rPr>
              <a:t> </a:t>
            </a:r>
            <a:r>
              <a:rPr sz="1800" dirty="0">
                <a:latin typeface="Arial"/>
                <a:cs typeface="Arial"/>
              </a:rPr>
              <a:t>must</a:t>
            </a:r>
            <a:r>
              <a:rPr sz="1800" spc="-20" dirty="0">
                <a:latin typeface="Arial"/>
                <a:cs typeface="Arial"/>
              </a:rPr>
              <a:t> </a:t>
            </a:r>
            <a:r>
              <a:rPr sz="1800" dirty="0">
                <a:latin typeface="Arial"/>
                <a:cs typeface="Arial"/>
              </a:rPr>
              <a:t>be</a:t>
            </a:r>
            <a:r>
              <a:rPr sz="1800" spc="-20" dirty="0">
                <a:latin typeface="Arial"/>
                <a:cs typeface="Arial"/>
              </a:rPr>
              <a:t> </a:t>
            </a:r>
            <a:r>
              <a:rPr sz="1800" spc="-10" dirty="0">
                <a:latin typeface="Arial"/>
                <a:cs typeface="Arial"/>
              </a:rPr>
              <a:t>portable.</a:t>
            </a:r>
            <a:endParaRPr sz="1800">
              <a:latin typeface="Arial"/>
              <a:cs typeface="Arial"/>
            </a:endParaRPr>
          </a:p>
          <a:p>
            <a:pPr marL="755650" lvl="1" indent="-285750">
              <a:lnSpc>
                <a:spcPct val="100000"/>
              </a:lnSpc>
              <a:spcBef>
                <a:spcPts val="430"/>
              </a:spcBef>
              <a:buClr>
                <a:srgbClr val="9999CC"/>
              </a:buClr>
              <a:buSzPct val="80555"/>
              <a:buFont typeface="Wingdings"/>
              <a:buChar char=""/>
              <a:tabLst>
                <a:tab pos="755650" algn="l"/>
              </a:tabLst>
            </a:pPr>
            <a:r>
              <a:rPr sz="1800" dirty="0">
                <a:latin typeface="Arial"/>
                <a:cs typeface="Arial"/>
              </a:rPr>
              <a:t>Proprietary</a:t>
            </a:r>
            <a:r>
              <a:rPr sz="1800" spc="-50" dirty="0">
                <a:latin typeface="Arial"/>
                <a:cs typeface="Arial"/>
              </a:rPr>
              <a:t> </a:t>
            </a:r>
            <a:r>
              <a:rPr sz="1800" dirty="0">
                <a:latin typeface="Arial"/>
                <a:cs typeface="Arial"/>
              </a:rPr>
              <a:t>programming</a:t>
            </a:r>
            <a:r>
              <a:rPr sz="1800" spc="-35" dirty="0">
                <a:latin typeface="Arial"/>
                <a:cs typeface="Arial"/>
              </a:rPr>
              <a:t> </a:t>
            </a:r>
            <a:r>
              <a:rPr sz="1800" dirty="0">
                <a:latin typeface="Arial"/>
                <a:cs typeface="Arial"/>
              </a:rPr>
              <a:t>languages</a:t>
            </a:r>
            <a:r>
              <a:rPr sz="1800" spc="-30" dirty="0">
                <a:latin typeface="Arial"/>
                <a:cs typeface="Arial"/>
              </a:rPr>
              <a:t> </a:t>
            </a:r>
            <a:r>
              <a:rPr sz="1800" dirty="0">
                <a:latin typeface="Arial"/>
                <a:cs typeface="Arial"/>
              </a:rPr>
              <a:t>are</a:t>
            </a:r>
            <a:r>
              <a:rPr sz="1800" spc="-40" dirty="0">
                <a:latin typeface="Arial"/>
                <a:cs typeface="Arial"/>
              </a:rPr>
              <a:t> </a:t>
            </a:r>
            <a:r>
              <a:rPr sz="1800" spc="-10" dirty="0">
                <a:latin typeface="Arial"/>
                <a:cs typeface="Arial"/>
              </a:rPr>
              <a:t>used.</a:t>
            </a:r>
            <a:endParaRPr sz="1800">
              <a:latin typeface="Arial"/>
              <a:cs typeface="Arial"/>
            </a:endParaRPr>
          </a:p>
          <a:p>
            <a:pPr marL="755015" marR="902969" lvl="1" indent="-285750">
              <a:lnSpc>
                <a:spcPct val="100000"/>
              </a:lnSpc>
              <a:spcBef>
                <a:spcPts val="430"/>
              </a:spcBef>
              <a:buClr>
                <a:srgbClr val="9999CC"/>
              </a:buClr>
              <a:buSzPct val="80555"/>
              <a:buFont typeface="Wingdings"/>
              <a:buChar char=""/>
              <a:tabLst>
                <a:tab pos="756285" algn="l"/>
              </a:tabLst>
            </a:pPr>
            <a:r>
              <a:rPr sz="1800" dirty="0">
                <a:latin typeface="Arial"/>
                <a:cs typeface="Arial"/>
              </a:rPr>
              <a:t>The</a:t>
            </a:r>
            <a:r>
              <a:rPr sz="1800" spc="-50" dirty="0">
                <a:latin typeface="Arial"/>
                <a:cs typeface="Arial"/>
              </a:rPr>
              <a:t> </a:t>
            </a:r>
            <a:r>
              <a:rPr sz="1800" dirty="0">
                <a:latin typeface="Arial"/>
                <a:cs typeface="Arial"/>
              </a:rPr>
              <a:t>hardware</a:t>
            </a:r>
            <a:r>
              <a:rPr sz="1800" spc="20" dirty="0">
                <a:latin typeface="Arial"/>
                <a:cs typeface="Arial"/>
              </a:rPr>
              <a:t> </a:t>
            </a:r>
            <a:r>
              <a:rPr sz="1800" dirty="0">
                <a:latin typeface="Arial"/>
                <a:cs typeface="Arial"/>
              </a:rPr>
              <a:t>and</a:t>
            </a:r>
            <a:r>
              <a:rPr sz="1800" spc="-30" dirty="0">
                <a:latin typeface="Arial"/>
                <a:cs typeface="Arial"/>
              </a:rPr>
              <a:t> </a:t>
            </a:r>
            <a:r>
              <a:rPr sz="1800" dirty="0">
                <a:latin typeface="Arial"/>
                <a:cs typeface="Arial"/>
              </a:rPr>
              <a:t>software</a:t>
            </a:r>
            <a:r>
              <a:rPr sz="1800" spc="10" dirty="0">
                <a:latin typeface="Arial"/>
                <a:cs typeface="Arial"/>
              </a:rPr>
              <a:t> </a:t>
            </a:r>
            <a:r>
              <a:rPr sz="1800" dirty="0">
                <a:latin typeface="Arial"/>
                <a:cs typeface="Arial"/>
              </a:rPr>
              <a:t>must</a:t>
            </a:r>
            <a:r>
              <a:rPr sz="1800" spc="-40" dirty="0">
                <a:latin typeface="Arial"/>
                <a:cs typeface="Arial"/>
              </a:rPr>
              <a:t> </a:t>
            </a:r>
            <a:r>
              <a:rPr sz="1800" dirty="0">
                <a:latin typeface="Arial"/>
                <a:cs typeface="Arial"/>
              </a:rPr>
              <a:t>be</a:t>
            </a:r>
            <a:r>
              <a:rPr sz="1800" spc="-25" dirty="0">
                <a:latin typeface="Arial"/>
                <a:cs typeface="Arial"/>
              </a:rPr>
              <a:t> </a:t>
            </a:r>
            <a:r>
              <a:rPr sz="1800" dirty="0">
                <a:latin typeface="Arial"/>
                <a:cs typeface="Arial"/>
              </a:rPr>
              <a:t>customized</a:t>
            </a:r>
            <a:r>
              <a:rPr sz="1800" spc="-25" dirty="0">
                <a:latin typeface="Arial"/>
                <a:cs typeface="Arial"/>
              </a:rPr>
              <a:t> </a:t>
            </a:r>
            <a:r>
              <a:rPr sz="1800" dirty="0">
                <a:latin typeface="Arial"/>
                <a:cs typeface="Arial"/>
              </a:rPr>
              <a:t>to</a:t>
            </a:r>
            <a:r>
              <a:rPr sz="1800" spc="-40" dirty="0">
                <a:latin typeface="Arial"/>
                <a:cs typeface="Arial"/>
              </a:rPr>
              <a:t> </a:t>
            </a:r>
            <a:r>
              <a:rPr sz="1800" dirty="0">
                <a:latin typeface="Arial"/>
                <a:cs typeface="Arial"/>
              </a:rPr>
              <a:t>improve</a:t>
            </a:r>
            <a:r>
              <a:rPr sz="1800" spc="-25" dirty="0">
                <a:latin typeface="Arial"/>
                <a:cs typeface="Arial"/>
              </a:rPr>
              <a:t> the 	</a:t>
            </a:r>
            <a:r>
              <a:rPr sz="1800" dirty="0">
                <a:latin typeface="Arial"/>
                <a:cs typeface="Arial"/>
              </a:rPr>
              <a:t>performance</a:t>
            </a:r>
            <a:r>
              <a:rPr sz="1800" spc="-20"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the</a:t>
            </a:r>
            <a:r>
              <a:rPr sz="1800" spc="-20" dirty="0">
                <a:latin typeface="Arial"/>
                <a:cs typeface="Arial"/>
              </a:rPr>
              <a:t> </a:t>
            </a:r>
            <a:r>
              <a:rPr sz="1800" spc="-10" dirty="0">
                <a:latin typeface="Arial"/>
                <a:cs typeface="Arial"/>
              </a:rPr>
              <a:t>application.</a:t>
            </a:r>
            <a:endParaRPr sz="18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64845"/>
            <a:ext cx="6048375" cy="513715"/>
          </a:xfrm>
          <a:prstGeom prst="rect">
            <a:avLst/>
          </a:prstGeom>
        </p:spPr>
        <p:txBody>
          <a:bodyPr vert="horz" wrap="square" lIns="0" tIns="13335" rIns="0" bIns="0" rtlCol="0">
            <a:spAutoFit/>
          </a:bodyPr>
          <a:lstStyle/>
          <a:p>
            <a:pPr marL="12700">
              <a:lnSpc>
                <a:spcPct val="100000"/>
              </a:lnSpc>
              <a:spcBef>
                <a:spcPts val="105"/>
              </a:spcBef>
            </a:pPr>
            <a:r>
              <a:rPr spc="-10" dirty="0"/>
              <a:t>Infrastructure-as-a-</a:t>
            </a:r>
            <a:r>
              <a:rPr dirty="0"/>
              <a:t>Service</a:t>
            </a:r>
            <a:r>
              <a:rPr spc="-10" dirty="0"/>
              <a:t> (IaaS)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22</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702130"/>
            <a:ext cx="8057515" cy="3928745"/>
          </a:xfrm>
          <a:prstGeom prst="rect">
            <a:avLst/>
          </a:prstGeom>
        </p:spPr>
        <p:txBody>
          <a:bodyPr vert="horz" wrap="square" lIns="0" tIns="13335" rIns="0" bIns="0" rtlCol="0">
            <a:spAutoFit/>
          </a:bodyPr>
          <a:lstStyle/>
          <a:p>
            <a:pPr marL="355600" indent="-342900">
              <a:lnSpc>
                <a:spcPct val="100000"/>
              </a:lnSpc>
              <a:spcBef>
                <a:spcPts val="105"/>
              </a:spcBef>
              <a:buClr>
                <a:srgbClr val="00007C"/>
              </a:buClr>
              <a:buSzPct val="75000"/>
              <a:buFont typeface="Wingdings"/>
              <a:buChar char=""/>
              <a:tabLst>
                <a:tab pos="355600" algn="l"/>
              </a:tabLst>
            </a:pPr>
            <a:r>
              <a:rPr sz="2000" dirty="0">
                <a:latin typeface="Arial"/>
                <a:cs typeface="Arial"/>
              </a:rPr>
              <a:t>The</a:t>
            </a:r>
            <a:r>
              <a:rPr sz="2000" spc="-30" dirty="0">
                <a:latin typeface="Arial"/>
                <a:cs typeface="Arial"/>
              </a:rPr>
              <a:t> </a:t>
            </a:r>
            <a:r>
              <a:rPr sz="2000" dirty="0">
                <a:latin typeface="Arial"/>
                <a:cs typeface="Arial"/>
              </a:rPr>
              <a:t>user</a:t>
            </a:r>
            <a:r>
              <a:rPr sz="2000" spc="-25" dirty="0">
                <a:latin typeface="Arial"/>
                <a:cs typeface="Arial"/>
              </a:rPr>
              <a:t> </a:t>
            </a:r>
            <a:r>
              <a:rPr sz="2000" dirty="0">
                <a:latin typeface="Arial"/>
                <a:cs typeface="Arial"/>
              </a:rPr>
              <a:t>is</a:t>
            </a:r>
            <a:r>
              <a:rPr sz="2000" spc="-10" dirty="0">
                <a:latin typeface="Arial"/>
                <a:cs typeface="Arial"/>
              </a:rPr>
              <a:t> </a:t>
            </a:r>
            <a:r>
              <a:rPr sz="2000" dirty="0">
                <a:latin typeface="Arial"/>
                <a:cs typeface="Arial"/>
              </a:rPr>
              <a:t>able</a:t>
            </a:r>
            <a:r>
              <a:rPr sz="2000" spc="-25" dirty="0">
                <a:latin typeface="Arial"/>
                <a:cs typeface="Arial"/>
              </a:rPr>
              <a:t> </a:t>
            </a:r>
            <a:r>
              <a:rPr sz="2000" dirty="0">
                <a:latin typeface="Arial"/>
                <a:cs typeface="Arial"/>
              </a:rPr>
              <a:t>to</a:t>
            </a:r>
            <a:r>
              <a:rPr sz="2000" spc="-20" dirty="0">
                <a:latin typeface="Arial"/>
                <a:cs typeface="Arial"/>
              </a:rPr>
              <a:t> </a:t>
            </a:r>
            <a:r>
              <a:rPr sz="2000" dirty="0">
                <a:latin typeface="Arial"/>
                <a:cs typeface="Arial"/>
              </a:rPr>
              <a:t>deploy</a:t>
            </a:r>
            <a:r>
              <a:rPr sz="2000" spc="-35" dirty="0">
                <a:latin typeface="Arial"/>
                <a:cs typeface="Arial"/>
              </a:rPr>
              <a:t> </a:t>
            </a:r>
            <a:r>
              <a:rPr sz="2000" dirty="0">
                <a:latin typeface="Arial"/>
                <a:cs typeface="Arial"/>
              </a:rPr>
              <a:t>and</a:t>
            </a:r>
            <a:r>
              <a:rPr sz="2000" spc="-20" dirty="0">
                <a:latin typeface="Arial"/>
                <a:cs typeface="Arial"/>
              </a:rPr>
              <a:t> </a:t>
            </a:r>
            <a:r>
              <a:rPr sz="2000" dirty="0">
                <a:latin typeface="Arial"/>
                <a:cs typeface="Arial"/>
              </a:rPr>
              <a:t>run</a:t>
            </a:r>
            <a:r>
              <a:rPr sz="2000" spc="-20" dirty="0">
                <a:latin typeface="Arial"/>
                <a:cs typeface="Arial"/>
              </a:rPr>
              <a:t> </a:t>
            </a:r>
            <a:r>
              <a:rPr sz="2000" dirty="0">
                <a:latin typeface="Arial"/>
                <a:cs typeface="Arial"/>
              </a:rPr>
              <a:t>arbitrary</a:t>
            </a:r>
            <a:r>
              <a:rPr sz="2000" spc="-50" dirty="0">
                <a:latin typeface="Arial"/>
                <a:cs typeface="Arial"/>
              </a:rPr>
              <a:t> </a:t>
            </a:r>
            <a:r>
              <a:rPr sz="2000" dirty="0">
                <a:latin typeface="Arial"/>
                <a:cs typeface="Arial"/>
              </a:rPr>
              <a:t>software,</a:t>
            </a:r>
            <a:r>
              <a:rPr sz="2000" spc="-50" dirty="0">
                <a:latin typeface="Arial"/>
                <a:cs typeface="Arial"/>
              </a:rPr>
              <a:t> </a:t>
            </a:r>
            <a:r>
              <a:rPr sz="2000" dirty="0">
                <a:latin typeface="Arial"/>
                <a:cs typeface="Arial"/>
              </a:rPr>
              <a:t>which</a:t>
            </a:r>
            <a:r>
              <a:rPr sz="2000" spc="-25" dirty="0">
                <a:latin typeface="Arial"/>
                <a:cs typeface="Arial"/>
              </a:rPr>
              <a:t> can</a:t>
            </a:r>
            <a:endParaRPr sz="2000">
              <a:latin typeface="Arial"/>
              <a:cs typeface="Arial"/>
            </a:endParaRPr>
          </a:p>
          <a:p>
            <a:pPr marL="355600">
              <a:lnSpc>
                <a:spcPct val="100000"/>
              </a:lnSpc>
            </a:pPr>
            <a:r>
              <a:rPr sz="2000" dirty="0">
                <a:latin typeface="Arial"/>
                <a:cs typeface="Arial"/>
              </a:rPr>
              <a:t>include</a:t>
            </a:r>
            <a:r>
              <a:rPr sz="2000" spc="-35" dirty="0">
                <a:latin typeface="Arial"/>
                <a:cs typeface="Arial"/>
              </a:rPr>
              <a:t> </a:t>
            </a:r>
            <a:r>
              <a:rPr sz="2000" dirty="0">
                <a:latin typeface="Arial"/>
                <a:cs typeface="Arial"/>
              </a:rPr>
              <a:t>operating</a:t>
            </a:r>
            <a:r>
              <a:rPr sz="2000" spc="-45" dirty="0">
                <a:latin typeface="Arial"/>
                <a:cs typeface="Arial"/>
              </a:rPr>
              <a:t> </a:t>
            </a:r>
            <a:r>
              <a:rPr sz="2000" dirty="0">
                <a:latin typeface="Arial"/>
                <a:cs typeface="Arial"/>
              </a:rPr>
              <a:t>systems</a:t>
            </a:r>
            <a:r>
              <a:rPr sz="2000" spc="-50" dirty="0">
                <a:latin typeface="Arial"/>
                <a:cs typeface="Arial"/>
              </a:rPr>
              <a:t> </a:t>
            </a:r>
            <a:r>
              <a:rPr sz="2000" dirty="0">
                <a:latin typeface="Arial"/>
                <a:cs typeface="Arial"/>
              </a:rPr>
              <a:t>and</a:t>
            </a:r>
            <a:r>
              <a:rPr sz="2000" spc="-25" dirty="0">
                <a:latin typeface="Arial"/>
                <a:cs typeface="Arial"/>
              </a:rPr>
              <a:t> </a:t>
            </a:r>
            <a:r>
              <a:rPr sz="2000" spc="-10" dirty="0">
                <a:latin typeface="Arial"/>
                <a:cs typeface="Arial"/>
              </a:rPr>
              <a:t>applications.</a:t>
            </a:r>
            <a:endParaRPr sz="2000">
              <a:latin typeface="Arial"/>
              <a:cs typeface="Arial"/>
            </a:endParaRPr>
          </a:p>
          <a:p>
            <a:pPr>
              <a:lnSpc>
                <a:spcPct val="100000"/>
              </a:lnSpc>
              <a:spcBef>
                <a:spcPts val="1060"/>
              </a:spcBef>
            </a:pPr>
            <a:endParaRPr sz="2000">
              <a:latin typeface="Arial"/>
              <a:cs typeface="Arial"/>
            </a:endParaRPr>
          </a:p>
          <a:p>
            <a:pPr marL="355600" marR="727710" indent="-343535">
              <a:lnSpc>
                <a:spcPct val="100000"/>
              </a:lnSpc>
              <a:buClr>
                <a:srgbClr val="00007C"/>
              </a:buClr>
              <a:buSzPct val="75000"/>
              <a:buFont typeface="Wingdings"/>
              <a:buChar char=""/>
              <a:tabLst>
                <a:tab pos="355600" algn="l"/>
              </a:tabLst>
            </a:pPr>
            <a:r>
              <a:rPr sz="2000" dirty="0">
                <a:latin typeface="Arial"/>
                <a:cs typeface="Arial"/>
              </a:rPr>
              <a:t>The</a:t>
            </a:r>
            <a:r>
              <a:rPr sz="2000" spc="-30" dirty="0">
                <a:latin typeface="Arial"/>
                <a:cs typeface="Arial"/>
              </a:rPr>
              <a:t> </a:t>
            </a:r>
            <a:r>
              <a:rPr sz="2000" dirty="0">
                <a:latin typeface="Arial"/>
                <a:cs typeface="Arial"/>
              </a:rPr>
              <a:t>user</a:t>
            </a:r>
            <a:r>
              <a:rPr sz="2000" spc="-35" dirty="0">
                <a:latin typeface="Arial"/>
                <a:cs typeface="Arial"/>
              </a:rPr>
              <a:t> </a:t>
            </a:r>
            <a:r>
              <a:rPr sz="2000" dirty="0">
                <a:latin typeface="Arial"/>
                <a:cs typeface="Arial"/>
              </a:rPr>
              <a:t>does</a:t>
            </a:r>
            <a:r>
              <a:rPr sz="2000" spc="-30" dirty="0">
                <a:latin typeface="Arial"/>
                <a:cs typeface="Arial"/>
              </a:rPr>
              <a:t> </a:t>
            </a:r>
            <a:r>
              <a:rPr sz="2000" dirty="0">
                <a:latin typeface="Arial"/>
                <a:cs typeface="Arial"/>
              </a:rPr>
              <a:t>not</a:t>
            </a:r>
            <a:r>
              <a:rPr sz="2000" spc="-15" dirty="0">
                <a:latin typeface="Arial"/>
                <a:cs typeface="Arial"/>
              </a:rPr>
              <a:t> </a:t>
            </a:r>
            <a:r>
              <a:rPr sz="2000" dirty="0">
                <a:latin typeface="Arial"/>
                <a:cs typeface="Arial"/>
              </a:rPr>
              <a:t>manage</a:t>
            </a:r>
            <a:r>
              <a:rPr sz="2000" spc="-45" dirty="0">
                <a:latin typeface="Arial"/>
                <a:cs typeface="Arial"/>
              </a:rPr>
              <a:t> </a:t>
            </a:r>
            <a:r>
              <a:rPr sz="2000" dirty="0">
                <a:latin typeface="Arial"/>
                <a:cs typeface="Arial"/>
              </a:rPr>
              <a:t>or</a:t>
            </a:r>
            <a:r>
              <a:rPr sz="2000" spc="-25" dirty="0">
                <a:latin typeface="Arial"/>
                <a:cs typeface="Arial"/>
              </a:rPr>
              <a:t> </a:t>
            </a:r>
            <a:r>
              <a:rPr sz="2000" dirty="0">
                <a:latin typeface="Arial"/>
                <a:cs typeface="Arial"/>
              </a:rPr>
              <a:t>control</a:t>
            </a:r>
            <a:r>
              <a:rPr sz="2000" spc="-35"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underlying</a:t>
            </a:r>
            <a:r>
              <a:rPr sz="2000" spc="-25" dirty="0">
                <a:latin typeface="Arial"/>
                <a:cs typeface="Arial"/>
              </a:rPr>
              <a:t> </a:t>
            </a:r>
            <a:r>
              <a:rPr sz="2000" spc="-10" dirty="0">
                <a:latin typeface="Arial"/>
                <a:cs typeface="Arial"/>
              </a:rPr>
              <a:t>cloud </a:t>
            </a:r>
            <a:r>
              <a:rPr sz="2000" dirty="0">
                <a:latin typeface="Arial"/>
                <a:cs typeface="Arial"/>
              </a:rPr>
              <a:t>infrastructure</a:t>
            </a:r>
            <a:r>
              <a:rPr sz="2000" spc="-55" dirty="0">
                <a:latin typeface="Arial"/>
                <a:cs typeface="Arial"/>
              </a:rPr>
              <a:t> </a:t>
            </a:r>
            <a:r>
              <a:rPr sz="2000" dirty="0">
                <a:latin typeface="Arial"/>
                <a:cs typeface="Arial"/>
              </a:rPr>
              <a:t>but</a:t>
            </a:r>
            <a:r>
              <a:rPr sz="2000" spc="-25" dirty="0">
                <a:latin typeface="Arial"/>
                <a:cs typeface="Arial"/>
              </a:rPr>
              <a:t> </a:t>
            </a:r>
            <a:r>
              <a:rPr sz="2000" dirty="0">
                <a:latin typeface="Arial"/>
                <a:cs typeface="Arial"/>
              </a:rPr>
              <a:t>has</a:t>
            </a:r>
            <a:r>
              <a:rPr sz="2000" spc="-30" dirty="0">
                <a:latin typeface="Arial"/>
                <a:cs typeface="Arial"/>
              </a:rPr>
              <a:t> </a:t>
            </a:r>
            <a:r>
              <a:rPr sz="2000" dirty="0">
                <a:latin typeface="Arial"/>
                <a:cs typeface="Arial"/>
              </a:rPr>
              <a:t>control</a:t>
            </a:r>
            <a:r>
              <a:rPr sz="2000" spc="-30" dirty="0">
                <a:latin typeface="Arial"/>
                <a:cs typeface="Arial"/>
              </a:rPr>
              <a:t> </a:t>
            </a:r>
            <a:r>
              <a:rPr sz="2000" dirty="0">
                <a:latin typeface="Arial"/>
                <a:cs typeface="Arial"/>
              </a:rPr>
              <a:t>over</a:t>
            </a:r>
            <a:r>
              <a:rPr sz="2000" spc="-20" dirty="0">
                <a:latin typeface="Arial"/>
                <a:cs typeface="Arial"/>
              </a:rPr>
              <a:t> </a:t>
            </a:r>
            <a:r>
              <a:rPr sz="2000" dirty="0">
                <a:latin typeface="Arial"/>
                <a:cs typeface="Arial"/>
              </a:rPr>
              <a:t>operating</a:t>
            </a:r>
            <a:r>
              <a:rPr sz="2000" spc="-35" dirty="0">
                <a:latin typeface="Arial"/>
                <a:cs typeface="Arial"/>
              </a:rPr>
              <a:t> </a:t>
            </a:r>
            <a:r>
              <a:rPr sz="2000" dirty="0">
                <a:latin typeface="Arial"/>
                <a:cs typeface="Arial"/>
              </a:rPr>
              <a:t>systems,</a:t>
            </a:r>
            <a:r>
              <a:rPr sz="2000" spc="-50" dirty="0">
                <a:latin typeface="Arial"/>
                <a:cs typeface="Arial"/>
              </a:rPr>
              <a:t> </a:t>
            </a:r>
            <a:r>
              <a:rPr sz="2000" spc="-10" dirty="0">
                <a:latin typeface="Arial"/>
                <a:cs typeface="Arial"/>
              </a:rPr>
              <a:t>storage, </a:t>
            </a:r>
            <a:r>
              <a:rPr sz="2000" dirty="0">
                <a:latin typeface="Arial"/>
                <a:cs typeface="Arial"/>
              </a:rPr>
              <a:t>deployed</a:t>
            </a:r>
            <a:r>
              <a:rPr sz="2000" spc="-50" dirty="0">
                <a:latin typeface="Arial"/>
                <a:cs typeface="Arial"/>
              </a:rPr>
              <a:t> </a:t>
            </a:r>
            <a:r>
              <a:rPr sz="2000" dirty="0">
                <a:latin typeface="Arial"/>
                <a:cs typeface="Arial"/>
              </a:rPr>
              <a:t>applications,</a:t>
            </a:r>
            <a:r>
              <a:rPr sz="2000" spc="-60" dirty="0">
                <a:latin typeface="Arial"/>
                <a:cs typeface="Arial"/>
              </a:rPr>
              <a:t> </a:t>
            </a:r>
            <a:r>
              <a:rPr sz="2000" dirty="0">
                <a:latin typeface="Arial"/>
                <a:cs typeface="Arial"/>
              </a:rPr>
              <a:t>and</a:t>
            </a:r>
            <a:r>
              <a:rPr sz="2000" spc="-45" dirty="0">
                <a:latin typeface="Arial"/>
                <a:cs typeface="Arial"/>
              </a:rPr>
              <a:t> </a:t>
            </a:r>
            <a:r>
              <a:rPr sz="2000" dirty="0">
                <a:latin typeface="Arial"/>
                <a:cs typeface="Arial"/>
              </a:rPr>
              <a:t>possibly</a:t>
            </a:r>
            <a:r>
              <a:rPr sz="2000" spc="-55" dirty="0">
                <a:latin typeface="Arial"/>
                <a:cs typeface="Arial"/>
              </a:rPr>
              <a:t> </a:t>
            </a:r>
            <a:r>
              <a:rPr sz="2000" dirty="0">
                <a:latin typeface="Arial"/>
                <a:cs typeface="Arial"/>
              </a:rPr>
              <a:t>limited</a:t>
            </a:r>
            <a:r>
              <a:rPr sz="2000" spc="-30" dirty="0">
                <a:latin typeface="Arial"/>
                <a:cs typeface="Arial"/>
              </a:rPr>
              <a:t> </a:t>
            </a:r>
            <a:r>
              <a:rPr sz="2000" dirty="0">
                <a:latin typeface="Arial"/>
                <a:cs typeface="Arial"/>
              </a:rPr>
              <a:t>control</a:t>
            </a:r>
            <a:r>
              <a:rPr sz="2000" spc="-55" dirty="0">
                <a:latin typeface="Arial"/>
                <a:cs typeface="Arial"/>
              </a:rPr>
              <a:t> </a:t>
            </a:r>
            <a:r>
              <a:rPr sz="2000" dirty="0">
                <a:latin typeface="Arial"/>
                <a:cs typeface="Arial"/>
              </a:rPr>
              <a:t>of</a:t>
            </a:r>
            <a:r>
              <a:rPr sz="2000" spc="-50" dirty="0">
                <a:latin typeface="Arial"/>
                <a:cs typeface="Arial"/>
              </a:rPr>
              <a:t> </a:t>
            </a:r>
            <a:r>
              <a:rPr sz="2000" spc="-20" dirty="0">
                <a:latin typeface="Arial"/>
                <a:cs typeface="Arial"/>
              </a:rPr>
              <a:t>some </a:t>
            </a:r>
            <a:r>
              <a:rPr sz="2000" dirty="0">
                <a:latin typeface="Arial"/>
                <a:cs typeface="Arial"/>
              </a:rPr>
              <a:t>networking</a:t>
            </a:r>
            <a:r>
              <a:rPr sz="2000" spc="-55" dirty="0">
                <a:latin typeface="Arial"/>
                <a:cs typeface="Arial"/>
              </a:rPr>
              <a:t> </a:t>
            </a:r>
            <a:r>
              <a:rPr sz="2000" dirty="0">
                <a:latin typeface="Arial"/>
                <a:cs typeface="Arial"/>
              </a:rPr>
              <a:t>components,</a:t>
            </a:r>
            <a:r>
              <a:rPr sz="2000" spc="-60" dirty="0">
                <a:latin typeface="Arial"/>
                <a:cs typeface="Arial"/>
              </a:rPr>
              <a:t> </a:t>
            </a:r>
            <a:r>
              <a:rPr sz="2000" dirty="0">
                <a:latin typeface="Arial"/>
                <a:cs typeface="Arial"/>
              </a:rPr>
              <a:t>e.g.,</a:t>
            </a:r>
            <a:r>
              <a:rPr sz="2000" spc="-40" dirty="0">
                <a:latin typeface="Arial"/>
                <a:cs typeface="Arial"/>
              </a:rPr>
              <a:t> </a:t>
            </a:r>
            <a:r>
              <a:rPr sz="2000" dirty="0">
                <a:latin typeface="Arial"/>
                <a:cs typeface="Arial"/>
              </a:rPr>
              <a:t>host</a:t>
            </a:r>
            <a:r>
              <a:rPr sz="2000" spc="-45" dirty="0">
                <a:latin typeface="Arial"/>
                <a:cs typeface="Arial"/>
              </a:rPr>
              <a:t> </a:t>
            </a:r>
            <a:r>
              <a:rPr sz="2000" spc="-10" dirty="0">
                <a:latin typeface="Arial"/>
                <a:cs typeface="Arial"/>
              </a:rPr>
              <a:t>firewalls.</a:t>
            </a:r>
            <a:endParaRPr sz="2000">
              <a:latin typeface="Arial"/>
              <a:cs typeface="Arial"/>
            </a:endParaRPr>
          </a:p>
          <a:p>
            <a:pPr>
              <a:lnSpc>
                <a:spcPct val="100000"/>
              </a:lnSpc>
              <a:spcBef>
                <a:spcPts val="1065"/>
              </a:spcBef>
              <a:buClr>
                <a:srgbClr val="00007C"/>
              </a:buClr>
              <a:buFont typeface="Wingdings"/>
              <a:buChar char=""/>
            </a:pPr>
            <a:endParaRPr sz="2000">
              <a:latin typeface="Arial"/>
              <a:cs typeface="Arial"/>
            </a:endParaRPr>
          </a:p>
          <a:p>
            <a:pPr marL="355600" marR="5080" indent="-343535">
              <a:lnSpc>
                <a:spcPct val="100000"/>
              </a:lnSpc>
              <a:buClr>
                <a:srgbClr val="00007C"/>
              </a:buClr>
              <a:buSzPct val="75000"/>
              <a:buFont typeface="Wingdings"/>
              <a:buChar char=""/>
              <a:tabLst>
                <a:tab pos="355600" algn="l"/>
                <a:tab pos="5788025" algn="l"/>
              </a:tabLst>
            </a:pPr>
            <a:r>
              <a:rPr sz="2000" dirty="0">
                <a:latin typeface="Arial"/>
                <a:cs typeface="Arial"/>
              </a:rPr>
              <a:t>Services</a:t>
            </a:r>
            <a:r>
              <a:rPr sz="2000" spc="-45" dirty="0">
                <a:latin typeface="Arial"/>
                <a:cs typeface="Arial"/>
              </a:rPr>
              <a:t> </a:t>
            </a:r>
            <a:r>
              <a:rPr sz="2000" dirty="0">
                <a:latin typeface="Arial"/>
                <a:cs typeface="Arial"/>
              </a:rPr>
              <a:t>offered</a:t>
            </a:r>
            <a:r>
              <a:rPr sz="2000" spc="-30" dirty="0">
                <a:latin typeface="Arial"/>
                <a:cs typeface="Arial"/>
              </a:rPr>
              <a:t> </a:t>
            </a:r>
            <a:r>
              <a:rPr sz="2000" dirty="0">
                <a:latin typeface="Arial"/>
                <a:cs typeface="Arial"/>
              </a:rPr>
              <a:t>by</a:t>
            </a:r>
            <a:r>
              <a:rPr sz="2000" spc="-15" dirty="0">
                <a:latin typeface="Arial"/>
                <a:cs typeface="Arial"/>
              </a:rPr>
              <a:t> </a:t>
            </a:r>
            <a:r>
              <a:rPr sz="2000" dirty="0">
                <a:latin typeface="Arial"/>
                <a:cs typeface="Arial"/>
              </a:rPr>
              <a:t>this</a:t>
            </a:r>
            <a:r>
              <a:rPr sz="2000" spc="-20" dirty="0">
                <a:latin typeface="Arial"/>
                <a:cs typeface="Arial"/>
              </a:rPr>
              <a:t> </a:t>
            </a:r>
            <a:r>
              <a:rPr sz="2000" dirty="0">
                <a:latin typeface="Arial"/>
                <a:cs typeface="Arial"/>
              </a:rPr>
              <a:t>delivery</a:t>
            </a:r>
            <a:r>
              <a:rPr sz="2000" spc="-15" dirty="0">
                <a:latin typeface="Arial"/>
                <a:cs typeface="Arial"/>
              </a:rPr>
              <a:t> </a:t>
            </a:r>
            <a:r>
              <a:rPr sz="2000" dirty="0">
                <a:latin typeface="Arial"/>
                <a:cs typeface="Arial"/>
              </a:rPr>
              <a:t>model</a:t>
            </a:r>
            <a:r>
              <a:rPr sz="2000" spc="-15" dirty="0">
                <a:latin typeface="Arial"/>
                <a:cs typeface="Arial"/>
              </a:rPr>
              <a:t> </a:t>
            </a:r>
            <a:r>
              <a:rPr sz="2000" spc="-10" dirty="0">
                <a:latin typeface="Arial"/>
                <a:cs typeface="Arial"/>
              </a:rPr>
              <a:t>include:</a:t>
            </a:r>
            <a:r>
              <a:rPr sz="2000" dirty="0">
                <a:latin typeface="Arial"/>
                <a:cs typeface="Arial"/>
              </a:rPr>
              <a:t>	server</a:t>
            </a:r>
            <a:r>
              <a:rPr sz="2000" spc="-30" dirty="0">
                <a:latin typeface="Arial"/>
                <a:cs typeface="Arial"/>
              </a:rPr>
              <a:t> </a:t>
            </a:r>
            <a:r>
              <a:rPr sz="2000" dirty="0">
                <a:latin typeface="Arial"/>
                <a:cs typeface="Arial"/>
              </a:rPr>
              <a:t>hosting,</a:t>
            </a:r>
            <a:r>
              <a:rPr sz="2000" spc="-30" dirty="0">
                <a:latin typeface="Arial"/>
                <a:cs typeface="Arial"/>
              </a:rPr>
              <a:t> </a:t>
            </a:r>
            <a:r>
              <a:rPr sz="2000" spc="-25" dirty="0">
                <a:latin typeface="Arial"/>
                <a:cs typeface="Arial"/>
              </a:rPr>
              <a:t>Web </a:t>
            </a:r>
            <a:r>
              <a:rPr sz="2000" dirty="0">
                <a:latin typeface="Arial"/>
                <a:cs typeface="Arial"/>
              </a:rPr>
              <a:t>servers,</a:t>
            </a:r>
            <a:r>
              <a:rPr sz="2000" spc="-70" dirty="0">
                <a:latin typeface="Arial"/>
                <a:cs typeface="Arial"/>
              </a:rPr>
              <a:t> </a:t>
            </a:r>
            <a:r>
              <a:rPr sz="2000" dirty="0">
                <a:latin typeface="Arial"/>
                <a:cs typeface="Arial"/>
              </a:rPr>
              <a:t>storage,</a:t>
            </a:r>
            <a:r>
              <a:rPr sz="2000" spc="-45" dirty="0">
                <a:latin typeface="Arial"/>
                <a:cs typeface="Arial"/>
              </a:rPr>
              <a:t> </a:t>
            </a:r>
            <a:r>
              <a:rPr sz="2000" dirty="0">
                <a:latin typeface="Arial"/>
                <a:cs typeface="Arial"/>
              </a:rPr>
              <a:t>computing</a:t>
            </a:r>
            <a:r>
              <a:rPr sz="2000" spc="-35" dirty="0">
                <a:latin typeface="Arial"/>
                <a:cs typeface="Arial"/>
              </a:rPr>
              <a:t> </a:t>
            </a:r>
            <a:r>
              <a:rPr sz="2000" dirty="0">
                <a:latin typeface="Arial"/>
                <a:cs typeface="Arial"/>
              </a:rPr>
              <a:t>hardware,</a:t>
            </a:r>
            <a:r>
              <a:rPr sz="2000" spc="-65" dirty="0">
                <a:latin typeface="Arial"/>
                <a:cs typeface="Arial"/>
              </a:rPr>
              <a:t> </a:t>
            </a:r>
            <a:r>
              <a:rPr sz="2000" dirty="0">
                <a:latin typeface="Arial"/>
                <a:cs typeface="Arial"/>
              </a:rPr>
              <a:t>operating</a:t>
            </a:r>
            <a:r>
              <a:rPr sz="2000" spc="-35" dirty="0">
                <a:latin typeface="Arial"/>
                <a:cs typeface="Arial"/>
              </a:rPr>
              <a:t> </a:t>
            </a:r>
            <a:r>
              <a:rPr sz="2000" dirty="0">
                <a:latin typeface="Arial"/>
                <a:cs typeface="Arial"/>
              </a:rPr>
              <a:t>systems,</a:t>
            </a:r>
            <a:r>
              <a:rPr sz="2000" spc="-50" dirty="0">
                <a:latin typeface="Arial"/>
                <a:cs typeface="Arial"/>
              </a:rPr>
              <a:t> </a:t>
            </a:r>
            <a:r>
              <a:rPr sz="2000" spc="-10" dirty="0">
                <a:latin typeface="Arial"/>
                <a:cs typeface="Arial"/>
              </a:rPr>
              <a:t>virtual </a:t>
            </a:r>
            <a:r>
              <a:rPr sz="2000" dirty="0">
                <a:latin typeface="Arial"/>
                <a:cs typeface="Arial"/>
              </a:rPr>
              <a:t>instances,</a:t>
            </a:r>
            <a:r>
              <a:rPr sz="2000" spc="-60" dirty="0">
                <a:latin typeface="Arial"/>
                <a:cs typeface="Arial"/>
              </a:rPr>
              <a:t> </a:t>
            </a:r>
            <a:r>
              <a:rPr sz="2000" dirty="0">
                <a:latin typeface="Arial"/>
                <a:cs typeface="Arial"/>
              </a:rPr>
              <a:t>load</a:t>
            </a:r>
            <a:r>
              <a:rPr sz="2000" spc="-35" dirty="0">
                <a:latin typeface="Arial"/>
                <a:cs typeface="Arial"/>
              </a:rPr>
              <a:t> </a:t>
            </a:r>
            <a:r>
              <a:rPr sz="2000" dirty="0">
                <a:latin typeface="Arial"/>
                <a:cs typeface="Arial"/>
              </a:rPr>
              <a:t>balancing,</a:t>
            </a:r>
            <a:r>
              <a:rPr sz="2000" spc="-40" dirty="0">
                <a:latin typeface="Arial"/>
                <a:cs typeface="Arial"/>
              </a:rPr>
              <a:t> </a:t>
            </a:r>
            <a:r>
              <a:rPr sz="2000" dirty="0">
                <a:latin typeface="Arial"/>
                <a:cs typeface="Arial"/>
              </a:rPr>
              <a:t>Internet</a:t>
            </a:r>
            <a:r>
              <a:rPr sz="2000" spc="-65" dirty="0">
                <a:latin typeface="Arial"/>
                <a:cs typeface="Arial"/>
              </a:rPr>
              <a:t> </a:t>
            </a:r>
            <a:r>
              <a:rPr sz="2000" dirty="0">
                <a:latin typeface="Arial"/>
                <a:cs typeface="Arial"/>
              </a:rPr>
              <a:t>access,</a:t>
            </a:r>
            <a:r>
              <a:rPr sz="2000" spc="-80" dirty="0">
                <a:latin typeface="Arial"/>
                <a:cs typeface="Arial"/>
              </a:rPr>
              <a:t> </a:t>
            </a:r>
            <a:r>
              <a:rPr sz="2000" dirty="0">
                <a:latin typeface="Arial"/>
                <a:cs typeface="Arial"/>
              </a:rPr>
              <a:t>and</a:t>
            </a:r>
            <a:r>
              <a:rPr sz="2000" spc="-35" dirty="0">
                <a:latin typeface="Arial"/>
                <a:cs typeface="Arial"/>
              </a:rPr>
              <a:t> </a:t>
            </a:r>
            <a:r>
              <a:rPr sz="2000" spc="-10" dirty="0">
                <a:latin typeface="Arial"/>
                <a:cs typeface="Arial"/>
              </a:rPr>
              <a:t>bandwidth provisioning.</a:t>
            </a:r>
            <a:endParaRPr sz="20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88152" y="3401533"/>
            <a:ext cx="1945639" cy="2763520"/>
            <a:chOff x="1288152" y="3401533"/>
            <a:chExt cx="1945639" cy="2763520"/>
          </a:xfrm>
        </p:grpSpPr>
        <p:sp>
          <p:nvSpPr>
            <p:cNvPr id="3" name="object 3"/>
            <p:cNvSpPr/>
            <p:nvPr/>
          </p:nvSpPr>
          <p:spPr>
            <a:xfrm>
              <a:off x="1288152" y="3401533"/>
              <a:ext cx="1945639" cy="2763520"/>
            </a:xfrm>
            <a:custGeom>
              <a:avLst/>
              <a:gdLst/>
              <a:ahLst/>
              <a:cxnLst/>
              <a:rect l="l" t="t" r="r" b="b"/>
              <a:pathLst>
                <a:path w="1945639" h="2763520">
                  <a:moveTo>
                    <a:pt x="1945089" y="0"/>
                  </a:moveTo>
                  <a:lnTo>
                    <a:pt x="0" y="0"/>
                  </a:lnTo>
                  <a:lnTo>
                    <a:pt x="0" y="2763430"/>
                  </a:lnTo>
                  <a:lnTo>
                    <a:pt x="1945089" y="2763430"/>
                  </a:lnTo>
                  <a:lnTo>
                    <a:pt x="1945089" y="0"/>
                  </a:lnTo>
                  <a:close/>
                </a:path>
              </a:pathLst>
            </a:custGeom>
            <a:solidFill>
              <a:srgbClr val="A4A4A4"/>
            </a:solidFill>
          </p:spPr>
          <p:txBody>
            <a:bodyPr wrap="square" lIns="0" tIns="0" rIns="0" bIns="0" rtlCol="0"/>
            <a:lstStyle/>
            <a:p>
              <a:endParaRPr/>
            </a:p>
          </p:txBody>
        </p:sp>
        <p:sp>
          <p:nvSpPr>
            <p:cNvPr id="4" name="object 4"/>
            <p:cNvSpPr/>
            <p:nvPr/>
          </p:nvSpPr>
          <p:spPr>
            <a:xfrm>
              <a:off x="1441712" y="5653216"/>
              <a:ext cx="1689735" cy="409575"/>
            </a:xfrm>
            <a:custGeom>
              <a:avLst/>
              <a:gdLst/>
              <a:ahLst/>
              <a:cxnLst/>
              <a:rect l="l" t="t" r="r" b="b"/>
              <a:pathLst>
                <a:path w="1689735" h="409575">
                  <a:moveTo>
                    <a:pt x="1586840" y="0"/>
                  </a:moveTo>
                  <a:lnTo>
                    <a:pt x="102373" y="0"/>
                  </a:lnTo>
                  <a:lnTo>
                    <a:pt x="62522" y="8044"/>
                  </a:lnTo>
                  <a:lnTo>
                    <a:pt x="29982" y="29979"/>
                  </a:lnTo>
                  <a:lnTo>
                    <a:pt x="8044" y="62513"/>
                  </a:lnTo>
                  <a:lnTo>
                    <a:pt x="0" y="102349"/>
                  </a:lnTo>
                  <a:lnTo>
                    <a:pt x="0" y="307047"/>
                  </a:lnTo>
                  <a:lnTo>
                    <a:pt x="8044" y="346888"/>
                  </a:lnTo>
                  <a:lnTo>
                    <a:pt x="29982" y="379421"/>
                  </a:lnTo>
                  <a:lnTo>
                    <a:pt x="62522" y="401354"/>
                  </a:lnTo>
                  <a:lnTo>
                    <a:pt x="102373" y="409397"/>
                  </a:lnTo>
                  <a:lnTo>
                    <a:pt x="1586726" y="409397"/>
                  </a:lnTo>
                  <a:lnTo>
                    <a:pt x="1626621" y="401354"/>
                  </a:lnTo>
                  <a:lnTo>
                    <a:pt x="1659169" y="379421"/>
                  </a:lnTo>
                  <a:lnTo>
                    <a:pt x="1681117" y="346888"/>
                  </a:lnTo>
                  <a:lnTo>
                    <a:pt x="1689213" y="307047"/>
                  </a:lnTo>
                  <a:lnTo>
                    <a:pt x="1689213" y="102349"/>
                  </a:lnTo>
                  <a:lnTo>
                    <a:pt x="1681119" y="62513"/>
                  </a:lnTo>
                  <a:lnTo>
                    <a:pt x="1659183" y="29979"/>
                  </a:lnTo>
                  <a:lnTo>
                    <a:pt x="1626669" y="8044"/>
                  </a:lnTo>
                  <a:lnTo>
                    <a:pt x="1586840" y="0"/>
                  </a:lnTo>
                  <a:close/>
                </a:path>
              </a:pathLst>
            </a:custGeom>
            <a:solidFill>
              <a:srgbClr val="E8EDF7"/>
            </a:solidFill>
          </p:spPr>
          <p:txBody>
            <a:bodyPr wrap="square" lIns="0" tIns="0" rIns="0" bIns="0" rtlCol="0"/>
            <a:lstStyle/>
            <a:p>
              <a:endParaRPr/>
            </a:p>
          </p:txBody>
        </p:sp>
        <p:sp>
          <p:nvSpPr>
            <p:cNvPr id="5" name="object 5"/>
            <p:cNvSpPr/>
            <p:nvPr/>
          </p:nvSpPr>
          <p:spPr>
            <a:xfrm>
              <a:off x="1441712" y="5653216"/>
              <a:ext cx="1689735" cy="409575"/>
            </a:xfrm>
            <a:custGeom>
              <a:avLst/>
              <a:gdLst/>
              <a:ahLst/>
              <a:cxnLst/>
              <a:rect l="l" t="t" r="r" b="b"/>
              <a:pathLst>
                <a:path w="1689735" h="409575">
                  <a:moveTo>
                    <a:pt x="1586726" y="409397"/>
                  </a:moveTo>
                  <a:lnTo>
                    <a:pt x="1626621" y="401354"/>
                  </a:lnTo>
                  <a:lnTo>
                    <a:pt x="1659169" y="379421"/>
                  </a:lnTo>
                  <a:lnTo>
                    <a:pt x="1681117" y="346888"/>
                  </a:lnTo>
                  <a:lnTo>
                    <a:pt x="1689213" y="307047"/>
                  </a:lnTo>
                  <a:lnTo>
                    <a:pt x="1689213" y="102349"/>
                  </a:lnTo>
                  <a:lnTo>
                    <a:pt x="1681119" y="62513"/>
                  </a:lnTo>
                  <a:lnTo>
                    <a:pt x="1659183" y="29979"/>
                  </a:lnTo>
                  <a:lnTo>
                    <a:pt x="1626669" y="8044"/>
                  </a:lnTo>
                  <a:lnTo>
                    <a:pt x="1586840" y="0"/>
                  </a:lnTo>
                  <a:lnTo>
                    <a:pt x="102373" y="0"/>
                  </a:lnTo>
                  <a:lnTo>
                    <a:pt x="62522" y="8044"/>
                  </a:lnTo>
                  <a:lnTo>
                    <a:pt x="29982" y="29979"/>
                  </a:lnTo>
                  <a:lnTo>
                    <a:pt x="8044" y="62513"/>
                  </a:lnTo>
                  <a:lnTo>
                    <a:pt x="0" y="102349"/>
                  </a:lnTo>
                  <a:lnTo>
                    <a:pt x="0" y="307047"/>
                  </a:lnTo>
                  <a:lnTo>
                    <a:pt x="8044" y="346888"/>
                  </a:lnTo>
                  <a:lnTo>
                    <a:pt x="29982" y="379421"/>
                  </a:lnTo>
                  <a:lnTo>
                    <a:pt x="62522" y="401354"/>
                  </a:lnTo>
                  <a:lnTo>
                    <a:pt x="102373" y="409397"/>
                  </a:lnTo>
                  <a:lnTo>
                    <a:pt x="1586840" y="409397"/>
                  </a:lnTo>
                  <a:close/>
                </a:path>
              </a:pathLst>
            </a:custGeom>
            <a:ln w="3175">
              <a:solidFill>
                <a:srgbClr val="000000"/>
              </a:solidFill>
            </a:ln>
          </p:spPr>
          <p:txBody>
            <a:bodyPr wrap="square" lIns="0" tIns="0" rIns="0" bIns="0" rtlCol="0"/>
            <a:lstStyle/>
            <a:p>
              <a:endParaRPr/>
            </a:p>
          </p:txBody>
        </p:sp>
        <p:sp>
          <p:nvSpPr>
            <p:cNvPr id="6" name="object 6"/>
            <p:cNvSpPr/>
            <p:nvPr/>
          </p:nvSpPr>
          <p:spPr>
            <a:xfrm>
              <a:off x="1441712" y="5141470"/>
              <a:ext cx="1638300" cy="409575"/>
            </a:xfrm>
            <a:custGeom>
              <a:avLst/>
              <a:gdLst/>
              <a:ahLst/>
              <a:cxnLst/>
              <a:rect l="l" t="t" r="r" b="b"/>
              <a:pathLst>
                <a:path w="1638300" h="409575">
                  <a:moveTo>
                    <a:pt x="1535653" y="0"/>
                  </a:moveTo>
                  <a:lnTo>
                    <a:pt x="102373" y="0"/>
                  </a:lnTo>
                  <a:lnTo>
                    <a:pt x="62522" y="8044"/>
                  </a:lnTo>
                  <a:lnTo>
                    <a:pt x="29982" y="29979"/>
                  </a:lnTo>
                  <a:lnTo>
                    <a:pt x="8044" y="62513"/>
                  </a:lnTo>
                  <a:lnTo>
                    <a:pt x="0" y="102349"/>
                  </a:lnTo>
                  <a:lnTo>
                    <a:pt x="0" y="307047"/>
                  </a:lnTo>
                  <a:lnTo>
                    <a:pt x="8044" y="346888"/>
                  </a:lnTo>
                  <a:lnTo>
                    <a:pt x="29982" y="379421"/>
                  </a:lnTo>
                  <a:lnTo>
                    <a:pt x="62522" y="401354"/>
                  </a:lnTo>
                  <a:lnTo>
                    <a:pt x="102373" y="409397"/>
                  </a:lnTo>
                  <a:lnTo>
                    <a:pt x="1535539" y="409397"/>
                  </a:lnTo>
                  <a:lnTo>
                    <a:pt x="1575435" y="401354"/>
                  </a:lnTo>
                  <a:lnTo>
                    <a:pt x="1607983" y="379421"/>
                  </a:lnTo>
                  <a:lnTo>
                    <a:pt x="1629931" y="346888"/>
                  </a:lnTo>
                  <a:lnTo>
                    <a:pt x="1638026" y="307047"/>
                  </a:lnTo>
                  <a:lnTo>
                    <a:pt x="1638026" y="102349"/>
                  </a:lnTo>
                  <a:lnTo>
                    <a:pt x="1629932" y="62513"/>
                  </a:lnTo>
                  <a:lnTo>
                    <a:pt x="1607997" y="29979"/>
                  </a:lnTo>
                  <a:lnTo>
                    <a:pt x="1575483" y="8044"/>
                  </a:lnTo>
                  <a:lnTo>
                    <a:pt x="1535653" y="0"/>
                  </a:lnTo>
                  <a:close/>
                </a:path>
              </a:pathLst>
            </a:custGeom>
            <a:solidFill>
              <a:srgbClr val="E8EDF7"/>
            </a:solidFill>
          </p:spPr>
          <p:txBody>
            <a:bodyPr wrap="square" lIns="0" tIns="0" rIns="0" bIns="0" rtlCol="0"/>
            <a:lstStyle/>
            <a:p>
              <a:endParaRPr/>
            </a:p>
          </p:txBody>
        </p:sp>
        <p:sp>
          <p:nvSpPr>
            <p:cNvPr id="7" name="object 7"/>
            <p:cNvSpPr/>
            <p:nvPr/>
          </p:nvSpPr>
          <p:spPr>
            <a:xfrm>
              <a:off x="1441712" y="5141470"/>
              <a:ext cx="1638300" cy="409575"/>
            </a:xfrm>
            <a:custGeom>
              <a:avLst/>
              <a:gdLst/>
              <a:ahLst/>
              <a:cxnLst/>
              <a:rect l="l" t="t" r="r" b="b"/>
              <a:pathLst>
                <a:path w="1638300" h="409575">
                  <a:moveTo>
                    <a:pt x="1535539" y="409397"/>
                  </a:moveTo>
                  <a:lnTo>
                    <a:pt x="1575435" y="401354"/>
                  </a:lnTo>
                  <a:lnTo>
                    <a:pt x="1607983" y="379421"/>
                  </a:lnTo>
                  <a:lnTo>
                    <a:pt x="1629931" y="346888"/>
                  </a:lnTo>
                  <a:lnTo>
                    <a:pt x="1638026" y="307047"/>
                  </a:lnTo>
                  <a:lnTo>
                    <a:pt x="1638026" y="102349"/>
                  </a:lnTo>
                  <a:lnTo>
                    <a:pt x="1629932" y="62513"/>
                  </a:lnTo>
                  <a:lnTo>
                    <a:pt x="1607997" y="29979"/>
                  </a:lnTo>
                  <a:lnTo>
                    <a:pt x="1575483" y="8044"/>
                  </a:lnTo>
                  <a:lnTo>
                    <a:pt x="1535653" y="0"/>
                  </a:lnTo>
                  <a:lnTo>
                    <a:pt x="102373" y="0"/>
                  </a:lnTo>
                  <a:lnTo>
                    <a:pt x="62522" y="8044"/>
                  </a:lnTo>
                  <a:lnTo>
                    <a:pt x="29982" y="29979"/>
                  </a:lnTo>
                  <a:lnTo>
                    <a:pt x="8044" y="62513"/>
                  </a:lnTo>
                  <a:lnTo>
                    <a:pt x="0" y="102349"/>
                  </a:lnTo>
                  <a:lnTo>
                    <a:pt x="0" y="307047"/>
                  </a:lnTo>
                  <a:lnTo>
                    <a:pt x="8044" y="346888"/>
                  </a:lnTo>
                  <a:lnTo>
                    <a:pt x="29982" y="379421"/>
                  </a:lnTo>
                  <a:lnTo>
                    <a:pt x="62522" y="401354"/>
                  </a:lnTo>
                  <a:lnTo>
                    <a:pt x="102373" y="409397"/>
                  </a:lnTo>
                  <a:lnTo>
                    <a:pt x="1535653" y="409397"/>
                  </a:lnTo>
                  <a:close/>
                </a:path>
              </a:pathLst>
            </a:custGeom>
            <a:ln w="3175">
              <a:solidFill>
                <a:srgbClr val="000000"/>
              </a:solidFill>
            </a:ln>
          </p:spPr>
          <p:txBody>
            <a:bodyPr wrap="square" lIns="0" tIns="0" rIns="0" bIns="0" rtlCol="0"/>
            <a:lstStyle/>
            <a:p>
              <a:endParaRPr/>
            </a:p>
          </p:txBody>
        </p:sp>
        <p:sp>
          <p:nvSpPr>
            <p:cNvPr id="8" name="object 8"/>
            <p:cNvSpPr/>
            <p:nvPr/>
          </p:nvSpPr>
          <p:spPr>
            <a:xfrm>
              <a:off x="2311883" y="4015684"/>
              <a:ext cx="716915" cy="1023619"/>
            </a:xfrm>
            <a:custGeom>
              <a:avLst/>
              <a:gdLst/>
              <a:ahLst/>
              <a:cxnLst/>
              <a:rect l="l" t="t" r="r" b="b"/>
              <a:pathLst>
                <a:path w="716914" h="1023620">
                  <a:moveTo>
                    <a:pt x="614295" y="0"/>
                  </a:moveTo>
                  <a:lnTo>
                    <a:pt x="102316" y="0"/>
                  </a:lnTo>
                  <a:lnTo>
                    <a:pt x="62498" y="8028"/>
                  </a:lnTo>
                  <a:lnTo>
                    <a:pt x="29975" y="29937"/>
                  </a:lnTo>
                  <a:lnTo>
                    <a:pt x="8043" y="62465"/>
                  </a:lnTo>
                  <a:lnTo>
                    <a:pt x="0" y="102349"/>
                  </a:lnTo>
                  <a:lnTo>
                    <a:pt x="0" y="921143"/>
                  </a:lnTo>
                  <a:lnTo>
                    <a:pt x="8043" y="960979"/>
                  </a:lnTo>
                  <a:lnTo>
                    <a:pt x="29975" y="993513"/>
                  </a:lnTo>
                  <a:lnTo>
                    <a:pt x="62498" y="1015448"/>
                  </a:lnTo>
                  <a:lnTo>
                    <a:pt x="102316" y="1023492"/>
                  </a:lnTo>
                  <a:lnTo>
                    <a:pt x="614295" y="1023492"/>
                  </a:lnTo>
                  <a:lnTo>
                    <a:pt x="654125" y="1015448"/>
                  </a:lnTo>
                  <a:lnTo>
                    <a:pt x="686639" y="993513"/>
                  </a:lnTo>
                  <a:lnTo>
                    <a:pt x="708574" y="960979"/>
                  </a:lnTo>
                  <a:lnTo>
                    <a:pt x="716668" y="921143"/>
                  </a:lnTo>
                  <a:lnTo>
                    <a:pt x="716668" y="102349"/>
                  </a:lnTo>
                  <a:lnTo>
                    <a:pt x="708574" y="62465"/>
                  </a:lnTo>
                  <a:lnTo>
                    <a:pt x="686639" y="29937"/>
                  </a:lnTo>
                  <a:lnTo>
                    <a:pt x="654125" y="8028"/>
                  </a:lnTo>
                  <a:lnTo>
                    <a:pt x="614295" y="0"/>
                  </a:lnTo>
                  <a:close/>
                </a:path>
              </a:pathLst>
            </a:custGeom>
            <a:solidFill>
              <a:srgbClr val="E8EDF7"/>
            </a:solidFill>
          </p:spPr>
          <p:txBody>
            <a:bodyPr wrap="square" lIns="0" tIns="0" rIns="0" bIns="0" rtlCol="0"/>
            <a:lstStyle/>
            <a:p>
              <a:endParaRPr/>
            </a:p>
          </p:txBody>
        </p:sp>
        <p:sp>
          <p:nvSpPr>
            <p:cNvPr id="9" name="object 9"/>
            <p:cNvSpPr/>
            <p:nvPr/>
          </p:nvSpPr>
          <p:spPr>
            <a:xfrm>
              <a:off x="2311883" y="4015684"/>
              <a:ext cx="716915" cy="1023619"/>
            </a:xfrm>
            <a:custGeom>
              <a:avLst/>
              <a:gdLst/>
              <a:ahLst/>
              <a:cxnLst/>
              <a:rect l="l" t="t" r="r" b="b"/>
              <a:pathLst>
                <a:path w="716914" h="1023620">
                  <a:moveTo>
                    <a:pt x="0" y="921143"/>
                  </a:moveTo>
                  <a:lnTo>
                    <a:pt x="8043" y="960979"/>
                  </a:lnTo>
                  <a:lnTo>
                    <a:pt x="29975" y="993513"/>
                  </a:lnTo>
                  <a:lnTo>
                    <a:pt x="62498" y="1015448"/>
                  </a:lnTo>
                  <a:lnTo>
                    <a:pt x="102316" y="1023492"/>
                  </a:lnTo>
                  <a:lnTo>
                    <a:pt x="614295" y="1023492"/>
                  </a:lnTo>
                  <a:lnTo>
                    <a:pt x="654125" y="1015448"/>
                  </a:lnTo>
                  <a:lnTo>
                    <a:pt x="686639" y="993513"/>
                  </a:lnTo>
                  <a:lnTo>
                    <a:pt x="708574" y="960979"/>
                  </a:lnTo>
                  <a:lnTo>
                    <a:pt x="716668" y="921143"/>
                  </a:lnTo>
                  <a:lnTo>
                    <a:pt x="716668" y="102349"/>
                  </a:lnTo>
                  <a:lnTo>
                    <a:pt x="708574" y="62465"/>
                  </a:lnTo>
                  <a:lnTo>
                    <a:pt x="686639" y="29937"/>
                  </a:lnTo>
                  <a:lnTo>
                    <a:pt x="654125" y="8028"/>
                  </a:lnTo>
                  <a:lnTo>
                    <a:pt x="614295" y="0"/>
                  </a:lnTo>
                  <a:lnTo>
                    <a:pt x="102316" y="0"/>
                  </a:lnTo>
                  <a:lnTo>
                    <a:pt x="62498" y="8028"/>
                  </a:lnTo>
                  <a:lnTo>
                    <a:pt x="29975" y="29937"/>
                  </a:lnTo>
                  <a:lnTo>
                    <a:pt x="8043" y="62465"/>
                  </a:lnTo>
                  <a:lnTo>
                    <a:pt x="0" y="102349"/>
                  </a:lnTo>
                  <a:lnTo>
                    <a:pt x="0" y="921143"/>
                  </a:lnTo>
                  <a:close/>
                </a:path>
              </a:pathLst>
            </a:custGeom>
            <a:ln w="3175">
              <a:solidFill>
                <a:srgbClr val="000000"/>
              </a:solidFill>
            </a:ln>
          </p:spPr>
          <p:txBody>
            <a:bodyPr wrap="square" lIns="0" tIns="0" rIns="0" bIns="0" rtlCol="0"/>
            <a:lstStyle/>
            <a:p>
              <a:endParaRPr/>
            </a:p>
          </p:txBody>
        </p:sp>
      </p:grpSp>
      <p:sp>
        <p:nvSpPr>
          <p:cNvPr id="10" name="object 10"/>
          <p:cNvSpPr txBox="1"/>
          <p:nvPr/>
        </p:nvSpPr>
        <p:spPr>
          <a:xfrm>
            <a:off x="2479664" y="4121255"/>
            <a:ext cx="393065" cy="812800"/>
          </a:xfrm>
          <a:prstGeom prst="rect">
            <a:avLst/>
          </a:prstGeom>
        </p:spPr>
        <p:txBody>
          <a:bodyPr vert="vert" wrap="square" lIns="0" tIns="1905" rIns="0" bIns="0" rtlCol="0">
            <a:spAutoFit/>
          </a:bodyPr>
          <a:lstStyle/>
          <a:p>
            <a:pPr marL="12700" marR="5080" indent="238125">
              <a:lnSpc>
                <a:spcPts val="1500"/>
              </a:lnSpc>
              <a:spcBef>
                <a:spcPts val="15"/>
              </a:spcBef>
            </a:pPr>
            <a:r>
              <a:rPr sz="1250" spc="-20" dirty="0">
                <a:latin typeface="Times New Roman"/>
                <a:cs typeface="Times New Roman"/>
              </a:rPr>
              <a:t>Core </a:t>
            </a:r>
            <a:r>
              <a:rPr sz="1250" spc="-10" dirty="0">
                <a:latin typeface="Times New Roman"/>
                <a:cs typeface="Times New Roman"/>
              </a:rPr>
              <a:t>connectivity</a:t>
            </a:r>
            <a:endParaRPr sz="1250">
              <a:latin typeface="Times New Roman"/>
              <a:cs typeface="Times New Roman"/>
            </a:endParaRPr>
          </a:p>
        </p:txBody>
      </p:sp>
      <p:grpSp>
        <p:nvGrpSpPr>
          <p:cNvPr id="11" name="object 11"/>
          <p:cNvGrpSpPr/>
          <p:nvPr/>
        </p:nvGrpSpPr>
        <p:grpSpPr>
          <a:xfrm>
            <a:off x="1388938" y="4014097"/>
            <a:ext cx="771525" cy="1026794"/>
            <a:chOff x="1388938" y="4014097"/>
            <a:chExt cx="771525" cy="1026794"/>
          </a:xfrm>
        </p:grpSpPr>
        <p:sp>
          <p:nvSpPr>
            <p:cNvPr id="12" name="object 12"/>
            <p:cNvSpPr/>
            <p:nvPr/>
          </p:nvSpPr>
          <p:spPr>
            <a:xfrm>
              <a:off x="1390525" y="4015685"/>
              <a:ext cx="768350" cy="1023619"/>
            </a:xfrm>
            <a:custGeom>
              <a:avLst/>
              <a:gdLst/>
              <a:ahLst/>
              <a:cxnLst/>
              <a:rect l="l" t="t" r="r" b="b"/>
              <a:pathLst>
                <a:path w="768350" h="1023620">
                  <a:moveTo>
                    <a:pt x="665425" y="0"/>
                  </a:moveTo>
                  <a:lnTo>
                    <a:pt x="102373" y="0"/>
                  </a:lnTo>
                  <a:lnTo>
                    <a:pt x="62522" y="8028"/>
                  </a:lnTo>
                  <a:lnTo>
                    <a:pt x="29982" y="29937"/>
                  </a:lnTo>
                  <a:lnTo>
                    <a:pt x="8044" y="62465"/>
                  </a:lnTo>
                  <a:lnTo>
                    <a:pt x="0" y="102349"/>
                  </a:lnTo>
                  <a:lnTo>
                    <a:pt x="0" y="921143"/>
                  </a:lnTo>
                  <a:lnTo>
                    <a:pt x="8044" y="960979"/>
                  </a:lnTo>
                  <a:lnTo>
                    <a:pt x="29982" y="993513"/>
                  </a:lnTo>
                  <a:lnTo>
                    <a:pt x="62522" y="1015448"/>
                  </a:lnTo>
                  <a:lnTo>
                    <a:pt x="102373" y="1023492"/>
                  </a:lnTo>
                  <a:lnTo>
                    <a:pt x="665425" y="1023492"/>
                  </a:lnTo>
                  <a:lnTo>
                    <a:pt x="705275" y="1015448"/>
                  </a:lnTo>
                  <a:lnTo>
                    <a:pt x="737815" y="993513"/>
                  </a:lnTo>
                  <a:lnTo>
                    <a:pt x="759754" y="960979"/>
                  </a:lnTo>
                  <a:lnTo>
                    <a:pt x="767798" y="921143"/>
                  </a:lnTo>
                  <a:lnTo>
                    <a:pt x="767798" y="102349"/>
                  </a:lnTo>
                  <a:lnTo>
                    <a:pt x="759754" y="62465"/>
                  </a:lnTo>
                  <a:lnTo>
                    <a:pt x="737815" y="29937"/>
                  </a:lnTo>
                  <a:lnTo>
                    <a:pt x="705275" y="8028"/>
                  </a:lnTo>
                  <a:lnTo>
                    <a:pt x="665425" y="0"/>
                  </a:lnTo>
                  <a:close/>
                </a:path>
              </a:pathLst>
            </a:custGeom>
            <a:solidFill>
              <a:srgbClr val="E8EDF7"/>
            </a:solidFill>
          </p:spPr>
          <p:txBody>
            <a:bodyPr wrap="square" lIns="0" tIns="0" rIns="0" bIns="0" rtlCol="0"/>
            <a:lstStyle/>
            <a:p>
              <a:endParaRPr/>
            </a:p>
          </p:txBody>
        </p:sp>
        <p:sp>
          <p:nvSpPr>
            <p:cNvPr id="13" name="object 13"/>
            <p:cNvSpPr/>
            <p:nvPr/>
          </p:nvSpPr>
          <p:spPr>
            <a:xfrm>
              <a:off x="1390525" y="4015685"/>
              <a:ext cx="768350" cy="1023619"/>
            </a:xfrm>
            <a:custGeom>
              <a:avLst/>
              <a:gdLst/>
              <a:ahLst/>
              <a:cxnLst/>
              <a:rect l="l" t="t" r="r" b="b"/>
              <a:pathLst>
                <a:path w="768350" h="1023620">
                  <a:moveTo>
                    <a:pt x="0" y="921143"/>
                  </a:moveTo>
                  <a:lnTo>
                    <a:pt x="8044" y="960979"/>
                  </a:lnTo>
                  <a:lnTo>
                    <a:pt x="29982" y="993513"/>
                  </a:lnTo>
                  <a:lnTo>
                    <a:pt x="62522" y="1015448"/>
                  </a:lnTo>
                  <a:lnTo>
                    <a:pt x="102373" y="1023492"/>
                  </a:lnTo>
                  <a:lnTo>
                    <a:pt x="665425" y="1023492"/>
                  </a:lnTo>
                  <a:lnTo>
                    <a:pt x="705275" y="1015448"/>
                  </a:lnTo>
                  <a:lnTo>
                    <a:pt x="737815" y="993513"/>
                  </a:lnTo>
                  <a:lnTo>
                    <a:pt x="759754" y="960979"/>
                  </a:lnTo>
                  <a:lnTo>
                    <a:pt x="767798" y="921143"/>
                  </a:lnTo>
                  <a:lnTo>
                    <a:pt x="767798" y="102349"/>
                  </a:lnTo>
                  <a:lnTo>
                    <a:pt x="759754" y="62465"/>
                  </a:lnTo>
                  <a:lnTo>
                    <a:pt x="737815" y="29937"/>
                  </a:lnTo>
                  <a:lnTo>
                    <a:pt x="705275" y="8028"/>
                  </a:lnTo>
                  <a:lnTo>
                    <a:pt x="665425" y="0"/>
                  </a:lnTo>
                  <a:lnTo>
                    <a:pt x="102373" y="0"/>
                  </a:lnTo>
                  <a:lnTo>
                    <a:pt x="62522" y="8028"/>
                  </a:lnTo>
                  <a:lnTo>
                    <a:pt x="29982" y="29937"/>
                  </a:lnTo>
                  <a:lnTo>
                    <a:pt x="8044" y="62465"/>
                  </a:lnTo>
                  <a:lnTo>
                    <a:pt x="0" y="102349"/>
                  </a:lnTo>
                  <a:lnTo>
                    <a:pt x="0" y="921143"/>
                  </a:lnTo>
                  <a:close/>
                </a:path>
              </a:pathLst>
            </a:custGeom>
            <a:ln w="3175">
              <a:solidFill>
                <a:srgbClr val="000000"/>
              </a:solidFill>
            </a:ln>
          </p:spPr>
          <p:txBody>
            <a:bodyPr wrap="square" lIns="0" tIns="0" rIns="0" bIns="0" rtlCol="0"/>
            <a:lstStyle/>
            <a:p>
              <a:endParaRPr/>
            </a:p>
          </p:txBody>
        </p:sp>
      </p:grpSp>
      <p:sp>
        <p:nvSpPr>
          <p:cNvPr id="14" name="object 14"/>
          <p:cNvSpPr txBox="1"/>
          <p:nvPr/>
        </p:nvSpPr>
        <p:spPr>
          <a:xfrm>
            <a:off x="1679505" y="4143317"/>
            <a:ext cx="201930" cy="768350"/>
          </a:xfrm>
          <a:prstGeom prst="rect">
            <a:avLst/>
          </a:prstGeom>
        </p:spPr>
        <p:txBody>
          <a:bodyPr vert="vert" wrap="square" lIns="0" tIns="0" rIns="0" bIns="0" rtlCol="0">
            <a:spAutoFit/>
          </a:bodyPr>
          <a:lstStyle/>
          <a:p>
            <a:pPr marL="12700">
              <a:lnSpc>
                <a:spcPts val="1465"/>
              </a:lnSpc>
            </a:pPr>
            <a:r>
              <a:rPr sz="1250" spc="-10" dirty="0">
                <a:latin typeface="Times New Roman"/>
                <a:cs typeface="Times New Roman"/>
              </a:rPr>
              <a:t>Abstraction</a:t>
            </a:r>
            <a:endParaRPr sz="1250">
              <a:latin typeface="Times New Roman"/>
              <a:cs typeface="Times New Roman"/>
            </a:endParaRPr>
          </a:p>
        </p:txBody>
      </p:sp>
      <p:grpSp>
        <p:nvGrpSpPr>
          <p:cNvPr id="15" name="object 15"/>
          <p:cNvGrpSpPr/>
          <p:nvPr/>
        </p:nvGrpSpPr>
        <p:grpSpPr>
          <a:xfrm>
            <a:off x="1491534" y="3502573"/>
            <a:ext cx="1538605" cy="412750"/>
            <a:chOff x="1491534" y="3502573"/>
            <a:chExt cx="1538605" cy="412750"/>
          </a:xfrm>
        </p:grpSpPr>
        <p:sp>
          <p:nvSpPr>
            <p:cNvPr id="16" name="object 16"/>
            <p:cNvSpPr/>
            <p:nvPr/>
          </p:nvSpPr>
          <p:spPr>
            <a:xfrm>
              <a:off x="1492898" y="3503938"/>
              <a:ext cx="1536065" cy="409575"/>
            </a:xfrm>
            <a:custGeom>
              <a:avLst/>
              <a:gdLst/>
              <a:ahLst/>
              <a:cxnLst/>
              <a:rect l="l" t="t" r="r" b="b"/>
              <a:pathLst>
                <a:path w="1536064" h="409575">
                  <a:moveTo>
                    <a:pt x="1433280" y="0"/>
                  </a:moveTo>
                  <a:lnTo>
                    <a:pt x="102373" y="0"/>
                  </a:lnTo>
                  <a:lnTo>
                    <a:pt x="62522" y="8028"/>
                  </a:lnTo>
                  <a:lnTo>
                    <a:pt x="29982" y="29937"/>
                  </a:lnTo>
                  <a:lnTo>
                    <a:pt x="8044" y="62465"/>
                  </a:lnTo>
                  <a:lnTo>
                    <a:pt x="0" y="102349"/>
                  </a:lnTo>
                  <a:lnTo>
                    <a:pt x="0" y="307047"/>
                  </a:lnTo>
                  <a:lnTo>
                    <a:pt x="8044" y="346884"/>
                  </a:lnTo>
                  <a:lnTo>
                    <a:pt x="29982" y="379417"/>
                  </a:lnTo>
                  <a:lnTo>
                    <a:pt x="62522" y="401353"/>
                  </a:lnTo>
                  <a:lnTo>
                    <a:pt x="102373" y="409397"/>
                  </a:lnTo>
                  <a:lnTo>
                    <a:pt x="1433166" y="409397"/>
                  </a:lnTo>
                  <a:lnTo>
                    <a:pt x="1473062" y="401353"/>
                  </a:lnTo>
                  <a:lnTo>
                    <a:pt x="1505610" y="379417"/>
                  </a:lnTo>
                  <a:lnTo>
                    <a:pt x="1527558" y="346884"/>
                  </a:lnTo>
                  <a:lnTo>
                    <a:pt x="1535653" y="307047"/>
                  </a:lnTo>
                  <a:lnTo>
                    <a:pt x="1535653" y="102349"/>
                  </a:lnTo>
                  <a:lnTo>
                    <a:pt x="1527559" y="62465"/>
                  </a:lnTo>
                  <a:lnTo>
                    <a:pt x="1505624" y="29937"/>
                  </a:lnTo>
                  <a:lnTo>
                    <a:pt x="1473110" y="8028"/>
                  </a:lnTo>
                  <a:lnTo>
                    <a:pt x="1433280" y="0"/>
                  </a:lnTo>
                  <a:close/>
                </a:path>
              </a:pathLst>
            </a:custGeom>
            <a:solidFill>
              <a:srgbClr val="E8EDF7"/>
            </a:solidFill>
          </p:spPr>
          <p:txBody>
            <a:bodyPr wrap="square" lIns="0" tIns="0" rIns="0" bIns="0" rtlCol="0"/>
            <a:lstStyle/>
            <a:p>
              <a:endParaRPr/>
            </a:p>
          </p:txBody>
        </p:sp>
        <p:sp>
          <p:nvSpPr>
            <p:cNvPr id="17" name="object 17"/>
            <p:cNvSpPr/>
            <p:nvPr/>
          </p:nvSpPr>
          <p:spPr>
            <a:xfrm>
              <a:off x="1492898" y="3503938"/>
              <a:ext cx="1536065" cy="409575"/>
            </a:xfrm>
            <a:custGeom>
              <a:avLst/>
              <a:gdLst/>
              <a:ahLst/>
              <a:cxnLst/>
              <a:rect l="l" t="t" r="r" b="b"/>
              <a:pathLst>
                <a:path w="1536064" h="409575">
                  <a:moveTo>
                    <a:pt x="1433166" y="409397"/>
                  </a:moveTo>
                  <a:lnTo>
                    <a:pt x="1473062" y="401353"/>
                  </a:lnTo>
                  <a:lnTo>
                    <a:pt x="1505609" y="379417"/>
                  </a:lnTo>
                  <a:lnTo>
                    <a:pt x="1527558" y="346884"/>
                  </a:lnTo>
                  <a:lnTo>
                    <a:pt x="1535653" y="307047"/>
                  </a:lnTo>
                  <a:lnTo>
                    <a:pt x="1535653" y="102349"/>
                  </a:lnTo>
                  <a:lnTo>
                    <a:pt x="1527559" y="62465"/>
                  </a:lnTo>
                  <a:lnTo>
                    <a:pt x="1505624" y="29937"/>
                  </a:lnTo>
                  <a:lnTo>
                    <a:pt x="1473110" y="8028"/>
                  </a:lnTo>
                  <a:lnTo>
                    <a:pt x="1433280" y="0"/>
                  </a:lnTo>
                  <a:lnTo>
                    <a:pt x="102373" y="0"/>
                  </a:lnTo>
                  <a:lnTo>
                    <a:pt x="62522" y="8028"/>
                  </a:lnTo>
                  <a:lnTo>
                    <a:pt x="29982" y="29937"/>
                  </a:lnTo>
                  <a:lnTo>
                    <a:pt x="8044" y="62465"/>
                  </a:lnTo>
                  <a:lnTo>
                    <a:pt x="0" y="102349"/>
                  </a:lnTo>
                  <a:lnTo>
                    <a:pt x="0" y="307047"/>
                  </a:lnTo>
                  <a:lnTo>
                    <a:pt x="8044" y="346884"/>
                  </a:lnTo>
                  <a:lnTo>
                    <a:pt x="29982" y="379417"/>
                  </a:lnTo>
                  <a:lnTo>
                    <a:pt x="62522" y="401353"/>
                  </a:lnTo>
                  <a:lnTo>
                    <a:pt x="102373" y="409397"/>
                  </a:lnTo>
                  <a:lnTo>
                    <a:pt x="1433280" y="409397"/>
                  </a:lnTo>
                  <a:close/>
                </a:path>
              </a:pathLst>
            </a:custGeom>
            <a:ln w="3175">
              <a:solidFill>
                <a:srgbClr val="000000"/>
              </a:solidFill>
            </a:ln>
          </p:spPr>
          <p:txBody>
            <a:bodyPr wrap="square" lIns="0" tIns="0" rIns="0" bIns="0" rtlCol="0"/>
            <a:lstStyle/>
            <a:p>
              <a:endParaRPr/>
            </a:p>
          </p:txBody>
        </p:sp>
      </p:grpSp>
      <p:sp>
        <p:nvSpPr>
          <p:cNvPr id="18" name="object 18"/>
          <p:cNvSpPr txBox="1"/>
          <p:nvPr/>
        </p:nvSpPr>
        <p:spPr>
          <a:xfrm>
            <a:off x="1288152" y="3401533"/>
            <a:ext cx="1945639" cy="2763520"/>
          </a:xfrm>
          <a:prstGeom prst="rect">
            <a:avLst/>
          </a:prstGeom>
          <a:ln w="3175">
            <a:solidFill>
              <a:srgbClr val="000000"/>
            </a:solidFill>
          </a:ln>
        </p:spPr>
        <p:txBody>
          <a:bodyPr vert="horz" wrap="square" lIns="0" tIns="13335" rIns="0" bIns="0" rtlCol="0">
            <a:spAutoFit/>
          </a:bodyPr>
          <a:lstStyle/>
          <a:p>
            <a:pPr>
              <a:lnSpc>
                <a:spcPct val="100000"/>
              </a:lnSpc>
              <a:spcBef>
                <a:spcPts val="105"/>
              </a:spcBef>
            </a:pPr>
            <a:endParaRPr sz="1250">
              <a:latin typeface="Times New Roman"/>
              <a:cs typeface="Times New Roman"/>
            </a:endParaRPr>
          </a:p>
          <a:p>
            <a:pPr algn="ctr">
              <a:lnSpc>
                <a:spcPct val="100000"/>
              </a:lnSpc>
            </a:pPr>
            <a:r>
              <a:rPr sz="1250" spc="-25" dirty="0">
                <a:latin typeface="Times New Roman"/>
                <a:cs typeface="Times New Roman"/>
              </a:rPr>
              <a:t>API</a:t>
            </a: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spcBef>
                <a:spcPts val="240"/>
              </a:spcBef>
            </a:pPr>
            <a:endParaRPr sz="1250">
              <a:latin typeface="Times New Roman"/>
              <a:cs typeface="Times New Roman"/>
            </a:endParaRPr>
          </a:p>
          <a:p>
            <a:pPr marL="658495" marR="647065" indent="-3810" algn="ctr">
              <a:lnSpc>
                <a:spcPct val="268600"/>
              </a:lnSpc>
            </a:pPr>
            <a:r>
              <a:rPr sz="1250" spc="-10" dirty="0">
                <a:latin typeface="Times New Roman"/>
                <a:cs typeface="Times New Roman"/>
              </a:rPr>
              <a:t>Hardware Facilities</a:t>
            </a:r>
            <a:endParaRPr sz="1250">
              <a:latin typeface="Times New Roman"/>
              <a:cs typeface="Times New Roman"/>
            </a:endParaRPr>
          </a:p>
        </p:txBody>
      </p:sp>
      <p:sp>
        <p:nvSpPr>
          <p:cNvPr id="19" name="object 19"/>
          <p:cNvSpPr txBox="1"/>
          <p:nvPr/>
        </p:nvSpPr>
        <p:spPr>
          <a:xfrm>
            <a:off x="1288152" y="3043366"/>
            <a:ext cx="1842770" cy="307340"/>
          </a:xfrm>
          <a:prstGeom prst="rect">
            <a:avLst/>
          </a:prstGeom>
          <a:solidFill>
            <a:srgbClr val="F1F1F1"/>
          </a:solidFill>
        </p:spPr>
        <p:txBody>
          <a:bodyPr vert="horz" wrap="square" lIns="0" tIns="60960" rIns="0" bIns="0" rtlCol="0">
            <a:spAutoFit/>
          </a:bodyPr>
          <a:lstStyle/>
          <a:p>
            <a:pPr marL="334010">
              <a:lnSpc>
                <a:spcPct val="100000"/>
              </a:lnSpc>
              <a:spcBef>
                <a:spcPts val="480"/>
              </a:spcBef>
            </a:pPr>
            <a:r>
              <a:rPr sz="1050" dirty="0">
                <a:latin typeface="Calibri"/>
                <a:cs typeface="Calibri"/>
              </a:rPr>
              <a:t>Software</a:t>
            </a:r>
            <a:r>
              <a:rPr sz="1050" spc="35" dirty="0">
                <a:latin typeface="Calibri"/>
                <a:cs typeface="Calibri"/>
              </a:rPr>
              <a:t> </a:t>
            </a:r>
            <a:r>
              <a:rPr sz="1050" dirty="0">
                <a:latin typeface="Calibri"/>
                <a:cs typeface="Calibri"/>
              </a:rPr>
              <a:t>as</a:t>
            </a:r>
            <a:r>
              <a:rPr sz="1050" spc="35" dirty="0">
                <a:latin typeface="Calibri"/>
                <a:cs typeface="Calibri"/>
              </a:rPr>
              <a:t> </a:t>
            </a:r>
            <a:r>
              <a:rPr sz="1050" dirty="0">
                <a:latin typeface="Calibri"/>
                <a:cs typeface="Calibri"/>
              </a:rPr>
              <a:t>a</a:t>
            </a:r>
            <a:r>
              <a:rPr sz="1050" spc="35" dirty="0">
                <a:latin typeface="Calibri"/>
                <a:cs typeface="Calibri"/>
              </a:rPr>
              <a:t> </a:t>
            </a:r>
            <a:r>
              <a:rPr sz="1050" spc="-10" dirty="0">
                <a:latin typeface="Calibri"/>
                <a:cs typeface="Calibri"/>
              </a:rPr>
              <a:t>Service</a:t>
            </a:r>
            <a:endParaRPr sz="1050">
              <a:latin typeface="Calibri"/>
              <a:cs typeface="Calibri"/>
            </a:endParaRPr>
          </a:p>
        </p:txBody>
      </p:sp>
      <p:grpSp>
        <p:nvGrpSpPr>
          <p:cNvPr id="20" name="object 20"/>
          <p:cNvGrpSpPr/>
          <p:nvPr/>
        </p:nvGrpSpPr>
        <p:grpSpPr>
          <a:xfrm>
            <a:off x="5688666" y="815626"/>
            <a:ext cx="1845945" cy="5325745"/>
            <a:chOff x="5688666" y="815626"/>
            <a:chExt cx="1845945" cy="5325745"/>
          </a:xfrm>
        </p:grpSpPr>
        <p:sp>
          <p:nvSpPr>
            <p:cNvPr id="21" name="object 21"/>
            <p:cNvSpPr/>
            <p:nvPr/>
          </p:nvSpPr>
          <p:spPr>
            <a:xfrm>
              <a:off x="5690253" y="817213"/>
              <a:ext cx="1842770" cy="5322570"/>
            </a:xfrm>
            <a:custGeom>
              <a:avLst/>
              <a:gdLst/>
              <a:ahLst/>
              <a:cxnLst/>
              <a:rect l="l" t="t" r="r" b="b"/>
              <a:pathLst>
                <a:path w="1842770" h="5322570">
                  <a:moveTo>
                    <a:pt x="1842716" y="0"/>
                  </a:moveTo>
                  <a:lnTo>
                    <a:pt x="0" y="0"/>
                  </a:lnTo>
                  <a:lnTo>
                    <a:pt x="0" y="5322163"/>
                  </a:lnTo>
                  <a:lnTo>
                    <a:pt x="1842716" y="5322163"/>
                  </a:lnTo>
                  <a:lnTo>
                    <a:pt x="1842716" y="0"/>
                  </a:lnTo>
                  <a:close/>
                </a:path>
              </a:pathLst>
            </a:custGeom>
            <a:solidFill>
              <a:srgbClr val="A4A4A4"/>
            </a:solidFill>
          </p:spPr>
          <p:txBody>
            <a:bodyPr wrap="square" lIns="0" tIns="0" rIns="0" bIns="0" rtlCol="0"/>
            <a:lstStyle/>
            <a:p>
              <a:endParaRPr/>
            </a:p>
          </p:txBody>
        </p:sp>
        <p:sp>
          <p:nvSpPr>
            <p:cNvPr id="22" name="object 22"/>
            <p:cNvSpPr/>
            <p:nvPr/>
          </p:nvSpPr>
          <p:spPr>
            <a:xfrm>
              <a:off x="5690253" y="817213"/>
              <a:ext cx="1842770" cy="5322570"/>
            </a:xfrm>
            <a:custGeom>
              <a:avLst/>
              <a:gdLst/>
              <a:ahLst/>
              <a:cxnLst/>
              <a:rect l="l" t="t" r="r" b="b"/>
              <a:pathLst>
                <a:path w="1842770" h="5322570">
                  <a:moveTo>
                    <a:pt x="0" y="5322163"/>
                  </a:moveTo>
                  <a:lnTo>
                    <a:pt x="1842716" y="5322163"/>
                  </a:lnTo>
                  <a:lnTo>
                    <a:pt x="1842716" y="0"/>
                  </a:lnTo>
                  <a:lnTo>
                    <a:pt x="0" y="0"/>
                  </a:lnTo>
                  <a:lnTo>
                    <a:pt x="0" y="5322163"/>
                  </a:lnTo>
                  <a:close/>
                </a:path>
              </a:pathLst>
            </a:custGeom>
            <a:ln w="3175">
              <a:solidFill>
                <a:srgbClr val="000000"/>
              </a:solidFill>
            </a:ln>
          </p:spPr>
          <p:txBody>
            <a:bodyPr wrap="square" lIns="0" tIns="0" rIns="0" bIns="0" rtlCol="0"/>
            <a:lstStyle/>
            <a:p>
              <a:endParaRPr/>
            </a:p>
          </p:txBody>
        </p:sp>
        <p:sp>
          <p:nvSpPr>
            <p:cNvPr id="23" name="object 23"/>
            <p:cNvSpPr/>
            <p:nvPr/>
          </p:nvSpPr>
          <p:spPr>
            <a:xfrm>
              <a:off x="5805366" y="5627629"/>
              <a:ext cx="1612900" cy="409575"/>
            </a:xfrm>
            <a:custGeom>
              <a:avLst/>
              <a:gdLst/>
              <a:ahLst/>
              <a:cxnLst/>
              <a:rect l="l" t="t" r="r" b="b"/>
              <a:pathLst>
                <a:path w="1612900" h="409575">
                  <a:moveTo>
                    <a:pt x="1510003" y="0"/>
                  </a:move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510003" y="409397"/>
                  </a:lnTo>
                  <a:lnTo>
                    <a:pt x="1549849" y="401354"/>
                  </a:lnTo>
                  <a:lnTo>
                    <a:pt x="1582389" y="379421"/>
                  </a:lnTo>
                  <a:lnTo>
                    <a:pt x="1604330" y="346888"/>
                  </a:lnTo>
                  <a:lnTo>
                    <a:pt x="1612376" y="307047"/>
                  </a:lnTo>
                  <a:lnTo>
                    <a:pt x="1612376" y="102349"/>
                  </a:lnTo>
                  <a:lnTo>
                    <a:pt x="1604330" y="62513"/>
                  </a:lnTo>
                  <a:lnTo>
                    <a:pt x="1582389" y="29979"/>
                  </a:lnTo>
                  <a:lnTo>
                    <a:pt x="1549849" y="8044"/>
                  </a:lnTo>
                  <a:lnTo>
                    <a:pt x="1510003" y="0"/>
                  </a:lnTo>
                  <a:close/>
                </a:path>
              </a:pathLst>
            </a:custGeom>
            <a:solidFill>
              <a:srgbClr val="E8EDF7"/>
            </a:solidFill>
          </p:spPr>
          <p:txBody>
            <a:bodyPr wrap="square" lIns="0" tIns="0" rIns="0" bIns="0" rtlCol="0"/>
            <a:lstStyle/>
            <a:p>
              <a:endParaRPr/>
            </a:p>
          </p:txBody>
        </p:sp>
        <p:sp>
          <p:nvSpPr>
            <p:cNvPr id="24" name="object 24"/>
            <p:cNvSpPr/>
            <p:nvPr/>
          </p:nvSpPr>
          <p:spPr>
            <a:xfrm>
              <a:off x="5805366" y="5627629"/>
              <a:ext cx="1612900" cy="409575"/>
            </a:xfrm>
            <a:custGeom>
              <a:avLst/>
              <a:gdLst/>
              <a:ahLst/>
              <a:cxnLst/>
              <a:rect l="l" t="t" r="r" b="b"/>
              <a:pathLst>
                <a:path w="1612900" h="409575">
                  <a:moveTo>
                    <a:pt x="1510003" y="409397"/>
                  </a:moveTo>
                  <a:lnTo>
                    <a:pt x="1549849" y="401354"/>
                  </a:lnTo>
                  <a:lnTo>
                    <a:pt x="1582389" y="379421"/>
                  </a:lnTo>
                  <a:lnTo>
                    <a:pt x="1604330" y="346888"/>
                  </a:lnTo>
                  <a:lnTo>
                    <a:pt x="1612376" y="307047"/>
                  </a:lnTo>
                  <a:lnTo>
                    <a:pt x="1612376" y="102349"/>
                  </a:lnTo>
                  <a:lnTo>
                    <a:pt x="1604330" y="62513"/>
                  </a:lnTo>
                  <a:lnTo>
                    <a:pt x="1582389" y="29979"/>
                  </a:lnTo>
                  <a:lnTo>
                    <a:pt x="1549849" y="8044"/>
                  </a:lnTo>
                  <a:lnTo>
                    <a:pt x="1510003" y="0"/>
                  </a:ln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510003" y="409397"/>
                  </a:lnTo>
                  <a:close/>
                </a:path>
              </a:pathLst>
            </a:custGeom>
            <a:ln w="3175">
              <a:solidFill>
                <a:srgbClr val="000000"/>
              </a:solidFill>
            </a:ln>
          </p:spPr>
          <p:txBody>
            <a:bodyPr wrap="square" lIns="0" tIns="0" rIns="0" bIns="0" rtlCol="0"/>
            <a:lstStyle/>
            <a:p>
              <a:endParaRPr/>
            </a:p>
          </p:txBody>
        </p:sp>
      </p:grpSp>
      <p:sp>
        <p:nvSpPr>
          <p:cNvPr id="25" name="object 25"/>
          <p:cNvSpPr txBox="1"/>
          <p:nvPr/>
        </p:nvSpPr>
        <p:spPr>
          <a:xfrm>
            <a:off x="6319620" y="5708184"/>
            <a:ext cx="596900" cy="216535"/>
          </a:xfrm>
          <a:prstGeom prst="rect">
            <a:avLst/>
          </a:prstGeom>
        </p:spPr>
        <p:txBody>
          <a:bodyPr vert="horz" wrap="square" lIns="0" tIns="12700" rIns="0" bIns="0" rtlCol="0">
            <a:spAutoFit/>
          </a:bodyPr>
          <a:lstStyle/>
          <a:p>
            <a:pPr>
              <a:lnSpc>
                <a:spcPct val="100000"/>
              </a:lnSpc>
              <a:spcBef>
                <a:spcPts val="100"/>
              </a:spcBef>
            </a:pPr>
            <a:r>
              <a:rPr sz="1250" spc="-10" dirty="0">
                <a:latin typeface="Times New Roman"/>
                <a:cs typeface="Times New Roman"/>
              </a:rPr>
              <a:t>Facilities</a:t>
            </a:r>
            <a:endParaRPr sz="1250">
              <a:latin typeface="Times New Roman"/>
              <a:cs typeface="Times New Roman"/>
            </a:endParaRPr>
          </a:p>
        </p:txBody>
      </p:sp>
      <p:grpSp>
        <p:nvGrpSpPr>
          <p:cNvPr id="26" name="object 26"/>
          <p:cNvGrpSpPr/>
          <p:nvPr/>
        </p:nvGrpSpPr>
        <p:grpSpPr>
          <a:xfrm>
            <a:off x="5803779" y="5114295"/>
            <a:ext cx="1616075" cy="412750"/>
            <a:chOff x="5803779" y="5114295"/>
            <a:chExt cx="1616075" cy="412750"/>
          </a:xfrm>
        </p:grpSpPr>
        <p:sp>
          <p:nvSpPr>
            <p:cNvPr id="27" name="object 27"/>
            <p:cNvSpPr/>
            <p:nvPr/>
          </p:nvSpPr>
          <p:spPr>
            <a:xfrm>
              <a:off x="5805366" y="5115883"/>
              <a:ext cx="1612900" cy="409575"/>
            </a:xfrm>
            <a:custGeom>
              <a:avLst/>
              <a:gdLst/>
              <a:ahLst/>
              <a:cxnLst/>
              <a:rect l="l" t="t" r="r" b="b"/>
              <a:pathLst>
                <a:path w="1612900" h="409575">
                  <a:moveTo>
                    <a:pt x="1510003" y="0"/>
                  </a:move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510003" y="409397"/>
                  </a:lnTo>
                  <a:lnTo>
                    <a:pt x="1549849" y="401354"/>
                  </a:lnTo>
                  <a:lnTo>
                    <a:pt x="1582389" y="379421"/>
                  </a:lnTo>
                  <a:lnTo>
                    <a:pt x="1604330" y="346888"/>
                  </a:lnTo>
                  <a:lnTo>
                    <a:pt x="1612376" y="307047"/>
                  </a:lnTo>
                  <a:lnTo>
                    <a:pt x="1612376" y="102349"/>
                  </a:lnTo>
                  <a:lnTo>
                    <a:pt x="1604330" y="62513"/>
                  </a:lnTo>
                  <a:lnTo>
                    <a:pt x="1582389" y="29979"/>
                  </a:lnTo>
                  <a:lnTo>
                    <a:pt x="1549849" y="8044"/>
                  </a:lnTo>
                  <a:lnTo>
                    <a:pt x="1510003" y="0"/>
                  </a:lnTo>
                  <a:close/>
                </a:path>
              </a:pathLst>
            </a:custGeom>
            <a:solidFill>
              <a:srgbClr val="E8EDF7"/>
            </a:solidFill>
          </p:spPr>
          <p:txBody>
            <a:bodyPr wrap="square" lIns="0" tIns="0" rIns="0" bIns="0" rtlCol="0"/>
            <a:lstStyle/>
            <a:p>
              <a:endParaRPr/>
            </a:p>
          </p:txBody>
        </p:sp>
        <p:sp>
          <p:nvSpPr>
            <p:cNvPr id="28" name="object 28"/>
            <p:cNvSpPr/>
            <p:nvPr/>
          </p:nvSpPr>
          <p:spPr>
            <a:xfrm>
              <a:off x="5805366" y="5115883"/>
              <a:ext cx="1612900" cy="409575"/>
            </a:xfrm>
            <a:custGeom>
              <a:avLst/>
              <a:gdLst/>
              <a:ahLst/>
              <a:cxnLst/>
              <a:rect l="l" t="t" r="r" b="b"/>
              <a:pathLst>
                <a:path w="1612900" h="409575">
                  <a:moveTo>
                    <a:pt x="1510003" y="409397"/>
                  </a:moveTo>
                  <a:lnTo>
                    <a:pt x="1549849" y="401354"/>
                  </a:lnTo>
                  <a:lnTo>
                    <a:pt x="1582389" y="379421"/>
                  </a:lnTo>
                  <a:lnTo>
                    <a:pt x="1604330" y="346888"/>
                  </a:lnTo>
                  <a:lnTo>
                    <a:pt x="1612376" y="307047"/>
                  </a:lnTo>
                  <a:lnTo>
                    <a:pt x="1612376" y="102349"/>
                  </a:lnTo>
                  <a:lnTo>
                    <a:pt x="1604330" y="62513"/>
                  </a:lnTo>
                  <a:lnTo>
                    <a:pt x="1582389" y="29979"/>
                  </a:lnTo>
                  <a:lnTo>
                    <a:pt x="1549849" y="8044"/>
                  </a:lnTo>
                  <a:lnTo>
                    <a:pt x="1510003" y="0"/>
                  </a:ln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510003" y="409397"/>
                  </a:lnTo>
                  <a:close/>
                </a:path>
              </a:pathLst>
            </a:custGeom>
            <a:ln w="3175">
              <a:solidFill>
                <a:srgbClr val="000000"/>
              </a:solidFill>
            </a:ln>
          </p:spPr>
          <p:txBody>
            <a:bodyPr wrap="square" lIns="0" tIns="0" rIns="0" bIns="0" rtlCol="0"/>
            <a:lstStyle/>
            <a:p>
              <a:endParaRPr/>
            </a:p>
          </p:txBody>
        </p:sp>
      </p:grpSp>
      <p:sp>
        <p:nvSpPr>
          <p:cNvPr id="29" name="object 29"/>
          <p:cNvSpPr txBox="1"/>
          <p:nvPr/>
        </p:nvSpPr>
        <p:spPr>
          <a:xfrm>
            <a:off x="6297667" y="5196438"/>
            <a:ext cx="640715" cy="216535"/>
          </a:xfrm>
          <a:prstGeom prst="rect">
            <a:avLst/>
          </a:prstGeom>
        </p:spPr>
        <p:txBody>
          <a:bodyPr vert="horz" wrap="square" lIns="0" tIns="12700" rIns="0" bIns="0" rtlCol="0">
            <a:spAutoFit/>
          </a:bodyPr>
          <a:lstStyle/>
          <a:p>
            <a:pPr>
              <a:lnSpc>
                <a:spcPct val="100000"/>
              </a:lnSpc>
              <a:spcBef>
                <a:spcPts val="100"/>
              </a:spcBef>
            </a:pPr>
            <a:r>
              <a:rPr sz="1250" spc="-10" dirty="0">
                <a:latin typeface="Times New Roman"/>
                <a:cs typeface="Times New Roman"/>
              </a:rPr>
              <a:t>Hardware</a:t>
            </a:r>
            <a:endParaRPr sz="1250">
              <a:latin typeface="Times New Roman"/>
              <a:cs typeface="Times New Roman"/>
            </a:endParaRPr>
          </a:p>
        </p:txBody>
      </p:sp>
      <p:grpSp>
        <p:nvGrpSpPr>
          <p:cNvPr id="30" name="object 30"/>
          <p:cNvGrpSpPr/>
          <p:nvPr/>
        </p:nvGrpSpPr>
        <p:grpSpPr>
          <a:xfrm>
            <a:off x="6725136" y="3988510"/>
            <a:ext cx="694690" cy="1026794"/>
            <a:chOff x="6725136" y="3988510"/>
            <a:chExt cx="694690" cy="1026794"/>
          </a:xfrm>
        </p:grpSpPr>
        <p:sp>
          <p:nvSpPr>
            <p:cNvPr id="31" name="object 31"/>
            <p:cNvSpPr/>
            <p:nvPr/>
          </p:nvSpPr>
          <p:spPr>
            <a:xfrm>
              <a:off x="6726724" y="3990097"/>
              <a:ext cx="691515" cy="1023619"/>
            </a:xfrm>
            <a:custGeom>
              <a:avLst/>
              <a:gdLst/>
              <a:ahLst/>
              <a:cxnLst/>
              <a:rect l="l" t="t" r="r" b="b"/>
              <a:pathLst>
                <a:path w="691515" h="1023620">
                  <a:moveTo>
                    <a:pt x="588645" y="0"/>
                  </a:moveTo>
                  <a:lnTo>
                    <a:pt x="102373" y="0"/>
                  </a:lnTo>
                  <a:lnTo>
                    <a:pt x="62527" y="8028"/>
                  </a:lnTo>
                  <a:lnTo>
                    <a:pt x="29986" y="29937"/>
                  </a:lnTo>
                  <a:lnTo>
                    <a:pt x="8045" y="62465"/>
                  </a:lnTo>
                  <a:lnTo>
                    <a:pt x="0" y="102349"/>
                  </a:lnTo>
                  <a:lnTo>
                    <a:pt x="0" y="921143"/>
                  </a:lnTo>
                  <a:lnTo>
                    <a:pt x="8045" y="960979"/>
                  </a:lnTo>
                  <a:lnTo>
                    <a:pt x="29986" y="993513"/>
                  </a:lnTo>
                  <a:lnTo>
                    <a:pt x="62527" y="1015448"/>
                  </a:lnTo>
                  <a:lnTo>
                    <a:pt x="102373" y="1023492"/>
                  </a:lnTo>
                  <a:lnTo>
                    <a:pt x="588645" y="1023492"/>
                  </a:lnTo>
                  <a:lnTo>
                    <a:pt x="628490" y="1015448"/>
                  </a:lnTo>
                  <a:lnTo>
                    <a:pt x="661031" y="993513"/>
                  </a:lnTo>
                  <a:lnTo>
                    <a:pt x="682972" y="960979"/>
                  </a:lnTo>
                  <a:lnTo>
                    <a:pt x="691018" y="921143"/>
                  </a:lnTo>
                  <a:lnTo>
                    <a:pt x="691018" y="102349"/>
                  </a:lnTo>
                  <a:lnTo>
                    <a:pt x="682972" y="62465"/>
                  </a:lnTo>
                  <a:lnTo>
                    <a:pt x="661031" y="29937"/>
                  </a:lnTo>
                  <a:lnTo>
                    <a:pt x="628490" y="8028"/>
                  </a:lnTo>
                  <a:lnTo>
                    <a:pt x="588645" y="0"/>
                  </a:lnTo>
                  <a:close/>
                </a:path>
              </a:pathLst>
            </a:custGeom>
            <a:solidFill>
              <a:srgbClr val="E8EDF7"/>
            </a:solidFill>
          </p:spPr>
          <p:txBody>
            <a:bodyPr wrap="square" lIns="0" tIns="0" rIns="0" bIns="0" rtlCol="0"/>
            <a:lstStyle/>
            <a:p>
              <a:endParaRPr/>
            </a:p>
          </p:txBody>
        </p:sp>
        <p:sp>
          <p:nvSpPr>
            <p:cNvPr id="32" name="object 32"/>
            <p:cNvSpPr/>
            <p:nvPr/>
          </p:nvSpPr>
          <p:spPr>
            <a:xfrm>
              <a:off x="6726724" y="3990097"/>
              <a:ext cx="691515" cy="1023619"/>
            </a:xfrm>
            <a:custGeom>
              <a:avLst/>
              <a:gdLst/>
              <a:ahLst/>
              <a:cxnLst/>
              <a:rect l="l" t="t" r="r" b="b"/>
              <a:pathLst>
                <a:path w="691515" h="1023620">
                  <a:moveTo>
                    <a:pt x="0" y="921143"/>
                  </a:moveTo>
                  <a:lnTo>
                    <a:pt x="8045" y="960979"/>
                  </a:lnTo>
                  <a:lnTo>
                    <a:pt x="29986" y="993513"/>
                  </a:lnTo>
                  <a:lnTo>
                    <a:pt x="62527" y="1015448"/>
                  </a:lnTo>
                  <a:lnTo>
                    <a:pt x="102373" y="1023492"/>
                  </a:lnTo>
                  <a:lnTo>
                    <a:pt x="588645" y="1023492"/>
                  </a:lnTo>
                  <a:lnTo>
                    <a:pt x="628490" y="1015448"/>
                  </a:lnTo>
                  <a:lnTo>
                    <a:pt x="661031" y="993513"/>
                  </a:lnTo>
                  <a:lnTo>
                    <a:pt x="682972" y="960979"/>
                  </a:lnTo>
                  <a:lnTo>
                    <a:pt x="691018" y="921143"/>
                  </a:lnTo>
                  <a:lnTo>
                    <a:pt x="691018" y="102349"/>
                  </a:lnTo>
                  <a:lnTo>
                    <a:pt x="682972" y="62465"/>
                  </a:lnTo>
                  <a:lnTo>
                    <a:pt x="661031" y="29937"/>
                  </a:lnTo>
                  <a:lnTo>
                    <a:pt x="628490" y="8028"/>
                  </a:lnTo>
                  <a:lnTo>
                    <a:pt x="588645" y="0"/>
                  </a:lnTo>
                  <a:lnTo>
                    <a:pt x="102373" y="0"/>
                  </a:lnTo>
                  <a:lnTo>
                    <a:pt x="62527" y="8028"/>
                  </a:lnTo>
                  <a:lnTo>
                    <a:pt x="29986" y="29937"/>
                  </a:lnTo>
                  <a:lnTo>
                    <a:pt x="8045" y="62465"/>
                  </a:lnTo>
                  <a:lnTo>
                    <a:pt x="0" y="102349"/>
                  </a:lnTo>
                  <a:lnTo>
                    <a:pt x="0" y="921143"/>
                  </a:lnTo>
                  <a:close/>
                </a:path>
              </a:pathLst>
            </a:custGeom>
            <a:ln w="3175">
              <a:solidFill>
                <a:srgbClr val="000000"/>
              </a:solidFill>
            </a:ln>
          </p:spPr>
          <p:txBody>
            <a:bodyPr wrap="square" lIns="0" tIns="0" rIns="0" bIns="0" rtlCol="0"/>
            <a:lstStyle/>
            <a:p>
              <a:endParaRPr/>
            </a:p>
          </p:txBody>
        </p:sp>
      </p:grpSp>
      <p:sp>
        <p:nvSpPr>
          <p:cNvPr id="33" name="object 33"/>
          <p:cNvSpPr txBox="1"/>
          <p:nvPr/>
        </p:nvSpPr>
        <p:spPr>
          <a:xfrm>
            <a:off x="6881708" y="4095667"/>
            <a:ext cx="393065" cy="812800"/>
          </a:xfrm>
          <a:prstGeom prst="rect">
            <a:avLst/>
          </a:prstGeom>
        </p:spPr>
        <p:txBody>
          <a:bodyPr vert="vert" wrap="square" lIns="0" tIns="1905" rIns="0" bIns="0" rtlCol="0">
            <a:spAutoFit/>
          </a:bodyPr>
          <a:lstStyle/>
          <a:p>
            <a:pPr marL="12700" marR="5080" indent="238125">
              <a:lnSpc>
                <a:spcPts val="1500"/>
              </a:lnSpc>
              <a:spcBef>
                <a:spcPts val="15"/>
              </a:spcBef>
            </a:pPr>
            <a:r>
              <a:rPr sz="1250" spc="-20" dirty="0">
                <a:latin typeface="Times New Roman"/>
                <a:cs typeface="Times New Roman"/>
              </a:rPr>
              <a:t>Core </a:t>
            </a:r>
            <a:r>
              <a:rPr sz="1250" spc="-10" dirty="0">
                <a:latin typeface="Times New Roman"/>
                <a:cs typeface="Times New Roman"/>
              </a:rPr>
              <a:t>connectivity</a:t>
            </a:r>
            <a:endParaRPr sz="1250">
              <a:latin typeface="Times New Roman"/>
              <a:cs typeface="Times New Roman"/>
            </a:endParaRPr>
          </a:p>
        </p:txBody>
      </p:sp>
      <p:grpSp>
        <p:nvGrpSpPr>
          <p:cNvPr id="34" name="object 34"/>
          <p:cNvGrpSpPr/>
          <p:nvPr/>
        </p:nvGrpSpPr>
        <p:grpSpPr>
          <a:xfrm>
            <a:off x="5803779" y="3988510"/>
            <a:ext cx="694690" cy="1026794"/>
            <a:chOff x="5803779" y="3988510"/>
            <a:chExt cx="694690" cy="1026794"/>
          </a:xfrm>
        </p:grpSpPr>
        <p:sp>
          <p:nvSpPr>
            <p:cNvPr id="35" name="object 35"/>
            <p:cNvSpPr/>
            <p:nvPr/>
          </p:nvSpPr>
          <p:spPr>
            <a:xfrm>
              <a:off x="5805366" y="3990097"/>
              <a:ext cx="691515" cy="1023619"/>
            </a:xfrm>
            <a:custGeom>
              <a:avLst/>
              <a:gdLst/>
              <a:ahLst/>
              <a:cxnLst/>
              <a:rect l="l" t="t" r="r" b="b"/>
              <a:pathLst>
                <a:path w="691514" h="1023620">
                  <a:moveTo>
                    <a:pt x="588645" y="0"/>
                  </a:moveTo>
                  <a:lnTo>
                    <a:pt x="102373" y="0"/>
                  </a:lnTo>
                  <a:lnTo>
                    <a:pt x="62527" y="8028"/>
                  </a:lnTo>
                  <a:lnTo>
                    <a:pt x="29986" y="29937"/>
                  </a:lnTo>
                  <a:lnTo>
                    <a:pt x="8045" y="62465"/>
                  </a:lnTo>
                  <a:lnTo>
                    <a:pt x="0" y="102349"/>
                  </a:lnTo>
                  <a:lnTo>
                    <a:pt x="0" y="921143"/>
                  </a:lnTo>
                  <a:lnTo>
                    <a:pt x="8045" y="960979"/>
                  </a:lnTo>
                  <a:lnTo>
                    <a:pt x="29986" y="993513"/>
                  </a:lnTo>
                  <a:lnTo>
                    <a:pt x="62527" y="1015448"/>
                  </a:lnTo>
                  <a:lnTo>
                    <a:pt x="102373" y="1023492"/>
                  </a:lnTo>
                  <a:lnTo>
                    <a:pt x="588645" y="1023492"/>
                  </a:lnTo>
                  <a:lnTo>
                    <a:pt x="628490" y="1015448"/>
                  </a:lnTo>
                  <a:lnTo>
                    <a:pt x="661031" y="993513"/>
                  </a:lnTo>
                  <a:lnTo>
                    <a:pt x="682972" y="960979"/>
                  </a:lnTo>
                  <a:lnTo>
                    <a:pt x="691018" y="921143"/>
                  </a:lnTo>
                  <a:lnTo>
                    <a:pt x="691018" y="102349"/>
                  </a:lnTo>
                  <a:lnTo>
                    <a:pt x="682972" y="62465"/>
                  </a:lnTo>
                  <a:lnTo>
                    <a:pt x="661031" y="29937"/>
                  </a:lnTo>
                  <a:lnTo>
                    <a:pt x="628490" y="8028"/>
                  </a:lnTo>
                  <a:lnTo>
                    <a:pt x="588645" y="0"/>
                  </a:lnTo>
                  <a:close/>
                </a:path>
              </a:pathLst>
            </a:custGeom>
            <a:solidFill>
              <a:srgbClr val="E8EDF7"/>
            </a:solidFill>
          </p:spPr>
          <p:txBody>
            <a:bodyPr wrap="square" lIns="0" tIns="0" rIns="0" bIns="0" rtlCol="0"/>
            <a:lstStyle/>
            <a:p>
              <a:endParaRPr/>
            </a:p>
          </p:txBody>
        </p:sp>
        <p:sp>
          <p:nvSpPr>
            <p:cNvPr id="36" name="object 36"/>
            <p:cNvSpPr/>
            <p:nvPr/>
          </p:nvSpPr>
          <p:spPr>
            <a:xfrm>
              <a:off x="5805366" y="3990097"/>
              <a:ext cx="691515" cy="1023619"/>
            </a:xfrm>
            <a:custGeom>
              <a:avLst/>
              <a:gdLst/>
              <a:ahLst/>
              <a:cxnLst/>
              <a:rect l="l" t="t" r="r" b="b"/>
              <a:pathLst>
                <a:path w="691514" h="1023620">
                  <a:moveTo>
                    <a:pt x="0" y="921143"/>
                  </a:moveTo>
                  <a:lnTo>
                    <a:pt x="8045" y="960979"/>
                  </a:lnTo>
                  <a:lnTo>
                    <a:pt x="29986" y="993513"/>
                  </a:lnTo>
                  <a:lnTo>
                    <a:pt x="62527" y="1015448"/>
                  </a:lnTo>
                  <a:lnTo>
                    <a:pt x="102373" y="1023492"/>
                  </a:lnTo>
                  <a:lnTo>
                    <a:pt x="588645" y="1023492"/>
                  </a:lnTo>
                  <a:lnTo>
                    <a:pt x="628490" y="1015448"/>
                  </a:lnTo>
                  <a:lnTo>
                    <a:pt x="661031" y="993513"/>
                  </a:lnTo>
                  <a:lnTo>
                    <a:pt x="682972" y="960979"/>
                  </a:lnTo>
                  <a:lnTo>
                    <a:pt x="691018" y="921143"/>
                  </a:lnTo>
                  <a:lnTo>
                    <a:pt x="691018" y="102349"/>
                  </a:lnTo>
                  <a:lnTo>
                    <a:pt x="682972" y="62465"/>
                  </a:lnTo>
                  <a:lnTo>
                    <a:pt x="661031" y="29937"/>
                  </a:lnTo>
                  <a:lnTo>
                    <a:pt x="628490" y="8028"/>
                  </a:lnTo>
                  <a:lnTo>
                    <a:pt x="588645" y="0"/>
                  </a:lnTo>
                  <a:lnTo>
                    <a:pt x="102373" y="0"/>
                  </a:lnTo>
                  <a:lnTo>
                    <a:pt x="62527" y="8028"/>
                  </a:lnTo>
                  <a:lnTo>
                    <a:pt x="29986" y="29937"/>
                  </a:lnTo>
                  <a:lnTo>
                    <a:pt x="8045" y="62465"/>
                  </a:lnTo>
                  <a:lnTo>
                    <a:pt x="0" y="102349"/>
                  </a:lnTo>
                  <a:lnTo>
                    <a:pt x="0" y="921143"/>
                  </a:lnTo>
                  <a:close/>
                </a:path>
              </a:pathLst>
            </a:custGeom>
            <a:ln w="3175">
              <a:solidFill>
                <a:srgbClr val="000000"/>
              </a:solidFill>
            </a:ln>
          </p:spPr>
          <p:txBody>
            <a:bodyPr wrap="square" lIns="0" tIns="0" rIns="0" bIns="0" rtlCol="0"/>
            <a:lstStyle/>
            <a:p>
              <a:endParaRPr/>
            </a:p>
          </p:txBody>
        </p:sp>
      </p:grpSp>
      <p:sp>
        <p:nvSpPr>
          <p:cNvPr id="37" name="object 37"/>
          <p:cNvSpPr txBox="1"/>
          <p:nvPr/>
        </p:nvSpPr>
        <p:spPr>
          <a:xfrm>
            <a:off x="6055898" y="4117730"/>
            <a:ext cx="201930" cy="768350"/>
          </a:xfrm>
          <a:prstGeom prst="rect">
            <a:avLst/>
          </a:prstGeom>
        </p:spPr>
        <p:txBody>
          <a:bodyPr vert="vert" wrap="square" lIns="0" tIns="0" rIns="0" bIns="0" rtlCol="0">
            <a:spAutoFit/>
          </a:bodyPr>
          <a:lstStyle/>
          <a:p>
            <a:pPr marL="12700">
              <a:lnSpc>
                <a:spcPts val="1465"/>
              </a:lnSpc>
            </a:pPr>
            <a:r>
              <a:rPr sz="1250" spc="-10" dirty="0">
                <a:latin typeface="Times New Roman"/>
                <a:cs typeface="Times New Roman"/>
              </a:rPr>
              <a:t>Abstraction</a:t>
            </a:r>
            <a:endParaRPr sz="1250">
              <a:latin typeface="Times New Roman"/>
              <a:cs typeface="Times New Roman"/>
            </a:endParaRPr>
          </a:p>
        </p:txBody>
      </p:sp>
      <p:grpSp>
        <p:nvGrpSpPr>
          <p:cNvPr id="38" name="object 38"/>
          <p:cNvGrpSpPr/>
          <p:nvPr/>
        </p:nvGrpSpPr>
        <p:grpSpPr>
          <a:xfrm>
            <a:off x="5803779" y="3476763"/>
            <a:ext cx="1616075" cy="412750"/>
            <a:chOff x="5803779" y="3476763"/>
            <a:chExt cx="1616075" cy="412750"/>
          </a:xfrm>
        </p:grpSpPr>
        <p:sp>
          <p:nvSpPr>
            <p:cNvPr id="39" name="object 39"/>
            <p:cNvSpPr/>
            <p:nvPr/>
          </p:nvSpPr>
          <p:spPr>
            <a:xfrm>
              <a:off x="5805366" y="3478351"/>
              <a:ext cx="1612900" cy="409575"/>
            </a:xfrm>
            <a:custGeom>
              <a:avLst/>
              <a:gdLst/>
              <a:ahLst/>
              <a:cxnLst/>
              <a:rect l="l" t="t" r="r" b="b"/>
              <a:pathLst>
                <a:path w="1612900" h="409575">
                  <a:moveTo>
                    <a:pt x="1510003" y="0"/>
                  </a:move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510003" y="409397"/>
                  </a:lnTo>
                  <a:lnTo>
                    <a:pt x="1549849" y="401353"/>
                  </a:lnTo>
                  <a:lnTo>
                    <a:pt x="1582389" y="379417"/>
                  </a:lnTo>
                  <a:lnTo>
                    <a:pt x="1604330" y="346884"/>
                  </a:lnTo>
                  <a:lnTo>
                    <a:pt x="1612376" y="307047"/>
                  </a:lnTo>
                  <a:lnTo>
                    <a:pt x="1612376" y="102349"/>
                  </a:lnTo>
                  <a:lnTo>
                    <a:pt x="1604330" y="62465"/>
                  </a:lnTo>
                  <a:lnTo>
                    <a:pt x="1582389" y="29937"/>
                  </a:lnTo>
                  <a:lnTo>
                    <a:pt x="1549849" y="8028"/>
                  </a:lnTo>
                  <a:lnTo>
                    <a:pt x="1510003" y="0"/>
                  </a:lnTo>
                  <a:close/>
                </a:path>
              </a:pathLst>
            </a:custGeom>
            <a:solidFill>
              <a:srgbClr val="E8EDF7"/>
            </a:solidFill>
          </p:spPr>
          <p:txBody>
            <a:bodyPr wrap="square" lIns="0" tIns="0" rIns="0" bIns="0" rtlCol="0"/>
            <a:lstStyle/>
            <a:p>
              <a:endParaRPr/>
            </a:p>
          </p:txBody>
        </p:sp>
        <p:sp>
          <p:nvSpPr>
            <p:cNvPr id="40" name="object 40"/>
            <p:cNvSpPr/>
            <p:nvPr/>
          </p:nvSpPr>
          <p:spPr>
            <a:xfrm>
              <a:off x="5805366" y="3478351"/>
              <a:ext cx="1612900" cy="409575"/>
            </a:xfrm>
            <a:custGeom>
              <a:avLst/>
              <a:gdLst/>
              <a:ahLst/>
              <a:cxnLst/>
              <a:rect l="l" t="t" r="r" b="b"/>
              <a:pathLst>
                <a:path w="1612900" h="409575">
                  <a:moveTo>
                    <a:pt x="1510003" y="409397"/>
                  </a:moveTo>
                  <a:lnTo>
                    <a:pt x="1549849" y="401353"/>
                  </a:lnTo>
                  <a:lnTo>
                    <a:pt x="1582389" y="379417"/>
                  </a:lnTo>
                  <a:lnTo>
                    <a:pt x="1604330" y="346884"/>
                  </a:lnTo>
                  <a:lnTo>
                    <a:pt x="1612376" y="307047"/>
                  </a:lnTo>
                  <a:lnTo>
                    <a:pt x="1612376" y="102349"/>
                  </a:lnTo>
                  <a:lnTo>
                    <a:pt x="1604330" y="62465"/>
                  </a:lnTo>
                  <a:lnTo>
                    <a:pt x="1582389" y="29937"/>
                  </a:lnTo>
                  <a:lnTo>
                    <a:pt x="1549849" y="8028"/>
                  </a:lnTo>
                  <a:lnTo>
                    <a:pt x="1510003" y="0"/>
                  </a:ln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510003" y="409397"/>
                  </a:lnTo>
                  <a:close/>
                </a:path>
              </a:pathLst>
            </a:custGeom>
            <a:ln w="3175">
              <a:solidFill>
                <a:srgbClr val="000000"/>
              </a:solidFill>
            </a:ln>
          </p:spPr>
          <p:txBody>
            <a:bodyPr wrap="square" lIns="0" tIns="0" rIns="0" bIns="0" rtlCol="0"/>
            <a:lstStyle/>
            <a:p>
              <a:endParaRPr/>
            </a:p>
          </p:txBody>
        </p:sp>
      </p:grpSp>
      <p:sp>
        <p:nvSpPr>
          <p:cNvPr id="41" name="object 41"/>
          <p:cNvSpPr txBox="1"/>
          <p:nvPr/>
        </p:nvSpPr>
        <p:spPr>
          <a:xfrm>
            <a:off x="6483304" y="3558906"/>
            <a:ext cx="269875" cy="216535"/>
          </a:xfrm>
          <a:prstGeom prst="rect">
            <a:avLst/>
          </a:prstGeom>
        </p:spPr>
        <p:txBody>
          <a:bodyPr vert="horz" wrap="square" lIns="0" tIns="12700" rIns="0" bIns="0" rtlCol="0">
            <a:spAutoFit/>
          </a:bodyPr>
          <a:lstStyle/>
          <a:p>
            <a:pPr>
              <a:lnSpc>
                <a:spcPct val="100000"/>
              </a:lnSpc>
              <a:spcBef>
                <a:spcPts val="100"/>
              </a:spcBef>
            </a:pPr>
            <a:r>
              <a:rPr sz="1250" spc="-25" dirty="0">
                <a:latin typeface="Times New Roman"/>
                <a:cs typeface="Times New Roman"/>
              </a:rPr>
              <a:t>API</a:t>
            </a:r>
            <a:endParaRPr sz="1250">
              <a:latin typeface="Times New Roman"/>
              <a:cs typeface="Times New Roman"/>
            </a:endParaRPr>
          </a:p>
        </p:txBody>
      </p:sp>
      <p:grpSp>
        <p:nvGrpSpPr>
          <p:cNvPr id="42" name="object 42"/>
          <p:cNvGrpSpPr/>
          <p:nvPr/>
        </p:nvGrpSpPr>
        <p:grpSpPr>
          <a:xfrm>
            <a:off x="5797409" y="2453270"/>
            <a:ext cx="1636395" cy="886460"/>
            <a:chOff x="5797409" y="2453270"/>
            <a:chExt cx="1636395" cy="886460"/>
          </a:xfrm>
        </p:grpSpPr>
        <p:sp>
          <p:nvSpPr>
            <p:cNvPr id="43" name="object 43"/>
            <p:cNvSpPr/>
            <p:nvPr/>
          </p:nvSpPr>
          <p:spPr>
            <a:xfrm>
              <a:off x="5819812" y="2928166"/>
              <a:ext cx="1612900" cy="409575"/>
            </a:xfrm>
            <a:custGeom>
              <a:avLst/>
              <a:gdLst/>
              <a:ahLst/>
              <a:cxnLst/>
              <a:rect l="l" t="t" r="r" b="b"/>
              <a:pathLst>
                <a:path w="1612900" h="409575">
                  <a:moveTo>
                    <a:pt x="1510003" y="0"/>
                  </a:moveTo>
                  <a:lnTo>
                    <a:pt x="102373" y="0"/>
                  </a:lnTo>
                  <a:lnTo>
                    <a:pt x="62527" y="8044"/>
                  </a:lnTo>
                  <a:lnTo>
                    <a:pt x="29986" y="29979"/>
                  </a:lnTo>
                  <a:lnTo>
                    <a:pt x="8045" y="62513"/>
                  </a:lnTo>
                  <a:lnTo>
                    <a:pt x="0" y="102349"/>
                  </a:lnTo>
                  <a:lnTo>
                    <a:pt x="0" y="307047"/>
                  </a:lnTo>
                  <a:lnTo>
                    <a:pt x="8045" y="346884"/>
                  </a:lnTo>
                  <a:lnTo>
                    <a:pt x="29986" y="379417"/>
                  </a:lnTo>
                  <a:lnTo>
                    <a:pt x="62527" y="401353"/>
                  </a:lnTo>
                  <a:lnTo>
                    <a:pt x="102373" y="409397"/>
                  </a:lnTo>
                  <a:lnTo>
                    <a:pt x="1510003" y="409397"/>
                  </a:lnTo>
                  <a:lnTo>
                    <a:pt x="1549849" y="401353"/>
                  </a:lnTo>
                  <a:lnTo>
                    <a:pt x="1582389" y="379417"/>
                  </a:lnTo>
                  <a:lnTo>
                    <a:pt x="1604330" y="346884"/>
                  </a:lnTo>
                  <a:lnTo>
                    <a:pt x="1612376" y="307047"/>
                  </a:lnTo>
                  <a:lnTo>
                    <a:pt x="1612376" y="102349"/>
                  </a:lnTo>
                  <a:lnTo>
                    <a:pt x="1604330" y="62513"/>
                  </a:lnTo>
                  <a:lnTo>
                    <a:pt x="1582389" y="29979"/>
                  </a:lnTo>
                  <a:lnTo>
                    <a:pt x="1549849" y="8044"/>
                  </a:lnTo>
                  <a:lnTo>
                    <a:pt x="1510003" y="0"/>
                  </a:lnTo>
                  <a:close/>
                </a:path>
              </a:pathLst>
            </a:custGeom>
            <a:solidFill>
              <a:srgbClr val="E8EDF7"/>
            </a:solidFill>
          </p:spPr>
          <p:txBody>
            <a:bodyPr wrap="square" lIns="0" tIns="0" rIns="0" bIns="0" rtlCol="0"/>
            <a:lstStyle/>
            <a:p>
              <a:endParaRPr/>
            </a:p>
          </p:txBody>
        </p:sp>
        <p:sp>
          <p:nvSpPr>
            <p:cNvPr id="44" name="object 44"/>
            <p:cNvSpPr/>
            <p:nvPr/>
          </p:nvSpPr>
          <p:spPr>
            <a:xfrm>
              <a:off x="5819812" y="2928166"/>
              <a:ext cx="1612900" cy="409575"/>
            </a:xfrm>
            <a:custGeom>
              <a:avLst/>
              <a:gdLst/>
              <a:ahLst/>
              <a:cxnLst/>
              <a:rect l="l" t="t" r="r" b="b"/>
              <a:pathLst>
                <a:path w="1612900" h="409575">
                  <a:moveTo>
                    <a:pt x="1510003" y="409397"/>
                  </a:moveTo>
                  <a:lnTo>
                    <a:pt x="1549849" y="401353"/>
                  </a:lnTo>
                  <a:lnTo>
                    <a:pt x="1582389" y="379417"/>
                  </a:lnTo>
                  <a:lnTo>
                    <a:pt x="1604330" y="346884"/>
                  </a:lnTo>
                  <a:lnTo>
                    <a:pt x="1612376" y="307047"/>
                  </a:lnTo>
                  <a:lnTo>
                    <a:pt x="1612376" y="102349"/>
                  </a:lnTo>
                  <a:lnTo>
                    <a:pt x="1604330" y="62513"/>
                  </a:lnTo>
                  <a:lnTo>
                    <a:pt x="1582389" y="29979"/>
                  </a:lnTo>
                  <a:lnTo>
                    <a:pt x="1549849" y="8044"/>
                  </a:lnTo>
                  <a:lnTo>
                    <a:pt x="1510003" y="0"/>
                  </a:lnTo>
                  <a:lnTo>
                    <a:pt x="102373" y="0"/>
                  </a:lnTo>
                  <a:lnTo>
                    <a:pt x="62527" y="8044"/>
                  </a:lnTo>
                  <a:lnTo>
                    <a:pt x="29986" y="29979"/>
                  </a:lnTo>
                  <a:lnTo>
                    <a:pt x="8045" y="62513"/>
                  </a:lnTo>
                  <a:lnTo>
                    <a:pt x="0" y="102349"/>
                  </a:lnTo>
                  <a:lnTo>
                    <a:pt x="0" y="307047"/>
                  </a:lnTo>
                  <a:lnTo>
                    <a:pt x="8045" y="346884"/>
                  </a:lnTo>
                  <a:lnTo>
                    <a:pt x="29986" y="379417"/>
                  </a:lnTo>
                  <a:lnTo>
                    <a:pt x="62527" y="401353"/>
                  </a:lnTo>
                  <a:lnTo>
                    <a:pt x="102373" y="409397"/>
                  </a:lnTo>
                  <a:lnTo>
                    <a:pt x="1510003" y="409397"/>
                  </a:lnTo>
                  <a:close/>
                </a:path>
              </a:pathLst>
            </a:custGeom>
            <a:ln w="3175">
              <a:solidFill>
                <a:srgbClr val="000000"/>
              </a:solidFill>
            </a:ln>
          </p:spPr>
          <p:txBody>
            <a:bodyPr wrap="square" lIns="0" tIns="0" rIns="0" bIns="0" rtlCol="0"/>
            <a:lstStyle/>
            <a:p>
              <a:endParaRPr/>
            </a:p>
          </p:txBody>
        </p:sp>
        <p:sp>
          <p:nvSpPr>
            <p:cNvPr id="45" name="object 45"/>
            <p:cNvSpPr/>
            <p:nvPr/>
          </p:nvSpPr>
          <p:spPr>
            <a:xfrm>
              <a:off x="5798996" y="2454858"/>
              <a:ext cx="710565" cy="409575"/>
            </a:xfrm>
            <a:custGeom>
              <a:avLst/>
              <a:gdLst/>
              <a:ahLst/>
              <a:cxnLst/>
              <a:rect l="l" t="t" r="r" b="b"/>
              <a:pathLst>
                <a:path w="710565" h="409575">
                  <a:moveTo>
                    <a:pt x="607868" y="0"/>
                  </a:move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607755" y="409397"/>
                  </a:lnTo>
                  <a:lnTo>
                    <a:pt x="647650" y="401353"/>
                  </a:lnTo>
                  <a:lnTo>
                    <a:pt x="680198" y="379417"/>
                  </a:lnTo>
                  <a:lnTo>
                    <a:pt x="702146" y="346884"/>
                  </a:lnTo>
                  <a:lnTo>
                    <a:pt x="710241" y="307047"/>
                  </a:lnTo>
                  <a:lnTo>
                    <a:pt x="710241" y="102349"/>
                  </a:lnTo>
                  <a:lnTo>
                    <a:pt x="702148" y="62465"/>
                  </a:lnTo>
                  <a:lnTo>
                    <a:pt x="680212" y="29937"/>
                  </a:lnTo>
                  <a:lnTo>
                    <a:pt x="647698" y="8028"/>
                  </a:lnTo>
                  <a:lnTo>
                    <a:pt x="607868" y="0"/>
                  </a:lnTo>
                  <a:close/>
                </a:path>
              </a:pathLst>
            </a:custGeom>
            <a:solidFill>
              <a:srgbClr val="E8EDF7"/>
            </a:solidFill>
          </p:spPr>
          <p:txBody>
            <a:bodyPr wrap="square" lIns="0" tIns="0" rIns="0" bIns="0" rtlCol="0"/>
            <a:lstStyle/>
            <a:p>
              <a:endParaRPr/>
            </a:p>
          </p:txBody>
        </p:sp>
        <p:sp>
          <p:nvSpPr>
            <p:cNvPr id="46" name="object 46"/>
            <p:cNvSpPr/>
            <p:nvPr/>
          </p:nvSpPr>
          <p:spPr>
            <a:xfrm>
              <a:off x="5798996" y="2454858"/>
              <a:ext cx="710565" cy="409575"/>
            </a:xfrm>
            <a:custGeom>
              <a:avLst/>
              <a:gdLst/>
              <a:ahLst/>
              <a:cxnLst/>
              <a:rect l="l" t="t" r="r" b="b"/>
              <a:pathLst>
                <a:path w="710565" h="409575">
                  <a:moveTo>
                    <a:pt x="607755" y="409397"/>
                  </a:moveTo>
                  <a:lnTo>
                    <a:pt x="647650" y="401353"/>
                  </a:lnTo>
                  <a:lnTo>
                    <a:pt x="680198" y="379417"/>
                  </a:lnTo>
                  <a:lnTo>
                    <a:pt x="702146" y="346884"/>
                  </a:lnTo>
                  <a:lnTo>
                    <a:pt x="710241" y="307047"/>
                  </a:lnTo>
                  <a:lnTo>
                    <a:pt x="710241" y="102349"/>
                  </a:lnTo>
                  <a:lnTo>
                    <a:pt x="702148" y="62465"/>
                  </a:lnTo>
                  <a:lnTo>
                    <a:pt x="680212" y="29937"/>
                  </a:lnTo>
                  <a:lnTo>
                    <a:pt x="647698" y="8028"/>
                  </a:lnTo>
                  <a:lnTo>
                    <a:pt x="607868" y="0"/>
                  </a:ln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607868" y="409397"/>
                  </a:lnTo>
                  <a:close/>
                </a:path>
              </a:pathLst>
            </a:custGeom>
            <a:ln w="3175">
              <a:solidFill>
                <a:srgbClr val="000000"/>
              </a:solidFill>
            </a:ln>
          </p:spPr>
          <p:txBody>
            <a:bodyPr wrap="square" lIns="0" tIns="0" rIns="0" bIns="0" rtlCol="0"/>
            <a:lstStyle/>
            <a:p>
              <a:endParaRPr/>
            </a:p>
          </p:txBody>
        </p:sp>
        <p:sp>
          <p:nvSpPr>
            <p:cNvPr id="47" name="object 47"/>
            <p:cNvSpPr/>
            <p:nvPr/>
          </p:nvSpPr>
          <p:spPr>
            <a:xfrm>
              <a:off x="6617981" y="2454858"/>
              <a:ext cx="710565" cy="409575"/>
            </a:xfrm>
            <a:custGeom>
              <a:avLst/>
              <a:gdLst/>
              <a:ahLst/>
              <a:cxnLst/>
              <a:rect l="l" t="t" r="r" b="b"/>
              <a:pathLst>
                <a:path w="710565" h="409575">
                  <a:moveTo>
                    <a:pt x="607868" y="0"/>
                  </a:move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607755" y="409397"/>
                  </a:lnTo>
                  <a:lnTo>
                    <a:pt x="647650" y="401353"/>
                  </a:lnTo>
                  <a:lnTo>
                    <a:pt x="680198" y="379417"/>
                  </a:lnTo>
                  <a:lnTo>
                    <a:pt x="702146" y="346884"/>
                  </a:lnTo>
                  <a:lnTo>
                    <a:pt x="710241" y="307047"/>
                  </a:lnTo>
                  <a:lnTo>
                    <a:pt x="710241" y="102349"/>
                  </a:lnTo>
                  <a:lnTo>
                    <a:pt x="702148" y="62465"/>
                  </a:lnTo>
                  <a:lnTo>
                    <a:pt x="680212" y="29937"/>
                  </a:lnTo>
                  <a:lnTo>
                    <a:pt x="647698" y="8028"/>
                  </a:lnTo>
                  <a:lnTo>
                    <a:pt x="607868" y="0"/>
                  </a:lnTo>
                  <a:close/>
                </a:path>
              </a:pathLst>
            </a:custGeom>
            <a:solidFill>
              <a:srgbClr val="E8EDF7"/>
            </a:solidFill>
          </p:spPr>
          <p:txBody>
            <a:bodyPr wrap="square" lIns="0" tIns="0" rIns="0" bIns="0" rtlCol="0"/>
            <a:lstStyle/>
            <a:p>
              <a:endParaRPr/>
            </a:p>
          </p:txBody>
        </p:sp>
        <p:sp>
          <p:nvSpPr>
            <p:cNvPr id="48" name="object 48"/>
            <p:cNvSpPr/>
            <p:nvPr/>
          </p:nvSpPr>
          <p:spPr>
            <a:xfrm>
              <a:off x="6617981" y="2454858"/>
              <a:ext cx="710565" cy="409575"/>
            </a:xfrm>
            <a:custGeom>
              <a:avLst/>
              <a:gdLst/>
              <a:ahLst/>
              <a:cxnLst/>
              <a:rect l="l" t="t" r="r" b="b"/>
              <a:pathLst>
                <a:path w="710565" h="409575">
                  <a:moveTo>
                    <a:pt x="607755" y="409397"/>
                  </a:moveTo>
                  <a:lnTo>
                    <a:pt x="647650" y="401353"/>
                  </a:lnTo>
                  <a:lnTo>
                    <a:pt x="680198" y="379417"/>
                  </a:lnTo>
                  <a:lnTo>
                    <a:pt x="702146" y="346884"/>
                  </a:lnTo>
                  <a:lnTo>
                    <a:pt x="710241" y="307047"/>
                  </a:lnTo>
                  <a:lnTo>
                    <a:pt x="710241" y="102349"/>
                  </a:lnTo>
                  <a:lnTo>
                    <a:pt x="702148" y="62465"/>
                  </a:lnTo>
                  <a:lnTo>
                    <a:pt x="680212" y="29937"/>
                  </a:lnTo>
                  <a:lnTo>
                    <a:pt x="647698" y="8028"/>
                  </a:lnTo>
                  <a:lnTo>
                    <a:pt x="607868" y="0"/>
                  </a:ln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607868" y="409397"/>
                  </a:lnTo>
                  <a:close/>
                </a:path>
              </a:pathLst>
            </a:custGeom>
            <a:ln w="3175">
              <a:solidFill>
                <a:srgbClr val="000000"/>
              </a:solidFill>
            </a:ln>
          </p:spPr>
          <p:txBody>
            <a:bodyPr wrap="square" lIns="0" tIns="0" rIns="0" bIns="0" rtlCol="0"/>
            <a:lstStyle/>
            <a:p>
              <a:endParaRPr/>
            </a:p>
          </p:txBody>
        </p:sp>
      </p:grpSp>
      <p:sp>
        <p:nvSpPr>
          <p:cNvPr id="49" name="object 49"/>
          <p:cNvSpPr txBox="1"/>
          <p:nvPr/>
        </p:nvSpPr>
        <p:spPr>
          <a:xfrm>
            <a:off x="6003742" y="2535413"/>
            <a:ext cx="1278255" cy="785495"/>
          </a:xfrm>
          <a:prstGeom prst="rect">
            <a:avLst/>
          </a:prstGeom>
        </p:spPr>
        <p:txBody>
          <a:bodyPr vert="horz" wrap="square" lIns="0" tIns="12700" rIns="0" bIns="0" rtlCol="0">
            <a:spAutoFit/>
          </a:bodyPr>
          <a:lstStyle/>
          <a:p>
            <a:pPr marR="5080" algn="ctr">
              <a:lnSpc>
                <a:spcPct val="100000"/>
              </a:lnSpc>
              <a:spcBef>
                <a:spcPts val="100"/>
              </a:spcBef>
              <a:tabLst>
                <a:tab pos="672465" algn="l"/>
              </a:tabLst>
            </a:pPr>
            <a:r>
              <a:rPr sz="1250" spc="-20" dirty="0">
                <a:latin typeface="Times New Roman"/>
                <a:cs typeface="Times New Roman"/>
              </a:rPr>
              <a:t>Data</a:t>
            </a:r>
            <a:r>
              <a:rPr sz="1250" dirty="0">
                <a:latin typeface="Times New Roman"/>
                <a:cs typeface="Times New Roman"/>
              </a:rPr>
              <a:t>	</a:t>
            </a:r>
            <a:r>
              <a:rPr sz="1250" spc="-10" dirty="0">
                <a:latin typeface="Times New Roman"/>
                <a:cs typeface="Times New Roman"/>
              </a:rPr>
              <a:t>Metadata</a:t>
            </a:r>
            <a:endParaRPr sz="1250">
              <a:latin typeface="Times New Roman"/>
              <a:cs typeface="Times New Roman"/>
            </a:endParaRPr>
          </a:p>
          <a:p>
            <a:pPr>
              <a:lnSpc>
                <a:spcPct val="100000"/>
              </a:lnSpc>
              <a:spcBef>
                <a:spcPts val="40"/>
              </a:spcBef>
            </a:pPr>
            <a:endParaRPr sz="1250">
              <a:latin typeface="Times New Roman"/>
              <a:cs typeface="Times New Roman"/>
            </a:endParaRPr>
          </a:p>
          <a:p>
            <a:pPr marL="137795" marR="163830" algn="ctr">
              <a:lnSpc>
                <a:spcPct val="100000"/>
              </a:lnSpc>
            </a:pPr>
            <a:r>
              <a:rPr sz="1250" dirty="0">
                <a:latin typeface="Times New Roman"/>
                <a:cs typeface="Times New Roman"/>
              </a:rPr>
              <a:t>Integration</a:t>
            </a:r>
            <a:r>
              <a:rPr sz="1250" spc="5" dirty="0">
                <a:latin typeface="Times New Roman"/>
                <a:cs typeface="Times New Roman"/>
              </a:rPr>
              <a:t> </a:t>
            </a:r>
            <a:r>
              <a:rPr sz="1250" spc="-25" dirty="0">
                <a:latin typeface="Times New Roman"/>
                <a:cs typeface="Times New Roman"/>
              </a:rPr>
              <a:t>and </a:t>
            </a:r>
            <a:r>
              <a:rPr sz="1250" spc="-10" dirty="0">
                <a:latin typeface="Times New Roman"/>
                <a:cs typeface="Times New Roman"/>
              </a:rPr>
              <a:t>middleware</a:t>
            </a:r>
            <a:endParaRPr sz="1250">
              <a:latin typeface="Times New Roman"/>
              <a:cs typeface="Times New Roman"/>
            </a:endParaRPr>
          </a:p>
        </p:txBody>
      </p:sp>
      <p:grpSp>
        <p:nvGrpSpPr>
          <p:cNvPr id="50" name="object 50"/>
          <p:cNvGrpSpPr/>
          <p:nvPr/>
        </p:nvGrpSpPr>
        <p:grpSpPr>
          <a:xfrm>
            <a:off x="5791262" y="918254"/>
            <a:ext cx="1628139" cy="1435735"/>
            <a:chOff x="5791262" y="918254"/>
            <a:chExt cx="1628139" cy="1435735"/>
          </a:xfrm>
        </p:grpSpPr>
        <p:sp>
          <p:nvSpPr>
            <p:cNvPr id="51" name="object 51"/>
            <p:cNvSpPr/>
            <p:nvPr/>
          </p:nvSpPr>
          <p:spPr>
            <a:xfrm>
              <a:off x="5805366" y="1943111"/>
              <a:ext cx="1612900" cy="409575"/>
            </a:xfrm>
            <a:custGeom>
              <a:avLst/>
              <a:gdLst/>
              <a:ahLst/>
              <a:cxnLst/>
              <a:rect l="l" t="t" r="r" b="b"/>
              <a:pathLst>
                <a:path w="1612900" h="409575">
                  <a:moveTo>
                    <a:pt x="1510003" y="0"/>
                  </a:move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510003" y="409397"/>
                  </a:lnTo>
                  <a:lnTo>
                    <a:pt x="1549849" y="401353"/>
                  </a:lnTo>
                  <a:lnTo>
                    <a:pt x="1582389" y="379417"/>
                  </a:lnTo>
                  <a:lnTo>
                    <a:pt x="1604330" y="346884"/>
                  </a:lnTo>
                  <a:lnTo>
                    <a:pt x="1612376" y="307047"/>
                  </a:lnTo>
                  <a:lnTo>
                    <a:pt x="1612376" y="102349"/>
                  </a:lnTo>
                  <a:lnTo>
                    <a:pt x="1604330" y="62465"/>
                  </a:lnTo>
                  <a:lnTo>
                    <a:pt x="1582389" y="29937"/>
                  </a:lnTo>
                  <a:lnTo>
                    <a:pt x="1549849" y="8028"/>
                  </a:lnTo>
                  <a:lnTo>
                    <a:pt x="1510003" y="0"/>
                  </a:lnTo>
                  <a:close/>
                </a:path>
              </a:pathLst>
            </a:custGeom>
            <a:solidFill>
              <a:srgbClr val="E8EDF7"/>
            </a:solidFill>
          </p:spPr>
          <p:txBody>
            <a:bodyPr wrap="square" lIns="0" tIns="0" rIns="0" bIns="0" rtlCol="0"/>
            <a:lstStyle/>
            <a:p>
              <a:endParaRPr/>
            </a:p>
          </p:txBody>
        </p:sp>
        <p:sp>
          <p:nvSpPr>
            <p:cNvPr id="52" name="object 52"/>
            <p:cNvSpPr/>
            <p:nvPr/>
          </p:nvSpPr>
          <p:spPr>
            <a:xfrm>
              <a:off x="5805366" y="1943111"/>
              <a:ext cx="1612900" cy="409575"/>
            </a:xfrm>
            <a:custGeom>
              <a:avLst/>
              <a:gdLst/>
              <a:ahLst/>
              <a:cxnLst/>
              <a:rect l="l" t="t" r="r" b="b"/>
              <a:pathLst>
                <a:path w="1612900" h="409575">
                  <a:moveTo>
                    <a:pt x="1510003" y="409397"/>
                  </a:moveTo>
                  <a:lnTo>
                    <a:pt x="1549849" y="401353"/>
                  </a:lnTo>
                  <a:lnTo>
                    <a:pt x="1582389" y="379417"/>
                  </a:lnTo>
                  <a:lnTo>
                    <a:pt x="1604330" y="346884"/>
                  </a:lnTo>
                  <a:lnTo>
                    <a:pt x="1612376" y="307047"/>
                  </a:lnTo>
                  <a:lnTo>
                    <a:pt x="1612376" y="102349"/>
                  </a:lnTo>
                  <a:lnTo>
                    <a:pt x="1604330" y="62465"/>
                  </a:lnTo>
                  <a:lnTo>
                    <a:pt x="1582389" y="29937"/>
                  </a:lnTo>
                  <a:lnTo>
                    <a:pt x="1549849" y="8028"/>
                  </a:lnTo>
                  <a:lnTo>
                    <a:pt x="1510003" y="0"/>
                  </a:ln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510003" y="409397"/>
                  </a:lnTo>
                  <a:close/>
                </a:path>
              </a:pathLst>
            </a:custGeom>
            <a:ln w="3175">
              <a:solidFill>
                <a:srgbClr val="000000"/>
              </a:solidFill>
            </a:ln>
          </p:spPr>
          <p:txBody>
            <a:bodyPr wrap="square" lIns="0" tIns="0" rIns="0" bIns="0" rtlCol="0"/>
            <a:lstStyle/>
            <a:p>
              <a:endParaRPr/>
            </a:p>
          </p:txBody>
        </p:sp>
        <p:sp>
          <p:nvSpPr>
            <p:cNvPr id="53" name="object 53"/>
            <p:cNvSpPr/>
            <p:nvPr/>
          </p:nvSpPr>
          <p:spPr>
            <a:xfrm>
              <a:off x="5805366" y="1431365"/>
              <a:ext cx="1612900" cy="409575"/>
            </a:xfrm>
            <a:custGeom>
              <a:avLst/>
              <a:gdLst/>
              <a:ahLst/>
              <a:cxnLst/>
              <a:rect l="l" t="t" r="r" b="b"/>
              <a:pathLst>
                <a:path w="1612900" h="409575">
                  <a:moveTo>
                    <a:pt x="1510003" y="0"/>
                  </a:move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510003" y="409397"/>
                  </a:lnTo>
                  <a:lnTo>
                    <a:pt x="1549849" y="401353"/>
                  </a:lnTo>
                  <a:lnTo>
                    <a:pt x="1582389" y="379417"/>
                  </a:lnTo>
                  <a:lnTo>
                    <a:pt x="1604330" y="346884"/>
                  </a:lnTo>
                  <a:lnTo>
                    <a:pt x="1612376" y="307047"/>
                  </a:lnTo>
                  <a:lnTo>
                    <a:pt x="1612376" y="102349"/>
                  </a:lnTo>
                  <a:lnTo>
                    <a:pt x="1604330" y="62465"/>
                  </a:lnTo>
                  <a:lnTo>
                    <a:pt x="1582389" y="29937"/>
                  </a:lnTo>
                  <a:lnTo>
                    <a:pt x="1549849" y="8028"/>
                  </a:lnTo>
                  <a:lnTo>
                    <a:pt x="1510003" y="0"/>
                  </a:lnTo>
                  <a:close/>
                </a:path>
              </a:pathLst>
            </a:custGeom>
            <a:solidFill>
              <a:srgbClr val="E8EDF7"/>
            </a:solidFill>
          </p:spPr>
          <p:txBody>
            <a:bodyPr wrap="square" lIns="0" tIns="0" rIns="0" bIns="0" rtlCol="0"/>
            <a:lstStyle/>
            <a:p>
              <a:endParaRPr/>
            </a:p>
          </p:txBody>
        </p:sp>
        <p:sp>
          <p:nvSpPr>
            <p:cNvPr id="54" name="object 54"/>
            <p:cNvSpPr/>
            <p:nvPr/>
          </p:nvSpPr>
          <p:spPr>
            <a:xfrm>
              <a:off x="5805366" y="1431365"/>
              <a:ext cx="1612900" cy="409575"/>
            </a:xfrm>
            <a:custGeom>
              <a:avLst/>
              <a:gdLst/>
              <a:ahLst/>
              <a:cxnLst/>
              <a:rect l="l" t="t" r="r" b="b"/>
              <a:pathLst>
                <a:path w="1612900" h="409575">
                  <a:moveTo>
                    <a:pt x="1510003" y="409397"/>
                  </a:moveTo>
                  <a:lnTo>
                    <a:pt x="1549849" y="401353"/>
                  </a:lnTo>
                  <a:lnTo>
                    <a:pt x="1582389" y="379417"/>
                  </a:lnTo>
                  <a:lnTo>
                    <a:pt x="1604330" y="346884"/>
                  </a:lnTo>
                  <a:lnTo>
                    <a:pt x="1612376" y="307047"/>
                  </a:lnTo>
                  <a:lnTo>
                    <a:pt x="1612376" y="102349"/>
                  </a:lnTo>
                  <a:lnTo>
                    <a:pt x="1604330" y="62465"/>
                  </a:lnTo>
                  <a:lnTo>
                    <a:pt x="1582389" y="29937"/>
                  </a:lnTo>
                  <a:lnTo>
                    <a:pt x="1549849" y="8028"/>
                  </a:lnTo>
                  <a:lnTo>
                    <a:pt x="1510003" y="0"/>
                  </a:ln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510003" y="409397"/>
                  </a:lnTo>
                  <a:close/>
                </a:path>
              </a:pathLst>
            </a:custGeom>
            <a:ln w="3175">
              <a:solidFill>
                <a:srgbClr val="000000"/>
              </a:solidFill>
            </a:ln>
          </p:spPr>
          <p:txBody>
            <a:bodyPr wrap="square" lIns="0" tIns="0" rIns="0" bIns="0" rtlCol="0"/>
            <a:lstStyle/>
            <a:p>
              <a:endParaRPr/>
            </a:p>
          </p:txBody>
        </p:sp>
        <p:sp>
          <p:nvSpPr>
            <p:cNvPr id="55" name="object 55"/>
            <p:cNvSpPr/>
            <p:nvPr/>
          </p:nvSpPr>
          <p:spPr>
            <a:xfrm>
              <a:off x="5792626" y="919618"/>
              <a:ext cx="1612900" cy="409575"/>
            </a:xfrm>
            <a:custGeom>
              <a:avLst/>
              <a:gdLst/>
              <a:ahLst/>
              <a:cxnLst/>
              <a:rect l="l" t="t" r="r" b="b"/>
              <a:pathLst>
                <a:path w="1612900" h="409575">
                  <a:moveTo>
                    <a:pt x="1510003" y="0"/>
                  </a:moveTo>
                  <a:lnTo>
                    <a:pt x="102373" y="0"/>
                  </a:lnTo>
                  <a:lnTo>
                    <a:pt x="62479" y="8028"/>
                  </a:lnTo>
                  <a:lnTo>
                    <a:pt x="29944" y="29937"/>
                  </a:lnTo>
                  <a:lnTo>
                    <a:pt x="8029" y="62465"/>
                  </a:lnTo>
                  <a:lnTo>
                    <a:pt x="0" y="102349"/>
                  </a:lnTo>
                  <a:lnTo>
                    <a:pt x="0" y="307047"/>
                  </a:lnTo>
                  <a:lnTo>
                    <a:pt x="8029" y="346884"/>
                  </a:lnTo>
                  <a:lnTo>
                    <a:pt x="29944" y="379417"/>
                  </a:lnTo>
                  <a:lnTo>
                    <a:pt x="62479" y="401353"/>
                  </a:lnTo>
                  <a:lnTo>
                    <a:pt x="102373" y="409397"/>
                  </a:lnTo>
                  <a:lnTo>
                    <a:pt x="1509889" y="409397"/>
                  </a:lnTo>
                  <a:lnTo>
                    <a:pt x="1549785" y="401353"/>
                  </a:lnTo>
                  <a:lnTo>
                    <a:pt x="1582333" y="379417"/>
                  </a:lnTo>
                  <a:lnTo>
                    <a:pt x="1604281" y="346884"/>
                  </a:lnTo>
                  <a:lnTo>
                    <a:pt x="1612376" y="307047"/>
                  </a:lnTo>
                  <a:lnTo>
                    <a:pt x="1612376" y="102349"/>
                  </a:lnTo>
                  <a:lnTo>
                    <a:pt x="1604282" y="62465"/>
                  </a:lnTo>
                  <a:lnTo>
                    <a:pt x="1582347" y="29937"/>
                  </a:lnTo>
                  <a:lnTo>
                    <a:pt x="1549833" y="8028"/>
                  </a:lnTo>
                  <a:lnTo>
                    <a:pt x="1510003" y="0"/>
                  </a:lnTo>
                  <a:close/>
                </a:path>
              </a:pathLst>
            </a:custGeom>
            <a:solidFill>
              <a:srgbClr val="E8EDF7"/>
            </a:solidFill>
          </p:spPr>
          <p:txBody>
            <a:bodyPr wrap="square" lIns="0" tIns="0" rIns="0" bIns="0" rtlCol="0"/>
            <a:lstStyle/>
            <a:p>
              <a:endParaRPr/>
            </a:p>
          </p:txBody>
        </p:sp>
        <p:sp>
          <p:nvSpPr>
            <p:cNvPr id="56" name="object 56"/>
            <p:cNvSpPr/>
            <p:nvPr/>
          </p:nvSpPr>
          <p:spPr>
            <a:xfrm>
              <a:off x="5792626" y="919618"/>
              <a:ext cx="1612900" cy="409575"/>
            </a:xfrm>
            <a:custGeom>
              <a:avLst/>
              <a:gdLst/>
              <a:ahLst/>
              <a:cxnLst/>
              <a:rect l="l" t="t" r="r" b="b"/>
              <a:pathLst>
                <a:path w="1612900" h="409575">
                  <a:moveTo>
                    <a:pt x="1509889" y="409397"/>
                  </a:moveTo>
                  <a:lnTo>
                    <a:pt x="1549785" y="401353"/>
                  </a:lnTo>
                  <a:lnTo>
                    <a:pt x="1582332" y="379417"/>
                  </a:lnTo>
                  <a:lnTo>
                    <a:pt x="1604280" y="346884"/>
                  </a:lnTo>
                  <a:lnTo>
                    <a:pt x="1612376" y="307047"/>
                  </a:lnTo>
                  <a:lnTo>
                    <a:pt x="1612376" y="102349"/>
                  </a:lnTo>
                  <a:lnTo>
                    <a:pt x="1604282" y="62465"/>
                  </a:lnTo>
                  <a:lnTo>
                    <a:pt x="1582347" y="29937"/>
                  </a:lnTo>
                  <a:lnTo>
                    <a:pt x="1549833" y="8028"/>
                  </a:lnTo>
                  <a:lnTo>
                    <a:pt x="1510003" y="0"/>
                  </a:lnTo>
                  <a:lnTo>
                    <a:pt x="102373" y="0"/>
                  </a:lnTo>
                  <a:lnTo>
                    <a:pt x="62479" y="8028"/>
                  </a:lnTo>
                  <a:lnTo>
                    <a:pt x="29944" y="29937"/>
                  </a:lnTo>
                  <a:lnTo>
                    <a:pt x="8029" y="62465"/>
                  </a:lnTo>
                  <a:lnTo>
                    <a:pt x="0" y="102349"/>
                  </a:lnTo>
                  <a:lnTo>
                    <a:pt x="0" y="307047"/>
                  </a:lnTo>
                  <a:lnTo>
                    <a:pt x="8029" y="346884"/>
                  </a:lnTo>
                  <a:lnTo>
                    <a:pt x="29944" y="379417"/>
                  </a:lnTo>
                  <a:lnTo>
                    <a:pt x="62479" y="401353"/>
                  </a:lnTo>
                  <a:lnTo>
                    <a:pt x="102373" y="409397"/>
                  </a:lnTo>
                  <a:lnTo>
                    <a:pt x="1510003" y="409397"/>
                  </a:lnTo>
                  <a:close/>
                </a:path>
              </a:pathLst>
            </a:custGeom>
            <a:ln w="3175">
              <a:solidFill>
                <a:srgbClr val="000000"/>
              </a:solidFill>
            </a:ln>
          </p:spPr>
          <p:txBody>
            <a:bodyPr wrap="square" lIns="0" tIns="0" rIns="0" bIns="0" rtlCol="0"/>
            <a:lstStyle/>
            <a:p>
              <a:endParaRPr/>
            </a:p>
          </p:txBody>
        </p:sp>
      </p:grpSp>
      <p:sp>
        <p:nvSpPr>
          <p:cNvPr id="57" name="object 57"/>
          <p:cNvSpPr txBox="1"/>
          <p:nvPr/>
        </p:nvSpPr>
        <p:spPr>
          <a:xfrm>
            <a:off x="6204621" y="1000174"/>
            <a:ext cx="826769" cy="1240155"/>
          </a:xfrm>
          <a:prstGeom prst="rect">
            <a:avLst/>
          </a:prstGeom>
        </p:spPr>
        <p:txBody>
          <a:bodyPr vert="horz" wrap="square" lIns="0" tIns="12700" rIns="0" bIns="0" rtlCol="0">
            <a:spAutoFit/>
          </a:bodyPr>
          <a:lstStyle/>
          <a:p>
            <a:pPr marR="30480" algn="ctr">
              <a:lnSpc>
                <a:spcPct val="100000"/>
              </a:lnSpc>
              <a:spcBef>
                <a:spcPts val="100"/>
              </a:spcBef>
            </a:pPr>
            <a:r>
              <a:rPr sz="1250" spc="-10" dirty="0">
                <a:latin typeface="Times New Roman"/>
                <a:cs typeface="Times New Roman"/>
              </a:rPr>
              <a:t>Presentation</a:t>
            </a:r>
            <a:endParaRPr sz="1250">
              <a:latin typeface="Times New Roman"/>
              <a:cs typeface="Times New Roman"/>
            </a:endParaRPr>
          </a:p>
          <a:p>
            <a:pPr>
              <a:lnSpc>
                <a:spcPct val="100000"/>
              </a:lnSpc>
              <a:spcBef>
                <a:spcPts val="1095"/>
              </a:spcBef>
            </a:pPr>
            <a:endParaRPr sz="1250">
              <a:latin typeface="Times New Roman"/>
              <a:cs typeface="Times New Roman"/>
            </a:endParaRPr>
          </a:p>
          <a:p>
            <a:pPr marR="4445" algn="ctr">
              <a:lnSpc>
                <a:spcPct val="100000"/>
              </a:lnSpc>
            </a:pPr>
            <a:r>
              <a:rPr sz="1250" spc="-25" dirty="0">
                <a:latin typeface="Times New Roman"/>
                <a:cs typeface="Times New Roman"/>
              </a:rPr>
              <a:t>API</a:t>
            </a:r>
            <a:endParaRPr sz="1250">
              <a:latin typeface="Times New Roman"/>
              <a:cs typeface="Times New Roman"/>
            </a:endParaRPr>
          </a:p>
          <a:p>
            <a:pPr>
              <a:lnSpc>
                <a:spcPct val="100000"/>
              </a:lnSpc>
              <a:spcBef>
                <a:spcPts val="1090"/>
              </a:spcBef>
            </a:pPr>
            <a:endParaRPr sz="1250">
              <a:latin typeface="Times New Roman"/>
              <a:cs typeface="Times New Roman"/>
            </a:endParaRPr>
          </a:p>
          <a:p>
            <a:pPr marR="5080" algn="ctr">
              <a:lnSpc>
                <a:spcPct val="100000"/>
              </a:lnSpc>
            </a:pPr>
            <a:r>
              <a:rPr sz="1250" spc="-10" dirty="0">
                <a:latin typeface="Times New Roman"/>
                <a:cs typeface="Times New Roman"/>
              </a:rPr>
              <a:t>Applications</a:t>
            </a:r>
            <a:endParaRPr sz="1250">
              <a:latin typeface="Times New Roman"/>
              <a:cs typeface="Times New Roman"/>
            </a:endParaRPr>
          </a:p>
        </p:txBody>
      </p:sp>
      <p:sp>
        <p:nvSpPr>
          <p:cNvPr id="58" name="object 58"/>
          <p:cNvSpPr txBox="1"/>
          <p:nvPr/>
        </p:nvSpPr>
        <p:spPr>
          <a:xfrm>
            <a:off x="5690253" y="459047"/>
            <a:ext cx="1842770" cy="307340"/>
          </a:xfrm>
          <a:prstGeom prst="rect">
            <a:avLst/>
          </a:prstGeom>
          <a:solidFill>
            <a:srgbClr val="F1F1F1"/>
          </a:solidFill>
        </p:spPr>
        <p:txBody>
          <a:bodyPr vert="horz" wrap="square" lIns="0" tIns="60960" rIns="0" bIns="0" rtlCol="0">
            <a:spAutoFit/>
          </a:bodyPr>
          <a:lstStyle/>
          <a:p>
            <a:pPr marL="199390">
              <a:lnSpc>
                <a:spcPct val="100000"/>
              </a:lnSpc>
              <a:spcBef>
                <a:spcPts val="480"/>
              </a:spcBef>
            </a:pPr>
            <a:r>
              <a:rPr sz="1050" dirty="0">
                <a:latin typeface="Calibri"/>
                <a:cs typeface="Calibri"/>
              </a:rPr>
              <a:t>Infrastructure</a:t>
            </a:r>
            <a:r>
              <a:rPr sz="1050" spc="45" dirty="0">
                <a:latin typeface="Calibri"/>
                <a:cs typeface="Calibri"/>
              </a:rPr>
              <a:t> </a:t>
            </a:r>
            <a:r>
              <a:rPr sz="1050" dirty="0">
                <a:latin typeface="Calibri"/>
                <a:cs typeface="Calibri"/>
              </a:rPr>
              <a:t>as</a:t>
            </a:r>
            <a:r>
              <a:rPr sz="1050" spc="50" dirty="0">
                <a:latin typeface="Calibri"/>
                <a:cs typeface="Calibri"/>
              </a:rPr>
              <a:t> </a:t>
            </a:r>
            <a:r>
              <a:rPr sz="1050" dirty="0">
                <a:latin typeface="Calibri"/>
                <a:cs typeface="Calibri"/>
              </a:rPr>
              <a:t>a</a:t>
            </a:r>
            <a:r>
              <a:rPr sz="1050" spc="50" dirty="0">
                <a:latin typeface="Calibri"/>
                <a:cs typeface="Calibri"/>
              </a:rPr>
              <a:t> </a:t>
            </a:r>
            <a:r>
              <a:rPr sz="1050" spc="-10" dirty="0">
                <a:latin typeface="Calibri"/>
                <a:cs typeface="Calibri"/>
              </a:rPr>
              <a:t>Service</a:t>
            </a:r>
            <a:endParaRPr sz="1050">
              <a:latin typeface="Calibri"/>
              <a:cs typeface="Calibri"/>
            </a:endParaRPr>
          </a:p>
        </p:txBody>
      </p:sp>
      <p:grpSp>
        <p:nvGrpSpPr>
          <p:cNvPr id="59" name="object 59"/>
          <p:cNvGrpSpPr/>
          <p:nvPr/>
        </p:nvGrpSpPr>
        <p:grpSpPr>
          <a:xfrm>
            <a:off x="3559527" y="2861470"/>
            <a:ext cx="1823720" cy="3275329"/>
            <a:chOff x="3559527" y="2861470"/>
            <a:chExt cx="1823720" cy="3275329"/>
          </a:xfrm>
        </p:grpSpPr>
        <p:sp>
          <p:nvSpPr>
            <p:cNvPr id="60" name="object 60"/>
            <p:cNvSpPr/>
            <p:nvPr/>
          </p:nvSpPr>
          <p:spPr>
            <a:xfrm>
              <a:off x="3559527" y="2861470"/>
              <a:ext cx="1823720" cy="3275329"/>
            </a:xfrm>
            <a:custGeom>
              <a:avLst/>
              <a:gdLst/>
              <a:ahLst/>
              <a:cxnLst/>
              <a:rect l="l" t="t" r="r" b="b"/>
              <a:pathLst>
                <a:path w="1823720" h="3275329">
                  <a:moveTo>
                    <a:pt x="1823492" y="0"/>
                  </a:moveTo>
                  <a:lnTo>
                    <a:pt x="0" y="0"/>
                  </a:lnTo>
                  <a:lnTo>
                    <a:pt x="0" y="3275177"/>
                  </a:lnTo>
                  <a:lnTo>
                    <a:pt x="1823492" y="3275177"/>
                  </a:lnTo>
                  <a:lnTo>
                    <a:pt x="1823492" y="0"/>
                  </a:lnTo>
                  <a:close/>
                </a:path>
              </a:pathLst>
            </a:custGeom>
            <a:solidFill>
              <a:srgbClr val="A4A4A4"/>
            </a:solidFill>
          </p:spPr>
          <p:txBody>
            <a:bodyPr wrap="square" lIns="0" tIns="0" rIns="0" bIns="0" rtlCol="0"/>
            <a:lstStyle/>
            <a:p>
              <a:endParaRPr/>
            </a:p>
          </p:txBody>
        </p:sp>
        <p:sp>
          <p:nvSpPr>
            <p:cNvPr id="61" name="object 61"/>
            <p:cNvSpPr/>
            <p:nvPr/>
          </p:nvSpPr>
          <p:spPr>
            <a:xfrm>
              <a:off x="3673503" y="5624900"/>
              <a:ext cx="1595755" cy="409575"/>
            </a:xfrm>
            <a:custGeom>
              <a:avLst/>
              <a:gdLst/>
              <a:ahLst/>
              <a:cxnLst/>
              <a:rect l="l" t="t" r="r" b="b"/>
              <a:pathLst>
                <a:path w="1595754" h="409575">
                  <a:moveTo>
                    <a:pt x="1493282" y="0"/>
                  </a:move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493282" y="409397"/>
                  </a:lnTo>
                  <a:lnTo>
                    <a:pt x="1533128" y="401354"/>
                  </a:lnTo>
                  <a:lnTo>
                    <a:pt x="1565668" y="379421"/>
                  </a:lnTo>
                  <a:lnTo>
                    <a:pt x="1587609" y="346888"/>
                  </a:lnTo>
                  <a:lnTo>
                    <a:pt x="1595655" y="307047"/>
                  </a:lnTo>
                  <a:lnTo>
                    <a:pt x="1595655" y="102349"/>
                  </a:lnTo>
                  <a:lnTo>
                    <a:pt x="1587609" y="62513"/>
                  </a:lnTo>
                  <a:lnTo>
                    <a:pt x="1565668" y="29979"/>
                  </a:lnTo>
                  <a:lnTo>
                    <a:pt x="1533128" y="8044"/>
                  </a:lnTo>
                  <a:lnTo>
                    <a:pt x="1493282" y="0"/>
                  </a:lnTo>
                  <a:close/>
                </a:path>
              </a:pathLst>
            </a:custGeom>
            <a:solidFill>
              <a:srgbClr val="E8EDF7"/>
            </a:solidFill>
          </p:spPr>
          <p:txBody>
            <a:bodyPr wrap="square" lIns="0" tIns="0" rIns="0" bIns="0" rtlCol="0"/>
            <a:lstStyle/>
            <a:p>
              <a:endParaRPr/>
            </a:p>
          </p:txBody>
        </p:sp>
        <p:sp>
          <p:nvSpPr>
            <p:cNvPr id="62" name="object 62"/>
            <p:cNvSpPr/>
            <p:nvPr/>
          </p:nvSpPr>
          <p:spPr>
            <a:xfrm>
              <a:off x="3673503" y="5624900"/>
              <a:ext cx="1595755" cy="409575"/>
            </a:xfrm>
            <a:custGeom>
              <a:avLst/>
              <a:gdLst/>
              <a:ahLst/>
              <a:cxnLst/>
              <a:rect l="l" t="t" r="r" b="b"/>
              <a:pathLst>
                <a:path w="1595754" h="409575">
                  <a:moveTo>
                    <a:pt x="1493282" y="409397"/>
                  </a:moveTo>
                  <a:lnTo>
                    <a:pt x="1533128" y="401354"/>
                  </a:lnTo>
                  <a:lnTo>
                    <a:pt x="1565668" y="379421"/>
                  </a:lnTo>
                  <a:lnTo>
                    <a:pt x="1587609" y="346888"/>
                  </a:lnTo>
                  <a:lnTo>
                    <a:pt x="1595655" y="307047"/>
                  </a:lnTo>
                  <a:lnTo>
                    <a:pt x="1595655" y="102349"/>
                  </a:lnTo>
                  <a:lnTo>
                    <a:pt x="1587609" y="62513"/>
                  </a:lnTo>
                  <a:lnTo>
                    <a:pt x="1565668" y="29979"/>
                  </a:lnTo>
                  <a:lnTo>
                    <a:pt x="1533128" y="8044"/>
                  </a:lnTo>
                  <a:lnTo>
                    <a:pt x="1493282" y="0"/>
                  </a:ln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493282" y="409397"/>
                  </a:lnTo>
                  <a:close/>
                </a:path>
              </a:pathLst>
            </a:custGeom>
            <a:ln w="3175">
              <a:solidFill>
                <a:srgbClr val="000000"/>
              </a:solidFill>
            </a:ln>
          </p:spPr>
          <p:txBody>
            <a:bodyPr wrap="square" lIns="0" tIns="0" rIns="0" bIns="0" rtlCol="0"/>
            <a:lstStyle/>
            <a:p>
              <a:endParaRPr/>
            </a:p>
          </p:txBody>
        </p:sp>
        <p:sp>
          <p:nvSpPr>
            <p:cNvPr id="63" name="object 63"/>
            <p:cNvSpPr/>
            <p:nvPr/>
          </p:nvSpPr>
          <p:spPr>
            <a:xfrm>
              <a:off x="3673503" y="5113153"/>
              <a:ext cx="1595755" cy="409575"/>
            </a:xfrm>
            <a:custGeom>
              <a:avLst/>
              <a:gdLst/>
              <a:ahLst/>
              <a:cxnLst/>
              <a:rect l="l" t="t" r="r" b="b"/>
              <a:pathLst>
                <a:path w="1595754" h="409575">
                  <a:moveTo>
                    <a:pt x="1493282" y="0"/>
                  </a:move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493282" y="409397"/>
                  </a:lnTo>
                  <a:lnTo>
                    <a:pt x="1533128" y="401354"/>
                  </a:lnTo>
                  <a:lnTo>
                    <a:pt x="1565668" y="379421"/>
                  </a:lnTo>
                  <a:lnTo>
                    <a:pt x="1587609" y="346888"/>
                  </a:lnTo>
                  <a:lnTo>
                    <a:pt x="1595655" y="307047"/>
                  </a:lnTo>
                  <a:lnTo>
                    <a:pt x="1595655" y="102349"/>
                  </a:lnTo>
                  <a:lnTo>
                    <a:pt x="1587609" y="62513"/>
                  </a:lnTo>
                  <a:lnTo>
                    <a:pt x="1565668" y="29979"/>
                  </a:lnTo>
                  <a:lnTo>
                    <a:pt x="1533128" y="8044"/>
                  </a:lnTo>
                  <a:lnTo>
                    <a:pt x="1493282" y="0"/>
                  </a:lnTo>
                  <a:close/>
                </a:path>
              </a:pathLst>
            </a:custGeom>
            <a:solidFill>
              <a:srgbClr val="E8EDF7"/>
            </a:solidFill>
          </p:spPr>
          <p:txBody>
            <a:bodyPr wrap="square" lIns="0" tIns="0" rIns="0" bIns="0" rtlCol="0"/>
            <a:lstStyle/>
            <a:p>
              <a:endParaRPr/>
            </a:p>
          </p:txBody>
        </p:sp>
        <p:sp>
          <p:nvSpPr>
            <p:cNvPr id="64" name="object 64"/>
            <p:cNvSpPr/>
            <p:nvPr/>
          </p:nvSpPr>
          <p:spPr>
            <a:xfrm>
              <a:off x="3673503" y="5113153"/>
              <a:ext cx="1595755" cy="409575"/>
            </a:xfrm>
            <a:custGeom>
              <a:avLst/>
              <a:gdLst/>
              <a:ahLst/>
              <a:cxnLst/>
              <a:rect l="l" t="t" r="r" b="b"/>
              <a:pathLst>
                <a:path w="1595754" h="409575">
                  <a:moveTo>
                    <a:pt x="1493282" y="409397"/>
                  </a:moveTo>
                  <a:lnTo>
                    <a:pt x="1533128" y="401354"/>
                  </a:lnTo>
                  <a:lnTo>
                    <a:pt x="1565668" y="379421"/>
                  </a:lnTo>
                  <a:lnTo>
                    <a:pt x="1587609" y="346888"/>
                  </a:lnTo>
                  <a:lnTo>
                    <a:pt x="1595655" y="307047"/>
                  </a:lnTo>
                  <a:lnTo>
                    <a:pt x="1595655" y="102349"/>
                  </a:lnTo>
                  <a:lnTo>
                    <a:pt x="1587609" y="62513"/>
                  </a:lnTo>
                  <a:lnTo>
                    <a:pt x="1565668" y="29979"/>
                  </a:lnTo>
                  <a:lnTo>
                    <a:pt x="1533128" y="8044"/>
                  </a:lnTo>
                  <a:lnTo>
                    <a:pt x="1493282" y="0"/>
                  </a:lnTo>
                  <a:lnTo>
                    <a:pt x="102373" y="0"/>
                  </a:lnTo>
                  <a:lnTo>
                    <a:pt x="62527" y="8044"/>
                  </a:lnTo>
                  <a:lnTo>
                    <a:pt x="29986" y="29979"/>
                  </a:lnTo>
                  <a:lnTo>
                    <a:pt x="8045" y="62513"/>
                  </a:lnTo>
                  <a:lnTo>
                    <a:pt x="0" y="102349"/>
                  </a:lnTo>
                  <a:lnTo>
                    <a:pt x="0" y="307047"/>
                  </a:lnTo>
                  <a:lnTo>
                    <a:pt x="8045" y="346888"/>
                  </a:lnTo>
                  <a:lnTo>
                    <a:pt x="29986" y="379421"/>
                  </a:lnTo>
                  <a:lnTo>
                    <a:pt x="62527" y="401354"/>
                  </a:lnTo>
                  <a:lnTo>
                    <a:pt x="102373" y="409397"/>
                  </a:lnTo>
                  <a:lnTo>
                    <a:pt x="1493282" y="409397"/>
                  </a:lnTo>
                  <a:close/>
                </a:path>
              </a:pathLst>
            </a:custGeom>
            <a:ln w="3175">
              <a:solidFill>
                <a:srgbClr val="000000"/>
              </a:solidFill>
            </a:ln>
          </p:spPr>
          <p:txBody>
            <a:bodyPr wrap="square" lIns="0" tIns="0" rIns="0" bIns="0" rtlCol="0"/>
            <a:lstStyle/>
            <a:p>
              <a:endParaRPr/>
            </a:p>
          </p:txBody>
        </p:sp>
        <p:sp>
          <p:nvSpPr>
            <p:cNvPr id="65" name="object 65"/>
            <p:cNvSpPr/>
            <p:nvPr/>
          </p:nvSpPr>
          <p:spPr>
            <a:xfrm>
              <a:off x="4585306" y="3987368"/>
              <a:ext cx="683895" cy="1023619"/>
            </a:xfrm>
            <a:custGeom>
              <a:avLst/>
              <a:gdLst/>
              <a:ahLst/>
              <a:cxnLst/>
              <a:rect l="l" t="t" r="r" b="b"/>
              <a:pathLst>
                <a:path w="683895" h="1023620">
                  <a:moveTo>
                    <a:pt x="581479" y="0"/>
                  </a:moveTo>
                  <a:lnTo>
                    <a:pt x="102373" y="0"/>
                  </a:lnTo>
                  <a:lnTo>
                    <a:pt x="62527" y="8028"/>
                  </a:lnTo>
                  <a:lnTo>
                    <a:pt x="29986" y="29937"/>
                  </a:lnTo>
                  <a:lnTo>
                    <a:pt x="8045" y="62465"/>
                  </a:lnTo>
                  <a:lnTo>
                    <a:pt x="0" y="102349"/>
                  </a:lnTo>
                  <a:lnTo>
                    <a:pt x="0" y="921143"/>
                  </a:lnTo>
                  <a:lnTo>
                    <a:pt x="8045" y="960979"/>
                  </a:lnTo>
                  <a:lnTo>
                    <a:pt x="29986" y="993513"/>
                  </a:lnTo>
                  <a:lnTo>
                    <a:pt x="62527" y="1015448"/>
                  </a:lnTo>
                  <a:lnTo>
                    <a:pt x="102373" y="1023492"/>
                  </a:lnTo>
                  <a:lnTo>
                    <a:pt x="581479" y="1023492"/>
                  </a:lnTo>
                  <a:lnTo>
                    <a:pt x="621324" y="1015448"/>
                  </a:lnTo>
                  <a:lnTo>
                    <a:pt x="653865" y="993513"/>
                  </a:lnTo>
                  <a:lnTo>
                    <a:pt x="675806" y="960979"/>
                  </a:lnTo>
                  <a:lnTo>
                    <a:pt x="683852" y="921143"/>
                  </a:lnTo>
                  <a:lnTo>
                    <a:pt x="683852" y="102349"/>
                  </a:lnTo>
                  <a:lnTo>
                    <a:pt x="675806" y="62465"/>
                  </a:lnTo>
                  <a:lnTo>
                    <a:pt x="653865" y="29937"/>
                  </a:lnTo>
                  <a:lnTo>
                    <a:pt x="621324" y="8028"/>
                  </a:lnTo>
                  <a:lnTo>
                    <a:pt x="581479" y="0"/>
                  </a:lnTo>
                  <a:close/>
                </a:path>
              </a:pathLst>
            </a:custGeom>
            <a:solidFill>
              <a:srgbClr val="E8EDF7"/>
            </a:solidFill>
          </p:spPr>
          <p:txBody>
            <a:bodyPr wrap="square" lIns="0" tIns="0" rIns="0" bIns="0" rtlCol="0"/>
            <a:lstStyle/>
            <a:p>
              <a:endParaRPr/>
            </a:p>
          </p:txBody>
        </p:sp>
        <p:sp>
          <p:nvSpPr>
            <p:cNvPr id="66" name="object 66"/>
            <p:cNvSpPr/>
            <p:nvPr/>
          </p:nvSpPr>
          <p:spPr>
            <a:xfrm>
              <a:off x="4585306" y="3987368"/>
              <a:ext cx="683895" cy="1023619"/>
            </a:xfrm>
            <a:custGeom>
              <a:avLst/>
              <a:gdLst/>
              <a:ahLst/>
              <a:cxnLst/>
              <a:rect l="l" t="t" r="r" b="b"/>
              <a:pathLst>
                <a:path w="683895" h="1023620">
                  <a:moveTo>
                    <a:pt x="0" y="921143"/>
                  </a:moveTo>
                  <a:lnTo>
                    <a:pt x="8045" y="960979"/>
                  </a:lnTo>
                  <a:lnTo>
                    <a:pt x="29986" y="993513"/>
                  </a:lnTo>
                  <a:lnTo>
                    <a:pt x="62527" y="1015448"/>
                  </a:lnTo>
                  <a:lnTo>
                    <a:pt x="102373" y="1023492"/>
                  </a:lnTo>
                  <a:lnTo>
                    <a:pt x="581479" y="1023492"/>
                  </a:lnTo>
                  <a:lnTo>
                    <a:pt x="621324" y="1015448"/>
                  </a:lnTo>
                  <a:lnTo>
                    <a:pt x="653865" y="993513"/>
                  </a:lnTo>
                  <a:lnTo>
                    <a:pt x="675806" y="960979"/>
                  </a:lnTo>
                  <a:lnTo>
                    <a:pt x="683852" y="921143"/>
                  </a:lnTo>
                  <a:lnTo>
                    <a:pt x="683852" y="102349"/>
                  </a:lnTo>
                  <a:lnTo>
                    <a:pt x="675806" y="62465"/>
                  </a:lnTo>
                  <a:lnTo>
                    <a:pt x="653865" y="29937"/>
                  </a:lnTo>
                  <a:lnTo>
                    <a:pt x="621324" y="8028"/>
                  </a:lnTo>
                  <a:lnTo>
                    <a:pt x="581479" y="0"/>
                  </a:lnTo>
                  <a:lnTo>
                    <a:pt x="102373" y="0"/>
                  </a:lnTo>
                  <a:lnTo>
                    <a:pt x="62527" y="8028"/>
                  </a:lnTo>
                  <a:lnTo>
                    <a:pt x="29986" y="29937"/>
                  </a:lnTo>
                  <a:lnTo>
                    <a:pt x="8045" y="62465"/>
                  </a:lnTo>
                  <a:lnTo>
                    <a:pt x="0" y="102349"/>
                  </a:lnTo>
                  <a:lnTo>
                    <a:pt x="0" y="921143"/>
                  </a:lnTo>
                  <a:close/>
                </a:path>
              </a:pathLst>
            </a:custGeom>
            <a:ln w="3175">
              <a:solidFill>
                <a:srgbClr val="000000"/>
              </a:solidFill>
            </a:ln>
          </p:spPr>
          <p:txBody>
            <a:bodyPr wrap="square" lIns="0" tIns="0" rIns="0" bIns="0" rtlCol="0"/>
            <a:lstStyle/>
            <a:p>
              <a:endParaRPr/>
            </a:p>
          </p:txBody>
        </p:sp>
      </p:grpSp>
      <p:sp>
        <p:nvSpPr>
          <p:cNvPr id="67" name="object 67"/>
          <p:cNvSpPr txBox="1"/>
          <p:nvPr/>
        </p:nvSpPr>
        <p:spPr>
          <a:xfrm>
            <a:off x="4736764" y="4092938"/>
            <a:ext cx="393065" cy="812800"/>
          </a:xfrm>
          <a:prstGeom prst="rect">
            <a:avLst/>
          </a:prstGeom>
        </p:spPr>
        <p:txBody>
          <a:bodyPr vert="vert" wrap="square" lIns="0" tIns="1905" rIns="0" bIns="0" rtlCol="0">
            <a:spAutoFit/>
          </a:bodyPr>
          <a:lstStyle/>
          <a:p>
            <a:pPr marL="12700" marR="5080" indent="238125">
              <a:lnSpc>
                <a:spcPts val="1500"/>
              </a:lnSpc>
              <a:spcBef>
                <a:spcPts val="15"/>
              </a:spcBef>
            </a:pPr>
            <a:r>
              <a:rPr sz="1250" spc="-20" dirty="0">
                <a:latin typeface="Times New Roman"/>
                <a:cs typeface="Times New Roman"/>
              </a:rPr>
              <a:t>Core </a:t>
            </a:r>
            <a:r>
              <a:rPr sz="1250" spc="-10" dirty="0">
                <a:latin typeface="Times New Roman"/>
                <a:cs typeface="Times New Roman"/>
              </a:rPr>
              <a:t>connectivity</a:t>
            </a:r>
            <a:endParaRPr sz="1250">
              <a:latin typeface="Times New Roman"/>
              <a:cs typeface="Times New Roman"/>
            </a:endParaRPr>
          </a:p>
        </p:txBody>
      </p:sp>
      <p:grpSp>
        <p:nvGrpSpPr>
          <p:cNvPr id="68" name="object 68"/>
          <p:cNvGrpSpPr/>
          <p:nvPr/>
        </p:nvGrpSpPr>
        <p:grpSpPr>
          <a:xfrm>
            <a:off x="3671915" y="3985780"/>
            <a:ext cx="687070" cy="1026794"/>
            <a:chOff x="3671915" y="3985780"/>
            <a:chExt cx="687070" cy="1026794"/>
          </a:xfrm>
        </p:grpSpPr>
        <p:sp>
          <p:nvSpPr>
            <p:cNvPr id="69" name="object 69"/>
            <p:cNvSpPr/>
            <p:nvPr/>
          </p:nvSpPr>
          <p:spPr>
            <a:xfrm>
              <a:off x="3673503" y="3987368"/>
              <a:ext cx="683895" cy="1023619"/>
            </a:xfrm>
            <a:custGeom>
              <a:avLst/>
              <a:gdLst/>
              <a:ahLst/>
              <a:cxnLst/>
              <a:rect l="l" t="t" r="r" b="b"/>
              <a:pathLst>
                <a:path w="683895" h="1023620">
                  <a:moveTo>
                    <a:pt x="581479" y="0"/>
                  </a:moveTo>
                  <a:lnTo>
                    <a:pt x="102373" y="0"/>
                  </a:lnTo>
                  <a:lnTo>
                    <a:pt x="62527" y="8028"/>
                  </a:lnTo>
                  <a:lnTo>
                    <a:pt x="29986" y="29937"/>
                  </a:lnTo>
                  <a:lnTo>
                    <a:pt x="8045" y="62465"/>
                  </a:lnTo>
                  <a:lnTo>
                    <a:pt x="0" y="102349"/>
                  </a:lnTo>
                  <a:lnTo>
                    <a:pt x="0" y="921143"/>
                  </a:lnTo>
                  <a:lnTo>
                    <a:pt x="8045" y="960979"/>
                  </a:lnTo>
                  <a:lnTo>
                    <a:pt x="29986" y="993513"/>
                  </a:lnTo>
                  <a:lnTo>
                    <a:pt x="62527" y="1015448"/>
                  </a:lnTo>
                  <a:lnTo>
                    <a:pt x="102373" y="1023492"/>
                  </a:lnTo>
                  <a:lnTo>
                    <a:pt x="581479" y="1023492"/>
                  </a:lnTo>
                  <a:lnTo>
                    <a:pt x="621324" y="1015448"/>
                  </a:lnTo>
                  <a:lnTo>
                    <a:pt x="653865" y="993513"/>
                  </a:lnTo>
                  <a:lnTo>
                    <a:pt x="675806" y="960979"/>
                  </a:lnTo>
                  <a:lnTo>
                    <a:pt x="683852" y="921143"/>
                  </a:lnTo>
                  <a:lnTo>
                    <a:pt x="683852" y="102349"/>
                  </a:lnTo>
                  <a:lnTo>
                    <a:pt x="675806" y="62465"/>
                  </a:lnTo>
                  <a:lnTo>
                    <a:pt x="653865" y="29937"/>
                  </a:lnTo>
                  <a:lnTo>
                    <a:pt x="621324" y="8028"/>
                  </a:lnTo>
                  <a:lnTo>
                    <a:pt x="581479" y="0"/>
                  </a:lnTo>
                  <a:close/>
                </a:path>
              </a:pathLst>
            </a:custGeom>
            <a:solidFill>
              <a:srgbClr val="E8EDF7"/>
            </a:solidFill>
          </p:spPr>
          <p:txBody>
            <a:bodyPr wrap="square" lIns="0" tIns="0" rIns="0" bIns="0" rtlCol="0"/>
            <a:lstStyle/>
            <a:p>
              <a:endParaRPr/>
            </a:p>
          </p:txBody>
        </p:sp>
        <p:sp>
          <p:nvSpPr>
            <p:cNvPr id="70" name="object 70"/>
            <p:cNvSpPr/>
            <p:nvPr/>
          </p:nvSpPr>
          <p:spPr>
            <a:xfrm>
              <a:off x="3673503" y="3987368"/>
              <a:ext cx="683895" cy="1023619"/>
            </a:xfrm>
            <a:custGeom>
              <a:avLst/>
              <a:gdLst/>
              <a:ahLst/>
              <a:cxnLst/>
              <a:rect l="l" t="t" r="r" b="b"/>
              <a:pathLst>
                <a:path w="683895" h="1023620">
                  <a:moveTo>
                    <a:pt x="0" y="921143"/>
                  </a:moveTo>
                  <a:lnTo>
                    <a:pt x="8045" y="960979"/>
                  </a:lnTo>
                  <a:lnTo>
                    <a:pt x="29986" y="993513"/>
                  </a:lnTo>
                  <a:lnTo>
                    <a:pt x="62527" y="1015448"/>
                  </a:lnTo>
                  <a:lnTo>
                    <a:pt x="102373" y="1023492"/>
                  </a:lnTo>
                  <a:lnTo>
                    <a:pt x="581479" y="1023492"/>
                  </a:lnTo>
                  <a:lnTo>
                    <a:pt x="621324" y="1015448"/>
                  </a:lnTo>
                  <a:lnTo>
                    <a:pt x="653865" y="993513"/>
                  </a:lnTo>
                  <a:lnTo>
                    <a:pt x="675806" y="960979"/>
                  </a:lnTo>
                  <a:lnTo>
                    <a:pt x="683852" y="921143"/>
                  </a:lnTo>
                  <a:lnTo>
                    <a:pt x="683852" y="102349"/>
                  </a:lnTo>
                  <a:lnTo>
                    <a:pt x="675806" y="62465"/>
                  </a:lnTo>
                  <a:lnTo>
                    <a:pt x="653865" y="29937"/>
                  </a:lnTo>
                  <a:lnTo>
                    <a:pt x="621324" y="8028"/>
                  </a:lnTo>
                  <a:lnTo>
                    <a:pt x="581479" y="0"/>
                  </a:lnTo>
                  <a:lnTo>
                    <a:pt x="102373" y="0"/>
                  </a:lnTo>
                  <a:lnTo>
                    <a:pt x="62527" y="8028"/>
                  </a:lnTo>
                  <a:lnTo>
                    <a:pt x="29986" y="29937"/>
                  </a:lnTo>
                  <a:lnTo>
                    <a:pt x="8045" y="62465"/>
                  </a:lnTo>
                  <a:lnTo>
                    <a:pt x="0" y="102349"/>
                  </a:lnTo>
                  <a:lnTo>
                    <a:pt x="0" y="921143"/>
                  </a:lnTo>
                  <a:close/>
                </a:path>
              </a:pathLst>
            </a:custGeom>
            <a:ln w="3175">
              <a:solidFill>
                <a:srgbClr val="000000"/>
              </a:solidFill>
            </a:ln>
          </p:spPr>
          <p:txBody>
            <a:bodyPr wrap="square" lIns="0" tIns="0" rIns="0" bIns="0" rtlCol="0"/>
            <a:lstStyle/>
            <a:p>
              <a:endParaRPr/>
            </a:p>
          </p:txBody>
        </p:sp>
      </p:grpSp>
      <p:sp>
        <p:nvSpPr>
          <p:cNvPr id="71" name="object 71"/>
          <p:cNvSpPr txBox="1"/>
          <p:nvPr/>
        </p:nvSpPr>
        <p:spPr>
          <a:xfrm>
            <a:off x="3920509" y="4115000"/>
            <a:ext cx="201930" cy="768350"/>
          </a:xfrm>
          <a:prstGeom prst="rect">
            <a:avLst/>
          </a:prstGeom>
        </p:spPr>
        <p:txBody>
          <a:bodyPr vert="vert" wrap="square" lIns="0" tIns="0" rIns="0" bIns="0" rtlCol="0">
            <a:spAutoFit/>
          </a:bodyPr>
          <a:lstStyle/>
          <a:p>
            <a:pPr marL="12700">
              <a:lnSpc>
                <a:spcPts val="1465"/>
              </a:lnSpc>
            </a:pPr>
            <a:r>
              <a:rPr sz="1250" spc="-10" dirty="0">
                <a:latin typeface="Times New Roman"/>
                <a:cs typeface="Times New Roman"/>
              </a:rPr>
              <a:t>Abstraction</a:t>
            </a:r>
            <a:endParaRPr sz="1250">
              <a:latin typeface="Times New Roman"/>
              <a:cs typeface="Times New Roman"/>
            </a:endParaRPr>
          </a:p>
        </p:txBody>
      </p:sp>
      <p:grpSp>
        <p:nvGrpSpPr>
          <p:cNvPr id="72" name="object 72"/>
          <p:cNvGrpSpPr/>
          <p:nvPr/>
        </p:nvGrpSpPr>
        <p:grpSpPr>
          <a:xfrm>
            <a:off x="3672138" y="2924072"/>
            <a:ext cx="1612900" cy="962660"/>
            <a:chOff x="3672138" y="2924072"/>
            <a:chExt cx="1612900" cy="962660"/>
          </a:xfrm>
        </p:grpSpPr>
        <p:sp>
          <p:nvSpPr>
            <p:cNvPr id="73" name="object 73"/>
            <p:cNvSpPr/>
            <p:nvPr/>
          </p:nvSpPr>
          <p:spPr>
            <a:xfrm>
              <a:off x="3673503" y="3475621"/>
              <a:ext cx="1595755" cy="409575"/>
            </a:xfrm>
            <a:custGeom>
              <a:avLst/>
              <a:gdLst/>
              <a:ahLst/>
              <a:cxnLst/>
              <a:rect l="l" t="t" r="r" b="b"/>
              <a:pathLst>
                <a:path w="1595754" h="409575">
                  <a:moveTo>
                    <a:pt x="1493282" y="0"/>
                  </a:move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493282" y="409397"/>
                  </a:lnTo>
                  <a:lnTo>
                    <a:pt x="1533128" y="401353"/>
                  </a:lnTo>
                  <a:lnTo>
                    <a:pt x="1565668" y="379417"/>
                  </a:lnTo>
                  <a:lnTo>
                    <a:pt x="1587609" y="346884"/>
                  </a:lnTo>
                  <a:lnTo>
                    <a:pt x="1595655" y="307047"/>
                  </a:lnTo>
                  <a:lnTo>
                    <a:pt x="1595655" y="102349"/>
                  </a:lnTo>
                  <a:lnTo>
                    <a:pt x="1587609" y="62465"/>
                  </a:lnTo>
                  <a:lnTo>
                    <a:pt x="1565668" y="29937"/>
                  </a:lnTo>
                  <a:lnTo>
                    <a:pt x="1533128" y="8028"/>
                  </a:lnTo>
                  <a:lnTo>
                    <a:pt x="1493282" y="0"/>
                  </a:lnTo>
                  <a:close/>
                </a:path>
              </a:pathLst>
            </a:custGeom>
            <a:solidFill>
              <a:srgbClr val="E8EDF7"/>
            </a:solidFill>
          </p:spPr>
          <p:txBody>
            <a:bodyPr wrap="square" lIns="0" tIns="0" rIns="0" bIns="0" rtlCol="0"/>
            <a:lstStyle/>
            <a:p>
              <a:endParaRPr/>
            </a:p>
          </p:txBody>
        </p:sp>
        <p:sp>
          <p:nvSpPr>
            <p:cNvPr id="74" name="object 74"/>
            <p:cNvSpPr/>
            <p:nvPr/>
          </p:nvSpPr>
          <p:spPr>
            <a:xfrm>
              <a:off x="3673503" y="3475621"/>
              <a:ext cx="1595755" cy="409575"/>
            </a:xfrm>
            <a:custGeom>
              <a:avLst/>
              <a:gdLst/>
              <a:ahLst/>
              <a:cxnLst/>
              <a:rect l="l" t="t" r="r" b="b"/>
              <a:pathLst>
                <a:path w="1595754" h="409575">
                  <a:moveTo>
                    <a:pt x="1493282" y="409397"/>
                  </a:moveTo>
                  <a:lnTo>
                    <a:pt x="1533128" y="401353"/>
                  </a:lnTo>
                  <a:lnTo>
                    <a:pt x="1565668" y="379417"/>
                  </a:lnTo>
                  <a:lnTo>
                    <a:pt x="1587609" y="346884"/>
                  </a:lnTo>
                  <a:lnTo>
                    <a:pt x="1595655" y="307047"/>
                  </a:lnTo>
                  <a:lnTo>
                    <a:pt x="1595655" y="102349"/>
                  </a:lnTo>
                  <a:lnTo>
                    <a:pt x="1587609" y="62465"/>
                  </a:lnTo>
                  <a:lnTo>
                    <a:pt x="1565668" y="29937"/>
                  </a:lnTo>
                  <a:lnTo>
                    <a:pt x="1533128" y="8028"/>
                  </a:lnTo>
                  <a:lnTo>
                    <a:pt x="1493282" y="0"/>
                  </a:lnTo>
                  <a:lnTo>
                    <a:pt x="102373" y="0"/>
                  </a:lnTo>
                  <a:lnTo>
                    <a:pt x="62527" y="8028"/>
                  </a:lnTo>
                  <a:lnTo>
                    <a:pt x="29986" y="29937"/>
                  </a:lnTo>
                  <a:lnTo>
                    <a:pt x="8045" y="62465"/>
                  </a:lnTo>
                  <a:lnTo>
                    <a:pt x="0" y="102349"/>
                  </a:lnTo>
                  <a:lnTo>
                    <a:pt x="0" y="307047"/>
                  </a:lnTo>
                  <a:lnTo>
                    <a:pt x="8045" y="346884"/>
                  </a:lnTo>
                  <a:lnTo>
                    <a:pt x="29986" y="379417"/>
                  </a:lnTo>
                  <a:lnTo>
                    <a:pt x="62527" y="401353"/>
                  </a:lnTo>
                  <a:lnTo>
                    <a:pt x="102373" y="409397"/>
                  </a:lnTo>
                  <a:lnTo>
                    <a:pt x="1493282" y="409397"/>
                  </a:lnTo>
                  <a:close/>
                </a:path>
              </a:pathLst>
            </a:custGeom>
            <a:ln w="3175">
              <a:solidFill>
                <a:srgbClr val="000000"/>
              </a:solidFill>
            </a:ln>
          </p:spPr>
          <p:txBody>
            <a:bodyPr wrap="square" lIns="0" tIns="0" rIns="0" bIns="0" rtlCol="0"/>
            <a:lstStyle/>
            <a:p>
              <a:endParaRPr/>
            </a:p>
          </p:txBody>
        </p:sp>
        <p:sp>
          <p:nvSpPr>
            <p:cNvPr id="75" name="object 75"/>
            <p:cNvSpPr/>
            <p:nvPr/>
          </p:nvSpPr>
          <p:spPr>
            <a:xfrm>
              <a:off x="3687721" y="2925437"/>
              <a:ext cx="1595755" cy="409575"/>
            </a:xfrm>
            <a:custGeom>
              <a:avLst/>
              <a:gdLst/>
              <a:ahLst/>
              <a:cxnLst/>
              <a:rect l="l" t="t" r="r" b="b"/>
              <a:pathLst>
                <a:path w="1595754" h="409575">
                  <a:moveTo>
                    <a:pt x="1493282" y="0"/>
                  </a:moveTo>
                  <a:lnTo>
                    <a:pt x="102373" y="0"/>
                  </a:lnTo>
                  <a:lnTo>
                    <a:pt x="62527" y="8044"/>
                  </a:lnTo>
                  <a:lnTo>
                    <a:pt x="29986" y="29979"/>
                  </a:lnTo>
                  <a:lnTo>
                    <a:pt x="8045" y="62513"/>
                  </a:lnTo>
                  <a:lnTo>
                    <a:pt x="0" y="102349"/>
                  </a:lnTo>
                  <a:lnTo>
                    <a:pt x="0" y="307047"/>
                  </a:lnTo>
                  <a:lnTo>
                    <a:pt x="8045" y="346884"/>
                  </a:lnTo>
                  <a:lnTo>
                    <a:pt x="29986" y="379417"/>
                  </a:lnTo>
                  <a:lnTo>
                    <a:pt x="62527" y="401353"/>
                  </a:lnTo>
                  <a:lnTo>
                    <a:pt x="102373" y="409397"/>
                  </a:lnTo>
                  <a:lnTo>
                    <a:pt x="1493282" y="409397"/>
                  </a:lnTo>
                  <a:lnTo>
                    <a:pt x="1533128" y="401353"/>
                  </a:lnTo>
                  <a:lnTo>
                    <a:pt x="1565668" y="379417"/>
                  </a:lnTo>
                  <a:lnTo>
                    <a:pt x="1587609" y="346884"/>
                  </a:lnTo>
                  <a:lnTo>
                    <a:pt x="1595655" y="307047"/>
                  </a:lnTo>
                  <a:lnTo>
                    <a:pt x="1595655" y="102349"/>
                  </a:lnTo>
                  <a:lnTo>
                    <a:pt x="1587609" y="62513"/>
                  </a:lnTo>
                  <a:lnTo>
                    <a:pt x="1565668" y="29979"/>
                  </a:lnTo>
                  <a:lnTo>
                    <a:pt x="1533128" y="8044"/>
                  </a:lnTo>
                  <a:lnTo>
                    <a:pt x="1493282" y="0"/>
                  </a:lnTo>
                  <a:close/>
                </a:path>
              </a:pathLst>
            </a:custGeom>
            <a:solidFill>
              <a:srgbClr val="E8EDF7"/>
            </a:solidFill>
          </p:spPr>
          <p:txBody>
            <a:bodyPr wrap="square" lIns="0" tIns="0" rIns="0" bIns="0" rtlCol="0"/>
            <a:lstStyle/>
            <a:p>
              <a:endParaRPr/>
            </a:p>
          </p:txBody>
        </p:sp>
        <p:sp>
          <p:nvSpPr>
            <p:cNvPr id="76" name="object 76"/>
            <p:cNvSpPr/>
            <p:nvPr/>
          </p:nvSpPr>
          <p:spPr>
            <a:xfrm>
              <a:off x="3687721" y="2925437"/>
              <a:ext cx="1595755" cy="409575"/>
            </a:xfrm>
            <a:custGeom>
              <a:avLst/>
              <a:gdLst/>
              <a:ahLst/>
              <a:cxnLst/>
              <a:rect l="l" t="t" r="r" b="b"/>
              <a:pathLst>
                <a:path w="1595754" h="409575">
                  <a:moveTo>
                    <a:pt x="1493282" y="409397"/>
                  </a:moveTo>
                  <a:lnTo>
                    <a:pt x="1533128" y="401353"/>
                  </a:lnTo>
                  <a:lnTo>
                    <a:pt x="1565668" y="379417"/>
                  </a:lnTo>
                  <a:lnTo>
                    <a:pt x="1587609" y="346884"/>
                  </a:lnTo>
                  <a:lnTo>
                    <a:pt x="1595655" y="307047"/>
                  </a:lnTo>
                  <a:lnTo>
                    <a:pt x="1595655" y="102349"/>
                  </a:lnTo>
                  <a:lnTo>
                    <a:pt x="1587609" y="62513"/>
                  </a:lnTo>
                  <a:lnTo>
                    <a:pt x="1565668" y="29979"/>
                  </a:lnTo>
                  <a:lnTo>
                    <a:pt x="1533128" y="8044"/>
                  </a:lnTo>
                  <a:lnTo>
                    <a:pt x="1493282" y="0"/>
                  </a:lnTo>
                  <a:lnTo>
                    <a:pt x="102373" y="0"/>
                  </a:lnTo>
                  <a:lnTo>
                    <a:pt x="62527" y="8044"/>
                  </a:lnTo>
                  <a:lnTo>
                    <a:pt x="29986" y="29979"/>
                  </a:lnTo>
                  <a:lnTo>
                    <a:pt x="8045" y="62513"/>
                  </a:lnTo>
                  <a:lnTo>
                    <a:pt x="0" y="102349"/>
                  </a:lnTo>
                  <a:lnTo>
                    <a:pt x="0" y="307047"/>
                  </a:lnTo>
                  <a:lnTo>
                    <a:pt x="8045" y="346884"/>
                  </a:lnTo>
                  <a:lnTo>
                    <a:pt x="29986" y="379417"/>
                  </a:lnTo>
                  <a:lnTo>
                    <a:pt x="62527" y="401353"/>
                  </a:lnTo>
                  <a:lnTo>
                    <a:pt x="102373" y="409397"/>
                  </a:lnTo>
                  <a:lnTo>
                    <a:pt x="1493282" y="409397"/>
                  </a:lnTo>
                  <a:close/>
                </a:path>
              </a:pathLst>
            </a:custGeom>
            <a:ln w="3175">
              <a:solidFill>
                <a:srgbClr val="000000"/>
              </a:solidFill>
            </a:ln>
          </p:spPr>
          <p:txBody>
            <a:bodyPr wrap="square" lIns="0" tIns="0" rIns="0" bIns="0" rtlCol="0"/>
            <a:lstStyle/>
            <a:p>
              <a:endParaRPr/>
            </a:p>
          </p:txBody>
        </p:sp>
      </p:grpSp>
      <p:sp>
        <p:nvSpPr>
          <p:cNvPr id="77" name="object 77"/>
          <p:cNvSpPr txBox="1"/>
          <p:nvPr/>
        </p:nvSpPr>
        <p:spPr>
          <a:xfrm>
            <a:off x="3559527" y="2861470"/>
            <a:ext cx="1823720" cy="3275329"/>
          </a:xfrm>
          <a:prstGeom prst="rect">
            <a:avLst/>
          </a:prstGeom>
          <a:ln w="3175">
            <a:solidFill>
              <a:srgbClr val="000000"/>
            </a:solidFill>
          </a:ln>
        </p:spPr>
        <p:txBody>
          <a:bodyPr vert="horz" wrap="square" lIns="0" tIns="62229" rIns="0" bIns="0" rtlCol="0">
            <a:spAutoFit/>
          </a:bodyPr>
          <a:lstStyle/>
          <a:p>
            <a:pPr marL="441325" marR="405130" algn="ctr">
              <a:lnSpc>
                <a:spcPct val="100000"/>
              </a:lnSpc>
              <a:spcBef>
                <a:spcPts val="489"/>
              </a:spcBef>
            </a:pPr>
            <a:r>
              <a:rPr sz="1250" dirty="0">
                <a:latin typeface="Times New Roman"/>
                <a:cs typeface="Times New Roman"/>
              </a:rPr>
              <a:t>Integration</a:t>
            </a:r>
            <a:r>
              <a:rPr sz="1250" spc="5" dirty="0">
                <a:latin typeface="Times New Roman"/>
                <a:cs typeface="Times New Roman"/>
              </a:rPr>
              <a:t> </a:t>
            </a:r>
            <a:r>
              <a:rPr sz="1250" spc="-25" dirty="0">
                <a:latin typeface="Times New Roman"/>
                <a:cs typeface="Times New Roman"/>
              </a:rPr>
              <a:t>and </a:t>
            </a:r>
            <a:r>
              <a:rPr sz="1250" spc="-10" dirty="0">
                <a:latin typeface="Times New Roman"/>
                <a:cs typeface="Times New Roman"/>
              </a:rPr>
              <a:t>middleware</a:t>
            </a:r>
            <a:endParaRPr sz="1250">
              <a:latin typeface="Times New Roman"/>
              <a:cs typeface="Times New Roman"/>
            </a:endParaRPr>
          </a:p>
          <a:p>
            <a:pPr>
              <a:lnSpc>
                <a:spcPct val="100000"/>
              </a:lnSpc>
              <a:spcBef>
                <a:spcPts val="645"/>
              </a:spcBef>
            </a:pPr>
            <a:endParaRPr sz="1250">
              <a:latin typeface="Times New Roman"/>
              <a:cs typeface="Times New Roman"/>
            </a:endParaRPr>
          </a:p>
          <a:p>
            <a:pPr algn="ctr">
              <a:lnSpc>
                <a:spcPct val="100000"/>
              </a:lnSpc>
            </a:pPr>
            <a:r>
              <a:rPr sz="1250" spc="-25" dirty="0">
                <a:latin typeface="Times New Roman"/>
                <a:cs typeface="Times New Roman"/>
              </a:rPr>
              <a:t>API</a:t>
            </a: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pPr>
            <a:endParaRPr sz="1250">
              <a:latin typeface="Times New Roman"/>
              <a:cs typeface="Times New Roman"/>
            </a:endParaRPr>
          </a:p>
          <a:p>
            <a:pPr>
              <a:lnSpc>
                <a:spcPct val="100000"/>
              </a:lnSpc>
              <a:spcBef>
                <a:spcPts val="240"/>
              </a:spcBef>
            </a:pPr>
            <a:endParaRPr sz="1250">
              <a:latin typeface="Times New Roman"/>
              <a:cs typeface="Times New Roman"/>
            </a:endParaRPr>
          </a:p>
          <a:p>
            <a:pPr marL="597535" marR="589915" algn="ctr">
              <a:lnSpc>
                <a:spcPct val="268600"/>
              </a:lnSpc>
            </a:pPr>
            <a:r>
              <a:rPr sz="1250" spc="-10" dirty="0">
                <a:latin typeface="Times New Roman"/>
                <a:cs typeface="Times New Roman"/>
              </a:rPr>
              <a:t>Hardware Facilities</a:t>
            </a:r>
            <a:endParaRPr sz="1250">
              <a:latin typeface="Times New Roman"/>
              <a:cs typeface="Times New Roman"/>
            </a:endParaRPr>
          </a:p>
        </p:txBody>
      </p:sp>
      <p:sp>
        <p:nvSpPr>
          <p:cNvPr id="79" name="object 79"/>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80" name="object 80"/>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23</a:t>
            </a:fld>
            <a:endParaRPr spc="-25" dirty="0"/>
          </a:p>
        </p:txBody>
      </p:sp>
      <p:sp>
        <p:nvSpPr>
          <p:cNvPr id="81" name="object 81"/>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78" name="object 78"/>
          <p:cNvSpPr txBox="1"/>
          <p:nvPr/>
        </p:nvSpPr>
        <p:spPr>
          <a:xfrm>
            <a:off x="3540418" y="2477716"/>
            <a:ext cx="1842770" cy="307340"/>
          </a:xfrm>
          <a:prstGeom prst="rect">
            <a:avLst/>
          </a:prstGeom>
          <a:solidFill>
            <a:srgbClr val="F1F1F1"/>
          </a:solidFill>
        </p:spPr>
        <p:txBody>
          <a:bodyPr vert="horz" wrap="square" lIns="0" tIns="60960" rIns="0" bIns="0" rtlCol="0">
            <a:spAutoFit/>
          </a:bodyPr>
          <a:lstStyle/>
          <a:p>
            <a:pPr marL="342900">
              <a:lnSpc>
                <a:spcPct val="100000"/>
              </a:lnSpc>
              <a:spcBef>
                <a:spcPts val="480"/>
              </a:spcBef>
            </a:pPr>
            <a:r>
              <a:rPr sz="1050" dirty="0">
                <a:latin typeface="Calibri"/>
                <a:cs typeface="Calibri"/>
              </a:rPr>
              <a:t>Platform</a:t>
            </a:r>
            <a:r>
              <a:rPr sz="1050" spc="40" dirty="0">
                <a:latin typeface="Calibri"/>
                <a:cs typeface="Calibri"/>
              </a:rPr>
              <a:t> </a:t>
            </a:r>
            <a:r>
              <a:rPr sz="1050" dirty="0">
                <a:latin typeface="Calibri"/>
                <a:cs typeface="Calibri"/>
              </a:rPr>
              <a:t>as</a:t>
            </a:r>
            <a:r>
              <a:rPr sz="1050" spc="40" dirty="0">
                <a:latin typeface="Calibri"/>
                <a:cs typeface="Calibri"/>
              </a:rPr>
              <a:t> </a:t>
            </a:r>
            <a:r>
              <a:rPr sz="1050" dirty="0">
                <a:latin typeface="Calibri"/>
                <a:cs typeface="Calibri"/>
              </a:rPr>
              <a:t>a</a:t>
            </a:r>
            <a:r>
              <a:rPr sz="1050" spc="40" dirty="0">
                <a:latin typeface="Calibri"/>
                <a:cs typeface="Calibri"/>
              </a:rPr>
              <a:t> </a:t>
            </a:r>
            <a:r>
              <a:rPr sz="1050" spc="-10" dirty="0">
                <a:latin typeface="Calibri"/>
                <a:cs typeface="Calibri"/>
              </a:rPr>
              <a:t>Service</a:t>
            </a:r>
            <a:endParaRPr sz="105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aaS, PaaS &amp; SaaS: Everything You Need To Know | IR">
            <a:extLst>
              <a:ext uri="{FF2B5EF4-FFF2-40B4-BE49-F238E27FC236}">
                <a16:creationId xmlns:a16="http://schemas.microsoft.com/office/drawing/2014/main" id="{514B28A1-428E-ED13-1502-9920B5FC4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9144000" cy="677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164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838200"/>
            <a:ext cx="5078730" cy="513715"/>
          </a:xfrm>
          <a:prstGeom prst="rect">
            <a:avLst/>
          </a:prstGeom>
        </p:spPr>
        <p:txBody>
          <a:bodyPr vert="horz" wrap="square" lIns="0" tIns="13335" rIns="0" bIns="0" rtlCol="0">
            <a:spAutoFit/>
          </a:bodyPr>
          <a:lstStyle/>
          <a:p>
            <a:pPr marL="12700">
              <a:lnSpc>
                <a:spcPct val="100000"/>
              </a:lnSpc>
              <a:spcBef>
                <a:spcPts val="105"/>
              </a:spcBef>
            </a:pPr>
            <a:r>
              <a:rPr dirty="0"/>
              <a:t>NIST</a:t>
            </a:r>
            <a:r>
              <a:rPr spc="-50" dirty="0"/>
              <a:t> </a:t>
            </a:r>
            <a:r>
              <a:rPr dirty="0"/>
              <a:t>cloud</a:t>
            </a:r>
            <a:r>
              <a:rPr spc="-35" dirty="0"/>
              <a:t> </a:t>
            </a:r>
            <a:r>
              <a:rPr dirty="0"/>
              <a:t>reference</a:t>
            </a:r>
            <a:r>
              <a:rPr spc="-55" dirty="0"/>
              <a:t> </a:t>
            </a:r>
            <a:r>
              <a:rPr spc="-10" dirty="0"/>
              <a:t>model</a:t>
            </a:r>
          </a:p>
        </p:txBody>
      </p:sp>
      <p:pic>
        <p:nvPicPr>
          <p:cNvPr id="107" name="Picture 106" descr="A diagram of a cloud computing system&#10;&#10;AI-generated content may be incorrect.">
            <a:extLst>
              <a:ext uri="{FF2B5EF4-FFF2-40B4-BE49-F238E27FC236}">
                <a16:creationId xmlns:a16="http://schemas.microsoft.com/office/drawing/2014/main" id="{EF2877A9-4629-DDA3-C8B8-882F4E6EE3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6850" y="1752600"/>
            <a:ext cx="6210300" cy="4724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51A2E-19E4-5289-6EA2-925023EFB74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D7B707-999C-87AC-4950-072E7444C977}"/>
              </a:ext>
            </a:extLst>
          </p:cNvPr>
          <p:cNvSpPr txBox="1">
            <a:spLocks noGrp="1"/>
          </p:cNvSpPr>
          <p:nvPr>
            <p:ph type="title"/>
          </p:nvPr>
        </p:nvSpPr>
        <p:spPr>
          <a:xfrm>
            <a:off x="533400" y="1066800"/>
            <a:ext cx="5078730" cy="513715"/>
          </a:xfrm>
          <a:prstGeom prst="rect">
            <a:avLst/>
          </a:prstGeom>
        </p:spPr>
        <p:txBody>
          <a:bodyPr vert="horz" wrap="square" lIns="0" tIns="13335" rIns="0" bIns="0" rtlCol="0">
            <a:spAutoFit/>
          </a:bodyPr>
          <a:lstStyle/>
          <a:p>
            <a:pPr marL="12700">
              <a:lnSpc>
                <a:spcPct val="100000"/>
              </a:lnSpc>
              <a:spcBef>
                <a:spcPts val="105"/>
              </a:spcBef>
            </a:pPr>
            <a:r>
              <a:rPr lang="en-US" spc="-10" dirty="0"/>
              <a:t>The Cloud Cube Model</a:t>
            </a:r>
            <a:endParaRPr spc="-10" dirty="0"/>
          </a:p>
        </p:txBody>
      </p:sp>
      <p:pic>
        <p:nvPicPr>
          <p:cNvPr id="1032" name="Picture 8" descr="The Cloud Cube Model | Download Scientific Diagram">
            <a:extLst>
              <a:ext uri="{FF2B5EF4-FFF2-40B4-BE49-F238E27FC236}">
                <a16:creationId xmlns:a16="http://schemas.microsoft.com/office/drawing/2014/main" id="{9FDE22F7-1BC8-9E5E-F563-5FB2B1D87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09800"/>
            <a:ext cx="5638800" cy="3229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926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2352-CF85-DC93-F944-070A09A5E5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032AFD4-A6FE-0861-F8C1-895B3533FA71}"/>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spc="-10"/>
              <a:t>The Cloud Cube Model</a:t>
            </a:r>
            <a:endParaRPr lang="en-US" spc="-10" dirty="0"/>
          </a:p>
        </p:txBody>
      </p:sp>
      <p:sp>
        <p:nvSpPr>
          <p:cNvPr id="3" name="Text Placeholder 2">
            <a:extLst>
              <a:ext uri="{FF2B5EF4-FFF2-40B4-BE49-F238E27FC236}">
                <a16:creationId xmlns:a16="http://schemas.microsoft.com/office/drawing/2014/main" id="{A86E44DE-F210-123D-000C-A9DA95949E88}"/>
              </a:ext>
            </a:extLst>
          </p:cNvPr>
          <p:cNvSpPr>
            <a:spLocks noGrp="1"/>
          </p:cNvSpPr>
          <p:nvPr>
            <p:ph type="body" idx="1"/>
          </p:nvPr>
        </p:nvSpPr>
        <p:spPr>
          <a:xfrm>
            <a:off x="574040" y="1502156"/>
            <a:ext cx="8055609" cy="3508653"/>
          </a:xfrm>
        </p:spPr>
        <p:txBody>
          <a:bodyPr/>
          <a:lstStyle/>
          <a:p>
            <a:r>
              <a:rPr lang="en-IN" b="1"/>
              <a:t>1. Physical Location: Internal vs. External</a:t>
            </a:r>
            <a:endParaRPr lang="en-IN"/>
          </a:p>
          <a:p>
            <a:r>
              <a:rPr lang="en-IN"/>
              <a:t>This dimension defines the </a:t>
            </a:r>
            <a:r>
              <a:rPr lang="en-IN" b="1"/>
              <a:t>physical boundaries</a:t>
            </a:r>
            <a:r>
              <a:rPr lang="en-IN"/>
              <a:t> of the data. It answers the question: </a:t>
            </a:r>
            <a:r>
              <a:rPr lang="en-IN" i="1"/>
              <a:t>Where are the servers?</a:t>
            </a:r>
            <a:br>
              <a:rPr lang="en-IN" i="1"/>
            </a:br>
            <a:endParaRPr lang="en-IN"/>
          </a:p>
          <a:p>
            <a:pPr lvl="1"/>
            <a:r>
              <a:rPr lang="en-IN" b="1"/>
              <a:t>Internal (I):</a:t>
            </a:r>
            <a:r>
              <a:rPr lang="en-IN"/>
              <a:t> The data and infrastructure are physically located within the organization’s own boundaries. This usually equates to a </a:t>
            </a:r>
            <a:r>
              <a:rPr lang="en-IN" b="1"/>
              <a:t>Private Cloud</a:t>
            </a:r>
            <a:r>
              <a:rPr lang="en-IN"/>
              <a:t> managed on-premises.</a:t>
            </a:r>
          </a:p>
          <a:p>
            <a:pPr lvl="1"/>
            <a:r>
              <a:rPr lang="en-IN" b="1"/>
              <a:t>External (E):</a:t>
            </a:r>
            <a:r>
              <a:rPr lang="en-IN"/>
              <a:t> The data and infrastructure are located outside the organization’s physical boundaries, typically in a third-party data center (like AWS, Azure, or Google Cloud).</a:t>
            </a:r>
          </a:p>
          <a:p>
            <a:br>
              <a:rPr lang="en-US"/>
            </a:br>
            <a:endParaRPr lang="en-US" dirty="0"/>
          </a:p>
        </p:txBody>
      </p:sp>
      <p:pic>
        <p:nvPicPr>
          <p:cNvPr id="5" name="Picture 8" descr="The Cloud Cube Model | Download Scientific Diagram">
            <a:extLst>
              <a:ext uri="{FF2B5EF4-FFF2-40B4-BE49-F238E27FC236}">
                <a16:creationId xmlns:a16="http://schemas.microsoft.com/office/drawing/2014/main" id="{0C7443EE-11E6-7E68-0BF0-DC397C0EFE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343400"/>
            <a:ext cx="3733800" cy="2239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34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BD5E1-F899-AEB3-8B88-CCBFF4DDB3E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197AD16-38B7-5AC9-8BAB-5F77E387712F}"/>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spc="-10"/>
              <a:t>The Cloud Cube Model</a:t>
            </a:r>
            <a:endParaRPr lang="en-US" spc="-10" dirty="0"/>
          </a:p>
        </p:txBody>
      </p:sp>
      <p:sp>
        <p:nvSpPr>
          <p:cNvPr id="3" name="Text Placeholder 2">
            <a:extLst>
              <a:ext uri="{FF2B5EF4-FFF2-40B4-BE49-F238E27FC236}">
                <a16:creationId xmlns:a16="http://schemas.microsoft.com/office/drawing/2014/main" id="{5D236880-1BEC-E31E-6843-8492C9F6F056}"/>
              </a:ext>
            </a:extLst>
          </p:cNvPr>
          <p:cNvSpPr>
            <a:spLocks noGrp="1"/>
          </p:cNvSpPr>
          <p:nvPr>
            <p:ph type="body" idx="1"/>
          </p:nvPr>
        </p:nvSpPr>
        <p:spPr>
          <a:xfrm>
            <a:off x="574040" y="1502156"/>
            <a:ext cx="8055609" cy="3508653"/>
          </a:xfrm>
        </p:spPr>
        <p:txBody>
          <a:bodyPr/>
          <a:lstStyle/>
          <a:p>
            <a:r>
              <a:rPr lang="en-IN" b="1"/>
              <a:t>2. Ownership: Proprietary vs. Open</a:t>
            </a:r>
            <a:endParaRPr lang="en-IN"/>
          </a:p>
          <a:p>
            <a:r>
              <a:rPr lang="en-IN"/>
              <a:t>This dimension measures </a:t>
            </a:r>
            <a:r>
              <a:rPr lang="en-IN" b="1"/>
              <a:t>interoperability</a:t>
            </a:r>
            <a:r>
              <a:rPr lang="en-IN"/>
              <a:t> and </a:t>
            </a:r>
            <a:r>
              <a:rPr lang="en-IN" b="1"/>
              <a:t>vendor lock-in</a:t>
            </a:r>
            <a:r>
              <a:rPr lang="en-IN"/>
              <a:t>. It answers: </a:t>
            </a:r>
            <a:r>
              <a:rPr lang="en-IN" i="1"/>
              <a:t>How easy is it to move my data?</a:t>
            </a:r>
            <a:br>
              <a:rPr lang="en-IN" i="1"/>
            </a:br>
            <a:endParaRPr lang="en-IN"/>
          </a:p>
          <a:p>
            <a:pPr lvl="1"/>
            <a:r>
              <a:rPr lang="en-IN" b="1"/>
              <a:t>Proprietary (P):</a:t>
            </a:r>
            <a:r>
              <a:rPr lang="en-IN"/>
              <a:t> The cloud provider uses unique, closed-source technology. This offers specific features but makes it very difficult to migrate to another provider without significant re-coding or data formatting.</a:t>
            </a:r>
          </a:p>
          <a:p>
            <a:pPr lvl="1"/>
            <a:r>
              <a:rPr lang="en-IN" b="1"/>
              <a:t>Open (O):</a:t>
            </a:r>
            <a:r>
              <a:rPr lang="en-IN"/>
              <a:t> The provider uses industry-standard technologies (like OpenStack or Kubernetes). This allows for easier "portability," meaning you can move your applications between different cloud providers with minimal friction.</a:t>
            </a:r>
          </a:p>
          <a:p>
            <a:br>
              <a:rPr lang="en-US"/>
            </a:br>
            <a:endParaRPr lang="en-US" dirty="0"/>
          </a:p>
        </p:txBody>
      </p:sp>
      <p:pic>
        <p:nvPicPr>
          <p:cNvPr id="5" name="Picture 8" descr="The Cloud Cube Model | Download Scientific Diagram">
            <a:extLst>
              <a:ext uri="{FF2B5EF4-FFF2-40B4-BE49-F238E27FC236}">
                <a16:creationId xmlns:a16="http://schemas.microsoft.com/office/drawing/2014/main" id="{CA64C063-1AF9-2204-6611-931846D3B1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343400"/>
            <a:ext cx="3733800" cy="2239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01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BC92-3339-55BC-D69E-019E6BA9F2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2585E26-F968-1120-2EB4-28F7CE69B5D7}"/>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spc="-10"/>
              <a:t>The Cloud Cube Model</a:t>
            </a:r>
            <a:endParaRPr lang="en-US" spc="-10" dirty="0"/>
          </a:p>
        </p:txBody>
      </p:sp>
      <p:sp>
        <p:nvSpPr>
          <p:cNvPr id="3" name="Text Placeholder 2">
            <a:extLst>
              <a:ext uri="{FF2B5EF4-FFF2-40B4-BE49-F238E27FC236}">
                <a16:creationId xmlns:a16="http://schemas.microsoft.com/office/drawing/2014/main" id="{A5073D86-6CDA-DD2C-7ED9-9BB62D874D67}"/>
              </a:ext>
            </a:extLst>
          </p:cNvPr>
          <p:cNvSpPr>
            <a:spLocks noGrp="1"/>
          </p:cNvSpPr>
          <p:nvPr>
            <p:ph type="body" idx="1"/>
          </p:nvPr>
        </p:nvSpPr>
        <p:spPr>
          <a:xfrm>
            <a:off x="574040" y="1502156"/>
            <a:ext cx="8055609" cy="3477875"/>
          </a:xfrm>
        </p:spPr>
        <p:txBody>
          <a:bodyPr/>
          <a:lstStyle/>
          <a:p>
            <a:r>
              <a:rPr lang="en-IN" b="1"/>
              <a:t>3. Security Boundary: Perimeterised vs. De-perimeterised</a:t>
            </a:r>
            <a:endParaRPr lang="en-IN"/>
          </a:p>
          <a:p>
            <a:r>
              <a:rPr lang="en-IN"/>
              <a:t>This is the most critical dimension for security professionals. It answers: </a:t>
            </a:r>
            <a:r>
              <a:rPr lang="en-IN" i="1"/>
              <a:t>Is the service inside or outside our firewall?</a:t>
            </a:r>
            <a:endParaRPr lang="en-IN"/>
          </a:p>
          <a:p>
            <a:pPr lvl="1"/>
            <a:r>
              <a:rPr lang="en-IN" b="1"/>
              <a:t>Perimeterised (Per):</a:t>
            </a:r>
            <a:r>
              <a:rPr lang="en-IN"/>
              <a:t> The cloud service operates within the organization's existing security "perimeter." Users access it via a VPN or a dedicated leased line. It feels like a traditional extension of the local network.</a:t>
            </a:r>
            <a:br>
              <a:rPr lang="en-IN"/>
            </a:br>
            <a:endParaRPr lang="en-IN"/>
          </a:p>
          <a:p>
            <a:pPr lvl="1"/>
            <a:r>
              <a:rPr lang="en-IN" b="1"/>
              <a:t>De-perimeterised (D-p):</a:t>
            </a:r>
            <a:r>
              <a:rPr lang="en-IN"/>
              <a:t> The service is accessed over the public internet. The traditional "firewall" no longer protects the data. Security must instead rely on </a:t>
            </a:r>
            <a:r>
              <a:rPr lang="en-IN" b="1"/>
              <a:t>Identity and Access Management (IAM)</a:t>
            </a:r>
            <a:r>
              <a:rPr lang="en-IN"/>
              <a:t> and </a:t>
            </a:r>
            <a:r>
              <a:rPr lang="en-IN" b="1"/>
              <a:t>Encryption</a:t>
            </a:r>
            <a:r>
              <a:rPr lang="en-IN"/>
              <a:t>.</a:t>
            </a:r>
          </a:p>
          <a:p>
            <a:br>
              <a:rPr lang="en-US"/>
            </a:br>
            <a:endParaRPr lang="en-US" dirty="0"/>
          </a:p>
        </p:txBody>
      </p:sp>
      <p:pic>
        <p:nvPicPr>
          <p:cNvPr id="5" name="Picture 8" descr="The Cloud Cube Model | Download Scientific Diagram">
            <a:extLst>
              <a:ext uri="{FF2B5EF4-FFF2-40B4-BE49-F238E27FC236}">
                <a16:creationId xmlns:a16="http://schemas.microsoft.com/office/drawing/2014/main" id="{58D01975-969D-73A0-8D9B-BD649C2AB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343400"/>
            <a:ext cx="3733800" cy="2239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055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BFEFA-7F7E-D9CE-29F9-27461C8076F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AE61F0-BF9C-8D81-9302-8501C69DEFF0}"/>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spc="-10" dirty="0"/>
              <a:t>The Cloud Cube Model</a:t>
            </a:r>
            <a:endParaRPr spc="-10" dirty="0"/>
          </a:p>
        </p:txBody>
      </p:sp>
      <p:sp>
        <p:nvSpPr>
          <p:cNvPr id="3" name="Text Placeholder 2">
            <a:extLst>
              <a:ext uri="{FF2B5EF4-FFF2-40B4-BE49-F238E27FC236}">
                <a16:creationId xmlns:a16="http://schemas.microsoft.com/office/drawing/2014/main" id="{2CA6D873-FC06-155A-A972-83BB80393EC7}"/>
              </a:ext>
            </a:extLst>
          </p:cNvPr>
          <p:cNvSpPr>
            <a:spLocks noGrp="1"/>
          </p:cNvSpPr>
          <p:nvPr>
            <p:ph type="body" idx="1"/>
          </p:nvPr>
        </p:nvSpPr>
        <p:spPr>
          <a:xfrm>
            <a:off x="574040" y="1502156"/>
            <a:ext cx="8055609" cy="3477875"/>
          </a:xfrm>
        </p:spPr>
        <p:txBody>
          <a:bodyPr/>
          <a:lstStyle/>
          <a:p>
            <a:r>
              <a:rPr lang="en-IN" b="1" dirty="0"/>
              <a:t>3. Security Boundary: </a:t>
            </a:r>
            <a:r>
              <a:rPr lang="en-IN" b="1" dirty="0" err="1"/>
              <a:t>Perimeterised</a:t>
            </a:r>
            <a:r>
              <a:rPr lang="en-IN" b="1" dirty="0"/>
              <a:t> vs. De-</a:t>
            </a:r>
            <a:r>
              <a:rPr lang="en-IN" b="1" dirty="0" err="1"/>
              <a:t>perimeterised</a:t>
            </a:r>
            <a:endParaRPr lang="en-IN" dirty="0"/>
          </a:p>
          <a:p>
            <a:r>
              <a:rPr lang="en-IN" dirty="0"/>
              <a:t>This is the most critical dimension for security professionals. It answers: </a:t>
            </a:r>
            <a:r>
              <a:rPr lang="en-IN" i="1" dirty="0"/>
              <a:t>Is the service inside or outside our firewall?</a:t>
            </a:r>
            <a:endParaRPr lang="en-IN" dirty="0"/>
          </a:p>
          <a:p>
            <a:pPr lvl="1"/>
            <a:r>
              <a:rPr lang="en-IN" b="1" dirty="0" err="1"/>
              <a:t>Perimeterised</a:t>
            </a:r>
            <a:r>
              <a:rPr lang="en-IN" b="1" dirty="0"/>
              <a:t> (Per):</a:t>
            </a:r>
            <a:r>
              <a:rPr lang="en-IN" dirty="0"/>
              <a:t> The cloud service operates within the organization's existing security "perimeter." Users access it via a VPN or a dedicated leased line. It feels like a traditional extension of the local network.</a:t>
            </a:r>
            <a:br>
              <a:rPr lang="en-IN" dirty="0"/>
            </a:br>
            <a:endParaRPr lang="en-IN" dirty="0"/>
          </a:p>
          <a:p>
            <a:pPr lvl="1"/>
            <a:r>
              <a:rPr lang="en-IN" b="1" dirty="0"/>
              <a:t>De-</a:t>
            </a:r>
            <a:r>
              <a:rPr lang="en-IN" b="1" dirty="0" err="1"/>
              <a:t>perimeterised</a:t>
            </a:r>
            <a:r>
              <a:rPr lang="en-IN" b="1" dirty="0"/>
              <a:t> (D-p):</a:t>
            </a:r>
            <a:r>
              <a:rPr lang="en-IN" dirty="0"/>
              <a:t> The service is accessed over the public internet. The traditional "firewall" no longer protects the data. Security must instead rely on </a:t>
            </a:r>
            <a:r>
              <a:rPr lang="en-IN" b="1" dirty="0"/>
              <a:t>Identity and Access Management (IAM)</a:t>
            </a:r>
            <a:r>
              <a:rPr lang="en-IN" dirty="0"/>
              <a:t> and </a:t>
            </a:r>
            <a:r>
              <a:rPr lang="en-IN" b="1" dirty="0"/>
              <a:t>Encryption</a:t>
            </a:r>
            <a:r>
              <a:rPr lang="en-IN" dirty="0"/>
              <a:t>.</a:t>
            </a:r>
          </a:p>
          <a:p>
            <a:br>
              <a:rPr lang="en-US" dirty="0"/>
            </a:br>
            <a:endParaRPr lang="en-US" dirty="0"/>
          </a:p>
        </p:txBody>
      </p:sp>
      <p:pic>
        <p:nvPicPr>
          <p:cNvPr id="5" name="Picture 8" descr="The Cloud Cube Model | Download Scientific Diagram">
            <a:extLst>
              <a:ext uri="{FF2B5EF4-FFF2-40B4-BE49-F238E27FC236}">
                <a16:creationId xmlns:a16="http://schemas.microsoft.com/office/drawing/2014/main" id="{378A2B57-EFD1-7B33-2292-99F410D8D3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343400"/>
            <a:ext cx="3733800" cy="2239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028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25087-8AC8-B514-F0BA-98AC6752FC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7F6890-1CAA-44AF-62FF-E36B4B1CB9C6}"/>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spc="-10" dirty="0"/>
              <a:t>The Cloud Cube Model</a:t>
            </a:r>
            <a:endParaRPr spc="-10" dirty="0"/>
          </a:p>
        </p:txBody>
      </p:sp>
      <p:sp>
        <p:nvSpPr>
          <p:cNvPr id="3" name="Text Placeholder 2">
            <a:extLst>
              <a:ext uri="{FF2B5EF4-FFF2-40B4-BE49-F238E27FC236}">
                <a16:creationId xmlns:a16="http://schemas.microsoft.com/office/drawing/2014/main" id="{6EDBF449-ADED-D308-C87D-65E30A35746C}"/>
              </a:ext>
            </a:extLst>
          </p:cNvPr>
          <p:cNvSpPr>
            <a:spLocks noGrp="1"/>
          </p:cNvSpPr>
          <p:nvPr>
            <p:ph type="body" idx="1"/>
          </p:nvPr>
        </p:nvSpPr>
        <p:spPr>
          <a:xfrm>
            <a:off x="574040" y="1502156"/>
            <a:ext cx="8055609" cy="3200876"/>
          </a:xfrm>
        </p:spPr>
        <p:txBody>
          <a:bodyPr/>
          <a:lstStyle/>
          <a:p>
            <a:r>
              <a:rPr lang="en-IN" b="1" dirty="0"/>
              <a:t>4. Sourcing: Insourced vs. Outsourced</a:t>
            </a:r>
            <a:endParaRPr lang="en-IN" dirty="0"/>
          </a:p>
          <a:p>
            <a:r>
              <a:rPr lang="en-IN" dirty="0"/>
              <a:t>This dimension defines </a:t>
            </a:r>
            <a:r>
              <a:rPr lang="en-IN" b="1" dirty="0"/>
              <a:t>operational responsibility</a:t>
            </a:r>
            <a:r>
              <a:rPr lang="en-IN" dirty="0"/>
              <a:t>. It answers: </a:t>
            </a:r>
            <a:r>
              <a:rPr lang="en-IN" i="1" dirty="0"/>
              <a:t>Who is pulling the levers?</a:t>
            </a:r>
            <a:endParaRPr lang="en-IN" dirty="0"/>
          </a:p>
          <a:p>
            <a:pPr lvl="1"/>
            <a:r>
              <a:rPr lang="en-IN" b="1" dirty="0"/>
              <a:t>Insourced:</a:t>
            </a:r>
            <a:r>
              <a:rPr lang="en-IN" dirty="0"/>
              <a:t> The service is managed by the organization’s own staff. Even if the hardware is external, your team handles the OS, patches, and security configurations.</a:t>
            </a:r>
            <a:br>
              <a:rPr lang="en-IN" dirty="0"/>
            </a:br>
            <a:endParaRPr lang="en-IN" dirty="0"/>
          </a:p>
          <a:p>
            <a:pPr lvl="1"/>
            <a:r>
              <a:rPr lang="en-IN" b="1" dirty="0"/>
              <a:t>Outsourced:</a:t>
            </a:r>
            <a:r>
              <a:rPr lang="en-IN" dirty="0"/>
              <a:t> The service is managed by the provider (e.g., a SaaS like Salesforce). You consume the service, but the provider is responsible for the "plumbing."</a:t>
            </a:r>
          </a:p>
          <a:p>
            <a:br>
              <a:rPr lang="en-US" dirty="0"/>
            </a:br>
            <a:endParaRPr lang="en-US" dirty="0"/>
          </a:p>
        </p:txBody>
      </p:sp>
      <p:pic>
        <p:nvPicPr>
          <p:cNvPr id="5" name="Picture 8" descr="The Cloud Cube Model | Download Scientific Diagram">
            <a:extLst>
              <a:ext uri="{FF2B5EF4-FFF2-40B4-BE49-F238E27FC236}">
                <a16:creationId xmlns:a16="http://schemas.microsoft.com/office/drawing/2014/main" id="{BC3A0B24-325E-2141-5ABB-C02EDB016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343400"/>
            <a:ext cx="3733800" cy="2239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358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IN"/>
              <a:t>Ethical</a:t>
            </a:r>
            <a:r>
              <a:rPr lang="en-IN" spc="-40"/>
              <a:t> </a:t>
            </a:r>
            <a:r>
              <a:rPr lang="en-IN" spc="-10"/>
              <a:t>issues</a:t>
            </a:r>
            <a:endParaRPr lang="en-IN"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lang="en-IN"/>
              <a:t>Cloud</a:t>
            </a:r>
            <a:r>
              <a:rPr lang="en-IN" spc="-45"/>
              <a:t> </a:t>
            </a:r>
            <a:r>
              <a:rPr lang="en-IN"/>
              <a:t>Computing:</a:t>
            </a:r>
            <a:r>
              <a:rPr lang="en-IN" spc="-65"/>
              <a:t> </a:t>
            </a:r>
            <a:r>
              <a:rPr lang="en-IN"/>
              <a:t>Theory</a:t>
            </a:r>
            <a:r>
              <a:rPr lang="en-IN" spc="-35"/>
              <a:t> </a:t>
            </a:r>
            <a:r>
              <a:rPr lang="en-IN"/>
              <a:t>and</a:t>
            </a:r>
            <a:r>
              <a:rPr lang="en-IN" spc="-30"/>
              <a:t> </a:t>
            </a:r>
            <a:r>
              <a:rPr lang="en-IN" spc="-10"/>
              <a:t>Practice.</a:t>
            </a:r>
          </a:p>
          <a:p>
            <a:pPr marL="1905" algn="ctr">
              <a:lnSpc>
                <a:spcPct val="100000"/>
              </a:lnSpc>
            </a:pPr>
            <a:r>
              <a:rPr lang="en-IN"/>
              <a:t>Chapter</a:t>
            </a:r>
            <a:r>
              <a:rPr lang="en-IN" spc="-50"/>
              <a:t> 1</a:t>
            </a:r>
            <a:endParaRPr lang="en-IN" spc="-50" dirty="0"/>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lang="en-IN" spc="-25" smtClean="0"/>
              <a:t>32</a:t>
            </a:fld>
            <a:endParaRPr lang="en-IN"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lang="en-IN"/>
              <a:t>Dan</a:t>
            </a:r>
            <a:r>
              <a:rPr lang="en-IN" spc="-25"/>
              <a:t> </a:t>
            </a:r>
            <a:r>
              <a:rPr lang="en-IN"/>
              <a:t>C.</a:t>
            </a:r>
            <a:r>
              <a:rPr lang="en-IN" spc="5"/>
              <a:t> </a:t>
            </a:r>
            <a:r>
              <a:rPr lang="en-IN" spc="-10"/>
              <a:t>Marinescu</a:t>
            </a:r>
            <a:endParaRPr lang="en-IN" spc="-10" dirty="0"/>
          </a:p>
        </p:txBody>
      </p:sp>
      <p:sp>
        <p:nvSpPr>
          <p:cNvPr id="3" name="object 3"/>
          <p:cNvSpPr txBox="1"/>
          <p:nvPr/>
        </p:nvSpPr>
        <p:spPr>
          <a:xfrm>
            <a:off x="535940" y="1497332"/>
            <a:ext cx="7172959" cy="3009900"/>
          </a:xfrm>
          <a:prstGeom prst="rect">
            <a:avLst/>
          </a:prstGeom>
        </p:spPr>
        <p:txBody>
          <a:bodyPr vert="horz" wrap="square" lIns="0" tIns="74930" rIns="0" bIns="0" rtlCol="0">
            <a:spAutoFit/>
          </a:bodyPr>
          <a:lstStyle/>
          <a:p>
            <a:pPr marL="355600" indent="-342900">
              <a:lnSpc>
                <a:spcPct val="100000"/>
              </a:lnSpc>
              <a:spcBef>
                <a:spcPts val="590"/>
              </a:spcBef>
              <a:buClr>
                <a:srgbClr val="00007C"/>
              </a:buClr>
              <a:buSzPct val="75000"/>
              <a:buFont typeface="Wingdings"/>
              <a:buChar char=""/>
              <a:tabLst>
                <a:tab pos="355600" algn="l"/>
                <a:tab pos="2640330" algn="l"/>
              </a:tabLst>
            </a:pPr>
            <a:r>
              <a:rPr sz="2000" dirty="0">
                <a:latin typeface="Arial"/>
                <a:cs typeface="Arial"/>
              </a:rPr>
              <a:t>Paradigm</a:t>
            </a:r>
            <a:r>
              <a:rPr sz="2000" spc="-35" dirty="0">
                <a:latin typeface="Arial"/>
                <a:cs typeface="Arial"/>
              </a:rPr>
              <a:t> </a:t>
            </a:r>
            <a:r>
              <a:rPr sz="2000" dirty="0">
                <a:latin typeface="Arial"/>
                <a:cs typeface="Arial"/>
              </a:rPr>
              <a:t>shift</a:t>
            </a:r>
            <a:r>
              <a:rPr sz="2000" spc="-40" dirty="0">
                <a:latin typeface="Arial"/>
                <a:cs typeface="Arial"/>
              </a:rPr>
              <a:t> </a:t>
            </a:r>
            <a:r>
              <a:rPr sz="2000" spc="-20" dirty="0">
                <a:latin typeface="Arial"/>
                <a:cs typeface="Arial"/>
              </a:rPr>
              <a:t>with</a:t>
            </a:r>
            <a:r>
              <a:rPr sz="2000" dirty="0">
                <a:latin typeface="Arial"/>
                <a:cs typeface="Arial"/>
              </a:rPr>
              <a:t>	implications</a:t>
            </a:r>
            <a:r>
              <a:rPr sz="2000" spc="-35" dirty="0">
                <a:latin typeface="Arial"/>
                <a:cs typeface="Arial"/>
              </a:rPr>
              <a:t> </a:t>
            </a:r>
            <a:r>
              <a:rPr sz="2000" dirty="0">
                <a:latin typeface="Arial"/>
                <a:cs typeface="Arial"/>
              </a:rPr>
              <a:t>on</a:t>
            </a:r>
            <a:r>
              <a:rPr sz="2000" spc="-25" dirty="0">
                <a:latin typeface="Arial"/>
                <a:cs typeface="Arial"/>
              </a:rPr>
              <a:t> </a:t>
            </a:r>
            <a:r>
              <a:rPr sz="2000" dirty="0">
                <a:latin typeface="Arial"/>
                <a:cs typeface="Arial"/>
              </a:rPr>
              <a:t>computing</a:t>
            </a:r>
            <a:r>
              <a:rPr sz="2000" spc="-35" dirty="0">
                <a:latin typeface="Arial"/>
                <a:cs typeface="Arial"/>
              </a:rPr>
              <a:t> </a:t>
            </a:r>
            <a:r>
              <a:rPr sz="2000" spc="-10" dirty="0">
                <a:latin typeface="Arial"/>
                <a:cs typeface="Arial"/>
              </a:rPr>
              <a:t>ethics:</a:t>
            </a:r>
            <a:endParaRPr sz="2000">
              <a:latin typeface="Arial"/>
              <a:cs typeface="Arial"/>
            </a:endParaRPr>
          </a:p>
          <a:p>
            <a:pPr marL="1155065" lvl="1" indent="-227965">
              <a:lnSpc>
                <a:spcPct val="100000"/>
              </a:lnSpc>
              <a:spcBef>
                <a:spcPts val="440"/>
              </a:spcBef>
              <a:buClr>
                <a:srgbClr val="00007C"/>
              </a:buClr>
              <a:buSzPct val="63888"/>
              <a:buFont typeface="Wingdings"/>
              <a:buChar char=""/>
              <a:tabLst>
                <a:tab pos="1155065" algn="l"/>
              </a:tabLst>
            </a:pPr>
            <a:r>
              <a:rPr sz="1800" dirty="0">
                <a:latin typeface="Arial"/>
                <a:cs typeface="Arial"/>
              </a:rPr>
              <a:t>The</a:t>
            </a:r>
            <a:r>
              <a:rPr sz="1800" spc="-45" dirty="0">
                <a:latin typeface="Arial"/>
                <a:cs typeface="Arial"/>
              </a:rPr>
              <a:t> </a:t>
            </a:r>
            <a:r>
              <a:rPr sz="1800" dirty="0">
                <a:latin typeface="Arial"/>
                <a:cs typeface="Arial"/>
              </a:rPr>
              <a:t>control</a:t>
            </a:r>
            <a:r>
              <a:rPr sz="1800" spc="-20"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relinquished</a:t>
            </a:r>
            <a:r>
              <a:rPr sz="1800" spc="-5"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third</a:t>
            </a:r>
            <a:r>
              <a:rPr sz="1800" spc="-25" dirty="0">
                <a:latin typeface="Arial"/>
                <a:cs typeface="Arial"/>
              </a:rPr>
              <a:t> </a:t>
            </a:r>
            <a:r>
              <a:rPr sz="1800" dirty="0">
                <a:latin typeface="Arial"/>
                <a:cs typeface="Arial"/>
              </a:rPr>
              <a:t>party</a:t>
            </a:r>
            <a:r>
              <a:rPr sz="1800" spc="-10" dirty="0">
                <a:latin typeface="Arial"/>
                <a:cs typeface="Arial"/>
              </a:rPr>
              <a:t> services.</a:t>
            </a:r>
            <a:endParaRPr sz="1800">
              <a:latin typeface="Arial"/>
              <a:cs typeface="Arial"/>
            </a:endParaRPr>
          </a:p>
          <a:p>
            <a:pPr marL="1155700" marR="5080" lvl="1" indent="-228600">
              <a:lnSpc>
                <a:spcPct val="100000"/>
              </a:lnSpc>
              <a:spcBef>
                <a:spcPts val="434"/>
              </a:spcBef>
              <a:buClr>
                <a:srgbClr val="00007C"/>
              </a:buClr>
              <a:buSzPct val="63888"/>
              <a:buFont typeface="Wingdings"/>
              <a:buChar char=""/>
              <a:tabLst>
                <a:tab pos="1155700" algn="l"/>
              </a:tabLst>
            </a:pPr>
            <a:r>
              <a:rPr sz="1800" dirty="0">
                <a:latin typeface="Arial"/>
                <a:cs typeface="Arial"/>
              </a:rPr>
              <a:t>The</a:t>
            </a:r>
            <a:r>
              <a:rPr sz="1800" spc="-40" dirty="0">
                <a:latin typeface="Arial"/>
                <a:cs typeface="Arial"/>
              </a:rPr>
              <a:t> </a:t>
            </a:r>
            <a:r>
              <a:rPr sz="1800" dirty="0">
                <a:latin typeface="Arial"/>
                <a:cs typeface="Arial"/>
              </a:rPr>
              <a:t>data</a:t>
            </a:r>
            <a:r>
              <a:rPr sz="1800" spc="-20" dirty="0">
                <a:latin typeface="Arial"/>
                <a:cs typeface="Arial"/>
              </a:rPr>
              <a:t> </a:t>
            </a:r>
            <a:r>
              <a:rPr sz="1800" dirty="0">
                <a:latin typeface="Arial"/>
                <a:cs typeface="Arial"/>
              </a:rPr>
              <a:t>is</a:t>
            </a:r>
            <a:r>
              <a:rPr sz="1800" spc="-15" dirty="0">
                <a:latin typeface="Arial"/>
                <a:cs typeface="Arial"/>
              </a:rPr>
              <a:t> </a:t>
            </a:r>
            <a:r>
              <a:rPr sz="1800" dirty="0">
                <a:latin typeface="Arial"/>
                <a:cs typeface="Arial"/>
              </a:rPr>
              <a:t>stored</a:t>
            </a:r>
            <a:r>
              <a:rPr sz="1800" spc="-15" dirty="0">
                <a:latin typeface="Arial"/>
                <a:cs typeface="Arial"/>
              </a:rPr>
              <a:t> </a:t>
            </a:r>
            <a:r>
              <a:rPr sz="1800" dirty="0">
                <a:latin typeface="Arial"/>
                <a:cs typeface="Arial"/>
              </a:rPr>
              <a:t>on</a:t>
            </a:r>
            <a:r>
              <a:rPr sz="1800" spc="-30" dirty="0">
                <a:latin typeface="Arial"/>
                <a:cs typeface="Arial"/>
              </a:rPr>
              <a:t> </a:t>
            </a:r>
            <a:r>
              <a:rPr sz="1800" dirty="0">
                <a:latin typeface="Arial"/>
                <a:cs typeface="Arial"/>
              </a:rPr>
              <a:t>multiple</a:t>
            </a:r>
            <a:r>
              <a:rPr sz="1800" spc="-15" dirty="0">
                <a:latin typeface="Arial"/>
                <a:cs typeface="Arial"/>
              </a:rPr>
              <a:t> </a:t>
            </a:r>
            <a:r>
              <a:rPr sz="1800" dirty="0">
                <a:latin typeface="Arial"/>
                <a:cs typeface="Arial"/>
              </a:rPr>
              <a:t>sites</a:t>
            </a:r>
            <a:r>
              <a:rPr sz="1800" spc="-15" dirty="0">
                <a:latin typeface="Arial"/>
                <a:cs typeface="Arial"/>
              </a:rPr>
              <a:t> </a:t>
            </a:r>
            <a:r>
              <a:rPr sz="1800" dirty="0">
                <a:latin typeface="Arial"/>
                <a:cs typeface="Arial"/>
              </a:rPr>
              <a:t>administered by</a:t>
            </a:r>
            <a:r>
              <a:rPr sz="1800" spc="-25" dirty="0">
                <a:latin typeface="Arial"/>
                <a:cs typeface="Arial"/>
              </a:rPr>
              <a:t> </a:t>
            </a:r>
            <a:r>
              <a:rPr sz="1800" spc="-10" dirty="0">
                <a:latin typeface="Arial"/>
                <a:cs typeface="Arial"/>
              </a:rPr>
              <a:t>several organizations.</a:t>
            </a:r>
            <a:endParaRPr sz="1800">
              <a:latin typeface="Arial"/>
              <a:cs typeface="Arial"/>
            </a:endParaRPr>
          </a:p>
          <a:p>
            <a:pPr marL="1155065" lvl="1" indent="-227965">
              <a:lnSpc>
                <a:spcPct val="100000"/>
              </a:lnSpc>
              <a:spcBef>
                <a:spcPts val="434"/>
              </a:spcBef>
              <a:buClr>
                <a:srgbClr val="00007C"/>
              </a:buClr>
              <a:buSzPct val="63888"/>
              <a:buFont typeface="Wingdings"/>
              <a:buChar char=""/>
              <a:tabLst>
                <a:tab pos="1155065" algn="l"/>
              </a:tabLst>
            </a:pPr>
            <a:r>
              <a:rPr sz="1800" dirty="0">
                <a:latin typeface="Arial"/>
                <a:cs typeface="Arial"/>
              </a:rPr>
              <a:t>Multiple</a:t>
            </a:r>
            <a:r>
              <a:rPr sz="1800" spc="-35" dirty="0">
                <a:latin typeface="Arial"/>
                <a:cs typeface="Arial"/>
              </a:rPr>
              <a:t> </a:t>
            </a:r>
            <a:r>
              <a:rPr sz="1800" dirty="0">
                <a:latin typeface="Arial"/>
                <a:cs typeface="Arial"/>
              </a:rPr>
              <a:t>services</a:t>
            </a:r>
            <a:r>
              <a:rPr sz="1800" spc="-30" dirty="0">
                <a:latin typeface="Arial"/>
                <a:cs typeface="Arial"/>
              </a:rPr>
              <a:t> </a:t>
            </a:r>
            <a:r>
              <a:rPr sz="1800" dirty="0">
                <a:latin typeface="Arial"/>
                <a:cs typeface="Arial"/>
              </a:rPr>
              <a:t>interoperate</a:t>
            </a:r>
            <a:r>
              <a:rPr sz="1800" spc="-20" dirty="0">
                <a:latin typeface="Arial"/>
                <a:cs typeface="Arial"/>
              </a:rPr>
              <a:t> </a:t>
            </a:r>
            <a:r>
              <a:rPr sz="1800" dirty="0">
                <a:latin typeface="Arial"/>
                <a:cs typeface="Arial"/>
              </a:rPr>
              <a:t>across</a:t>
            </a:r>
            <a:r>
              <a:rPr sz="1800" spc="-35" dirty="0">
                <a:latin typeface="Arial"/>
                <a:cs typeface="Arial"/>
              </a:rPr>
              <a:t> </a:t>
            </a:r>
            <a:r>
              <a:rPr sz="1800" dirty="0">
                <a:latin typeface="Arial"/>
                <a:cs typeface="Arial"/>
              </a:rPr>
              <a:t>the</a:t>
            </a:r>
            <a:r>
              <a:rPr sz="1800" spc="-40" dirty="0">
                <a:latin typeface="Arial"/>
                <a:cs typeface="Arial"/>
              </a:rPr>
              <a:t> </a:t>
            </a:r>
            <a:r>
              <a:rPr sz="1800" spc="-10" dirty="0">
                <a:latin typeface="Arial"/>
                <a:cs typeface="Arial"/>
              </a:rPr>
              <a:t>network.</a:t>
            </a:r>
            <a:endParaRPr sz="1800">
              <a:latin typeface="Arial"/>
              <a:cs typeface="Arial"/>
            </a:endParaRPr>
          </a:p>
          <a:p>
            <a:pPr marL="355600" indent="-342900">
              <a:lnSpc>
                <a:spcPct val="100000"/>
              </a:lnSpc>
              <a:spcBef>
                <a:spcPts val="470"/>
              </a:spcBef>
              <a:buClr>
                <a:srgbClr val="00007C"/>
              </a:buClr>
              <a:buSzPct val="75000"/>
              <a:buFont typeface="Wingdings"/>
              <a:buChar char=""/>
              <a:tabLst>
                <a:tab pos="355600" algn="l"/>
              </a:tabLst>
            </a:pPr>
            <a:r>
              <a:rPr sz="2000" spc="-10" dirty="0">
                <a:latin typeface="Arial"/>
                <a:cs typeface="Arial"/>
              </a:rPr>
              <a:t>Implications</a:t>
            </a:r>
            <a:endParaRPr sz="2000">
              <a:latin typeface="Arial"/>
              <a:cs typeface="Arial"/>
            </a:endParaRPr>
          </a:p>
          <a:p>
            <a:pPr marL="1155065" lvl="1" indent="-227965">
              <a:lnSpc>
                <a:spcPct val="100000"/>
              </a:lnSpc>
              <a:spcBef>
                <a:spcPts val="440"/>
              </a:spcBef>
              <a:buClr>
                <a:srgbClr val="00007C"/>
              </a:buClr>
              <a:buSzPct val="63888"/>
              <a:buFont typeface="Wingdings"/>
              <a:buChar char=""/>
              <a:tabLst>
                <a:tab pos="1155065" algn="l"/>
              </a:tabLst>
            </a:pPr>
            <a:r>
              <a:rPr sz="1800" dirty="0">
                <a:latin typeface="Arial"/>
                <a:cs typeface="Arial"/>
              </a:rPr>
              <a:t>Unauthorized</a:t>
            </a:r>
            <a:r>
              <a:rPr sz="1800" spc="-55" dirty="0">
                <a:latin typeface="Arial"/>
                <a:cs typeface="Arial"/>
              </a:rPr>
              <a:t> </a:t>
            </a:r>
            <a:r>
              <a:rPr sz="1800" spc="-10" dirty="0">
                <a:latin typeface="Arial"/>
                <a:cs typeface="Arial"/>
              </a:rPr>
              <a:t>access.</a:t>
            </a:r>
            <a:endParaRPr sz="1800">
              <a:latin typeface="Arial"/>
              <a:cs typeface="Arial"/>
            </a:endParaRPr>
          </a:p>
          <a:p>
            <a:pPr marL="1155065" lvl="1" indent="-227965">
              <a:lnSpc>
                <a:spcPct val="100000"/>
              </a:lnSpc>
              <a:spcBef>
                <a:spcPts val="434"/>
              </a:spcBef>
              <a:buClr>
                <a:srgbClr val="00007C"/>
              </a:buClr>
              <a:buSzPct val="63888"/>
              <a:buFont typeface="Wingdings"/>
              <a:buChar char=""/>
              <a:tabLst>
                <a:tab pos="1155065" algn="l"/>
              </a:tabLst>
            </a:pPr>
            <a:r>
              <a:rPr sz="1800" dirty="0">
                <a:latin typeface="Arial"/>
                <a:cs typeface="Arial"/>
              </a:rPr>
              <a:t>Data</a:t>
            </a:r>
            <a:r>
              <a:rPr sz="1800" spc="-25" dirty="0">
                <a:latin typeface="Arial"/>
                <a:cs typeface="Arial"/>
              </a:rPr>
              <a:t> </a:t>
            </a:r>
            <a:r>
              <a:rPr sz="1800" spc="-10" dirty="0">
                <a:latin typeface="Arial"/>
                <a:cs typeface="Arial"/>
              </a:rPr>
              <a:t>corruption.</a:t>
            </a:r>
            <a:endParaRPr sz="1800">
              <a:latin typeface="Arial"/>
              <a:cs typeface="Arial"/>
            </a:endParaRPr>
          </a:p>
          <a:p>
            <a:pPr marL="1155065" lvl="1" indent="-227965">
              <a:lnSpc>
                <a:spcPct val="100000"/>
              </a:lnSpc>
              <a:spcBef>
                <a:spcPts val="430"/>
              </a:spcBef>
              <a:buClr>
                <a:srgbClr val="00007C"/>
              </a:buClr>
              <a:buSzPct val="63888"/>
              <a:buFont typeface="Wingdings"/>
              <a:buChar char=""/>
              <a:tabLst>
                <a:tab pos="1155065" algn="l"/>
              </a:tabLst>
            </a:pPr>
            <a:r>
              <a:rPr sz="1800" dirty="0">
                <a:latin typeface="Arial"/>
                <a:cs typeface="Arial"/>
              </a:rPr>
              <a:t>Infrastructure</a:t>
            </a:r>
            <a:r>
              <a:rPr sz="1800" spc="-50" dirty="0">
                <a:latin typeface="Arial"/>
                <a:cs typeface="Arial"/>
              </a:rPr>
              <a:t> </a:t>
            </a:r>
            <a:r>
              <a:rPr sz="1800" dirty="0">
                <a:latin typeface="Arial"/>
                <a:cs typeface="Arial"/>
              </a:rPr>
              <a:t>failure,</a:t>
            </a:r>
            <a:r>
              <a:rPr sz="1800" spc="-30" dirty="0">
                <a:latin typeface="Arial"/>
                <a:cs typeface="Arial"/>
              </a:rPr>
              <a:t> </a:t>
            </a:r>
            <a:r>
              <a:rPr sz="1800" dirty="0">
                <a:latin typeface="Arial"/>
                <a:cs typeface="Arial"/>
              </a:rPr>
              <a:t>and</a:t>
            </a:r>
            <a:r>
              <a:rPr sz="1800" spc="-35" dirty="0">
                <a:latin typeface="Arial"/>
                <a:cs typeface="Arial"/>
              </a:rPr>
              <a:t> </a:t>
            </a:r>
            <a:r>
              <a:rPr sz="1800" dirty="0">
                <a:latin typeface="Arial"/>
                <a:cs typeface="Arial"/>
              </a:rPr>
              <a:t>service</a:t>
            </a:r>
            <a:r>
              <a:rPr sz="1800" spc="-30" dirty="0">
                <a:latin typeface="Arial"/>
                <a:cs typeface="Arial"/>
              </a:rPr>
              <a:t> </a:t>
            </a:r>
            <a:r>
              <a:rPr sz="1800" spc="-10" dirty="0">
                <a:latin typeface="Arial"/>
                <a:cs typeface="Arial"/>
              </a:rPr>
              <a:t>unavailability.</a:t>
            </a:r>
            <a:endParaRPr sz="18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Privacy</a:t>
            </a:r>
            <a:r>
              <a:rPr spc="-25" dirty="0"/>
              <a:t> </a:t>
            </a:r>
            <a:r>
              <a:rPr spc="-10" dirty="0"/>
              <a:t>issues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33</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597532"/>
            <a:ext cx="8110473" cy="2796278"/>
          </a:xfrm>
          <a:prstGeom prst="rect">
            <a:avLst/>
          </a:prstGeom>
        </p:spPr>
        <p:txBody>
          <a:bodyPr vert="horz" wrap="square" lIns="0" tIns="13335" rIns="0" bIns="0" rtlCol="0">
            <a:spAutoFit/>
          </a:bodyPr>
          <a:lstStyle/>
          <a:p>
            <a:r>
              <a:rPr lang="en-IN" sz="2000" b="1" dirty="0"/>
              <a:t>1. Data Sovereignty and Legal Jurisdiction</a:t>
            </a:r>
          </a:p>
          <a:p>
            <a:pPr algn="just"/>
            <a:r>
              <a:rPr lang="en-IN" sz="2000" dirty="0"/>
              <a:t>while your data is "in the cloud," it physically sits on a server in a specific country. This matters because the laws of that country—not necessarily your own—often dictate who can access that data.</a:t>
            </a:r>
            <a:br>
              <a:rPr lang="en-IN" sz="2000" dirty="0"/>
            </a:br>
            <a:endParaRPr lang="en-IN" sz="2000" dirty="0"/>
          </a:p>
          <a:p>
            <a:pPr algn="just"/>
            <a:r>
              <a:rPr lang="en-IN" sz="2000" b="1" dirty="0"/>
              <a:t>The Issue:</a:t>
            </a:r>
            <a:r>
              <a:rPr lang="en-IN" sz="2000" dirty="0"/>
              <a:t> A cloud provider might be headquartered in the US, but your data could be stored in a data </a:t>
            </a:r>
            <a:r>
              <a:rPr lang="en-IN" sz="2000" dirty="0" err="1"/>
              <a:t>center</a:t>
            </a:r>
            <a:r>
              <a:rPr lang="en-IN" sz="2000" dirty="0"/>
              <a:t> in Germany or Singapore.</a:t>
            </a:r>
            <a:br>
              <a:rPr lang="en-IN" sz="2000" dirty="0"/>
            </a:br>
            <a:endParaRPr lang="en-IN" sz="2000" dirty="0"/>
          </a:p>
          <a:p>
            <a:pPr marL="12065" marR="202565">
              <a:lnSpc>
                <a:spcPct val="100000"/>
              </a:lnSpc>
              <a:spcBef>
                <a:spcPts val="105"/>
              </a:spcBef>
              <a:buClr>
                <a:srgbClr val="00007C"/>
              </a:buClr>
              <a:buSzPct val="75000"/>
              <a:tabLst>
                <a:tab pos="355600" algn="l"/>
              </a:tabLst>
            </a:pPr>
            <a:endParaRPr sz="2000" dirty="0">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A782-9076-46C1-5434-10EF4C4A161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FD91C57-5FE6-FB18-50ED-F89995FF3915}"/>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Privacy</a:t>
            </a:r>
            <a:r>
              <a:rPr spc="-25" dirty="0"/>
              <a:t> </a:t>
            </a:r>
            <a:r>
              <a:rPr spc="-10" dirty="0"/>
              <a:t>issues</a:t>
            </a:r>
          </a:p>
        </p:txBody>
      </p:sp>
      <p:sp>
        <p:nvSpPr>
          <p:cNvPr id="4" name="object 4">
            <a:extLst>
              <a:ext uri="{FF2B5EF4-FFF2-40B4-BE49-F238E27FC236}">
                <a16:creationId xmlns:a16="http://schemas.microsoft.com/office/drawing/2014/main" id="{29653CAA-FF6D-39DB-C9D5-08B844DF5C48}"/>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6A8624A8-8757-00DD-C3D6-48F0125AFFF4}"/>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34</a:t>
            </a:fld>
            <a:endParaRPr spc="-25" dirty="0"/>
          </a:p>
        </p:txBody>
      </p:sp>
      <p:sp>
        <p:nvSpPr>
          <p:cNvPr id="6" name="object 6">
            <a:extLst>
              <a:ext uri="{FF2B5EF4-FFF2-40B4-BE49-F238E27FC236}">
                <a16:creationId xmlns:a16="http://schemas.microsoft.com/office/drawing/2014/main" id="{040C4EB6-6DA6-0053-7723-320FEF1375E3}"/>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a:extLst>
              <a:ext uri="{FF2B5EF4-FFF2-40B4-BE49-F238E27FC236}">
                <a16:creationId xmlns:a16="http://schemas.microsoft.com/office/drawing/2014/main" id="{950C103F-1CB2-207A-5DEF-A2E7A2AFA5DB}"/>
              </a:ext>
            </a:extLst>
          </p:cNvPr>
          <p:cNvSpPr txBox="1"/>
          <p:nvPr/>
        </p:nvSpPr>
        <p:spPr>
          <a:xfrm>
            <a:off x="535940" y="1597532"/>
            <a:ext cx="8110473" cy="4212050"/>
          </a:xfrm>
          <a:prstGeom prst="rect">
            <a:avLst/>
          </a:prstGeom>
        </p:spPr>
        <p:txBody>
          <a:bodyPr vert="horz" wrap="square" lIns="0" tIns="13335" rIns="0" bIns="0" rtlCol="0">
            <a:spAutoFit/>
          </a:bodyPr>
          <a:lstStyle/>
          <a:p>
            <a:r>
              <a:rPr lang="en-IN" b="1" dirty="0"/>
              <a:t>2. Cultural Ambivalence Toward Privacy</a:t>
            </a:r>
          </a:p>
          <a:p>
            <a:r>
              <a:rPr lang="en-IN" dirty="0"/>
              <a:t>"privacy" isn't a universal concept; it is valued differently across the globe, making it hard to create a single standard for a global internet.</a:t>
            </a:r>
            <a:br>
              <a:rPr lang="en-IN" dirty="0"/>
            </a:br>
            <a:endParaRPr lang="en-IN" dirty="0"/>
          </a:p>
          <a:p>
            <a:r>
              <a:rPr lang="en-IN" b="1" dirty="0"/>
              <a:t>Individualist vs. Collectivist Cultures:</a:t>
            </a:r>
            <a:br>
              <a:rPr lang="en-IN" b="1" dirty="0"/>
            </a:br>
            <a:endParaRPr lang="en-IN" dirty="0"/>
          </a:p>
          <a:p>
            <a:pPr lvl="4"/>
            <a:r>
              <a:rPr lang="en-IN" b="1" dirty="0"/>
              <a:t>     a. Privacy-focused:</a:t>
            </a:r>
            <a:r>
              <a:rPr lang="en-IN" dirty="0"/>
              <a:t> In many Western European cultures, privacy is viewed as a fundamental human right. People are often </a:t>
            </a:r>
            <a:r>
              <a:rPr lang="en-IN" dirty="0" err="1"/>
              <a:t>skeptical</a:t>
            </a:r>
            <a:r>
              <a:rPr lang="en-IN" dirty="0"/>
              <a:t> of both government and corporate data collection.</a:t>
            </a:r>
            <a:br>
              <a:rPr lang="en-IN" dirty="0"/>
            </a:br>
            <a:endParaRPr lang="en-IN" dirty="0"/>
          </a:p>
          <a:p>
            <a:pPr lvl="1"/>
            <a:r>
              <a:rPr lang="en-IN" b="1" dirty="0"/>
              <a:t>     b. Community/Utility-focused:</a:t>
            </a:r>
            <a:r>
              <a:rPr lang="en-IN" dirty="0"/>
              <a:t> In some East Asian or Nordic cultures, there is often a higher level of trust in the state or a greater emphasis on social transparency for the "greater good" (e.g., public safety or efficient social services).</a:t>
            </a:r>
          </a:p>
          <a:p>
            <a:pPr marL="355600" marR="202565" indent="-343535">
              <a:lnSpc>
                <a:spcPct val="100000"/>
              </a:lnSpc>
              <a:spcBef>
                <a:spcPts val="105"/>
              </a:spcBef>
              <a:buClr>
                <a:srgbClr val="00007C"/>
              </a:buClr>
              <a:buSzPct val="75000"/>
              <a:buFont typeface="Wingdings"/>
              <a:buChar char=""/>
              <a:tabLst>
                <a:tab pos="355600" algn="l"/>
              </a:tabLst>
            </a:pPr>
            <a:endParaRPr sz="2000" dirty="0">
              <a:latin typeface="Arial"/>
              <a:cs typeface="Arial"/>
            </a:endParaRPr>
          </a:p>
        </p:txBody>
      </p:sp>
    </p:spTree>
    <p:extLst>
      <p:ext uri="{BB962C8B-B14F-4D97-AF65-F5344CB8AC3E}">
        <p14:creationId xmlns:p14="http://schemas.microsoft.com/office/powerpoint/2010/main" val="4123345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Cloud</a:t>
            </a:r>
            <a:r>
              <a:rPr spc="-40" dirty="0"/>
              <a:t> </a:t>
            </a:r>
            <a:r>
              <a:rPr spc="-10" dirty="0"/>
              <a:t>vulnerabilities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35</a:t>
            </a:fld>
            <a:endParaRPr spc="-25" dirty="0"/>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p:cNvSpPr txBox="1"/>
          <p:nvPr/>
        </p:nvSpPr>
        <p:spPr>
          <a:xfrm>
            <a:off x="535940" y="1749932"/>
            <a:ext cx="7823834" cy="3209925"/>
          </a:xfrm>
          <a:prstGeom prst="rect">
            <a:avLst/>
          </a:prstGeom>
        </p:spPr>
        <p:txBody>
          <a:bodyPr vert="horz" wrap="square" lIns="0" tIns="13335" rIns="0" bIns="0" rtlCol="0">
            <a:spAutoFit/>
          </a:bodyPr>
          <a:lstStyle/>
          <a:p>
            <a:pPr marL="355600" marR="831850" indent="-343535">
              <a:lnSpc>
                <a:spcPct val="100000"/>
              </a:lnSpc>
              <a:spcBef>
                <a:spcPts val="105"/>
              </a:spcBef>
              <a:buClr>
                <a:srgbClr val="00007C"/>
              </a:buClr>
              <a:buSzPct val="75000"/>
              <a:buFont typeface="Wingdings"/>
              <a:buChar char=""/>
              <a:tabLst>
                <a:tab pos="355600" algn="l"/>
              </a:tabLst>
            </a:pPr>
            <a:r>
              <a:rPr sz="2000" dirty="0">
                <a:latin typeface="Arial"/>
                <a:cs typeface="Arial"/>
              </a:rPr>
              <a:t>Clouds</a:t>
            </a:r>
            <a:r>
              <a:rPr sz="2000" spc="-30" dirty="0">
                <a:latin typeface="Arial"/>
                <a:cs typeface="Arial"/>
              </a:rPr>
              <a:t> </a:t>
            </a:r>
            <a:r>
              <a:rPr sz="2000" dirty="0">
                <a:latin typeface="Arial"/>
                <a:cs typeface="Arial"/>
              </a:rPr>
              <a:t>are</a:t>
            </a:r>
            <a:r>
              <a:rPr sz="2000" spc="-40" dirty="0">
                <a:latin typeface="Arial"/>
                <a:cs typeface="Arial"/>
              </a:rPr>
              <a:t> </a:t>
            </a:r>
            <a:r>
              <a:rPr sz="2000" dirty="0">
                <a:latin typeface="Arial"/>
                <a:cs typeface="Arial"/>
              </a:rPr>
              <a:t>affected</a:t>
            </a:r>
            <a:r>
              <a:rPr sz="2000" spc="-45" dirty="0">
                <a:latin typeface="Arial"/>
                <a:cs typeface="Arial"/>
              </a:rPr>
              <a:t> </a:t>
            </a:r>
            <a:r>
              <a:rPr sz="2000" dirty="0">
                <a:latin typeface="Arial"/>
                <a:cs typeface="Arial"/>
              </a:rPr>
              <a:t>by</a:t>
            </a:r>
            <a:r>
              <a:rPr sz="2000" spc="-35" dirty="0">
                <a:latin typeface="Arial"/>
                <a:cs typeface="Arial"/>
              </a:rPr>
              <a:t> </a:t>
            </a:r>
            <a:r>
              <a:rPr sz="2000" dirty="0">
                <a:latin typeface="Arial"/>
                <a:cs typeface="Arial"/>
              </a:rPr>
              <a:t>malicious</a:t>
            </a:r>
            <a:r>
              <a:rPr sz="2000" spc="-30" dirty="0">
                <a:latin typeface="Arial"/>
                <a:cs typeface="Arial"/>
              </a:rPr>
              <a:t> </a:t>
            </a:r>
            <a:r>
              <a:rPr sz="2000" dirty="0">
                <a:latin typeface="Arial"/>
                <a:cs typeface="Arial"/>
              </a:rPr>
              <a:t>attacks</a:t>
            </a:r>
            <a:r>
              <a:rPr sz="2000" spc="-45" dirty="0">
                <a:latin typeface="Arial"/>
                <a:cs typeface="Arial"/>
              </a:rPr>
              <a:t> </a:t>
            </a:r>
            <a:r>
              <a:rPr sz="2000" dirty="0">
                <a:latin typeface="Arial"/>
                <a:cs typeface="Arial"/>
              </a:rPr>
              <a:t>and</a:t>
            </a:r>
            <a:r>
              <a:rPr sz="2000" spc="-30" dirty="0">
                <a:latin typeface="Arial"/>
                <a:cs typeface="Arial"/>
              </a:rPr>
              <a:t> </a:t>
            </a:r>
            <a:r>
              <a:rPr sz="2000" dirty="0">
                <a:latin typeface="Arial"/>
                <a:cs typeface="Arial"/>
              </a:rPr>
              <a:t>failures</a:t>
            </a:r>
            <a:r>
              <a:rPr sz="2000" spc="-35" dirty="0">
                <a:latin typeface="Arial"/>
                <a:cs typeface="Arial"/>
              </a:rPr>
              <a:t> </a:t>
            </a:r>
            <a:r>
              <a:rPr sz="2000" dirty="0">
                <a:latin typeface="Arial"/>
                <a:cs typeface="Arial"/>
              </a:rPr>
              <a:t>of</a:t>
            </a:r>
            <a:r>
              <a:rPr sz="2000" spc="-25" dirty="0">
                <a:latin typeface="Arial"/>
                <a:cs typeface="Arial"/>
              </a:rPr>
              <a:t> the </a:t>
            </a:r>
            <a:r>
              <a:rPr sz="2000" dirty="0">
                <a:latin typeface="Arial"/>
                <a:cs typeface="Arial"/>
              </a:rPr>
              <a:t>infrastructure,</a:t>
            </a:r>
            <a:r>
              <a:rPr sz="2000" spc="-55" dirty="0">
                <a:latin typeface="Arial"/>
                <a:cs typeface="Arial"/>
              </a:rPr>
              <a:t> </a:t>
            </a:r>
            <a:r>
              <a:rPr sz="2000" dirty="0">
                <a:latin typeface="Arial"/>
                <a:cs typeface="Arial"/>
              </a:rPr>
              <a:t>e.g.,</a:t>
            </a:r>
            <a:r>
              <a:rPr sz="2000" spc="-40" dirty="0">
                <a:latin typeface="Arial"/>
                <a:cs typeface="Arial"/>
              </a:rPr>
              <a:t> </a:t>
            </a:r>
            <a:r>
              <a:rPr sz="2000" dirty="0">
                <a:latin typeface="Arial"/>
                <a:cs typeface="Arial"/>
              </a:rPr>
              <a:t>power</a:t>
            </a:r>
            <a:r>
              <a:rPr sz="2000" spc="-30" dirty="0">
                <a:latin typeface="Arial"/>
                <a:cs typeface="Arial"/>
              </a:rPr>
              <a:t> </a:t>
            </a:r>
            <a:r>
              <a:rPr sz="2000" spc="-10" dirty="0">
                <a:latin typeface="Arial"/>
                <a:cs typeface="Arial"/>
              </a:rPr>
              <a:t>failures.</a:t>
            </a:r>
            <a:endParaRPr sz="2000">
              <a:latin typeface="Arial"/>
              <a:cs typeface="Arial"/>
            </a:endParaRPr>
          </a:p>
          <a:p>
            <a:pPr>
              <a:lnSpc>
                <a:spcPct val="100000"/>
              </a:lnSpc>
              <a:spcBef>
                <a:spcPts val="1060"/>
              </a:spcBef>
              <a:buClr>
                <a:srgbClr val="00007C"/>
              </a:buClr>
              <a:buFont typeface="Wingdings"/>
              <a:buChar char=""/>
            </a:pPr>
            <a:endParaRPr sz="2000">
              <a:latin typeface="Arial"/>
              <a:cs typeface="Arial"/>
            </a:endParaRPr>
          </a:p>
          <a:p>
            <a:pPr marL="342900" marR="524510" indent="-342900" algn="ctr">
              <a:lnSpc>
                <a:spcPct val="100000"/>
              </a:lnSpc>
              <a:buClr>
                <a:srgbClr val="00007C"/>
              </a:buClr>
              <a:buSzPct val="75000"/>
              <a:buFont typeface="Wingdings"/>
              <a:buChar char=""/>
              <a:tabLst>
                <a:tab pos="342900" algn="l"/>
              </a:tabLst>
            </a:pPr>
            <a:r>
              <a:rPr sz="2000" dirty="0">
                <a:latin typeface="Arial"/>
                <a:cs typeface="Arial"/>
              </a:rPr>
              <a:t>Such</a:t>
            </a:r>
            <a:r>
              <a:rPr sz="2000" spc="-40" dirty="0">
                <a:latin typeface="Arial"/>
                <a:cs typeface="Arial"/>
              </a:rPr>
              <a:t> </a:t>
            </a:r>
            <a:r>
              <a:rPr sz="2000" dirty="0">
                <a:latin typeface="Arial"/>
                <a:cs typeface="Arial"/>
              </a:rPr>
              <a:t>events</a:t>
            </a:r>
            <a:r>
              <a:rPr sz="2000" spc="-45" dirty="0">
                <a:latin typeface="Arial"/>
                <a:cs typeface="Arial"/>
              </a:rPr>
              <a:t> </a:t>
            </a:r>
            <a:r>
              <a:rPr sz="2000" dirty="0">
                <a:latin typeface="Arial"/>
                <a:cs typeface="Arial"/>
              </a:rPr>
              <a:t>can</a:t>
            </a:r>
            <a:r>
              <a:rPr sz="2000" spc="-30" dirty="0">
                <a:latin typeface="Arial"/>
                <a:cs typeface="Arial"/>
              </a:rPr>
              <a:t> </a:t>
            </a:r>
            <a:r>
              <a:rPr sz="2000" dirty="0">
                <a:latin typeface="Arial"/>
                <a:cs typeface="Arial"/>
              </a:rPr>
              <a:t>affect</a:t>
            </a:r>
            <a:r>
              <a:rPr sz="2000" spc="-45"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Internet</a:t>
            </a:r>
            <a:r>
              <a:rPr sz="2000" spc="-45" dirty="0">
                <a:latin typeface="Arial"/>
                <a:cs typeface="Arial"/>
              </a:rPr>
              <a:t> </a:t>
            </a:r>
            <a:r>
              <a:rPr sz="2000" dirty="0">
                <a:latin typeface="Arial"/>
                <a:cs typeface="Arial"/>
              </a:rPr>
              <a:t>domain</a:t>
            </a:r>
            <a:r>
              <a:rPr sz="2000" spc="-50" dirty="0">
                <a:latin typeface="Arial"/>
                <a:cs typeface="Arial"/>
              </a:rPr>
              <a:t> </a:t>
            </a:r>
            <a:r>
              <a:rPr sz="2000" dirty="0">
                <a:latin typeface="Arial"/>
                <a:cs typeface="Arial"/>
              </a:rPr>
              <a:t>name</a:t>
            </a:r>
            <a:r>
              <a:rPr sz="2000" spc="-35" dirty="0">
                <a:latin typeface="Arial"/>
                <a:cs typeface="Arial"/>
              </a:rPr>
              <a:t> </a:t>
            </a:r>
            <a:r>
              <a:rPr sz="2000" dirty="0">
                <a:latin typeface="Arial"/>
                <a:cs typeface="Arial"/>
              </a:rPr>
              <a:t>servers</a:t>
            </a:r>
            <a:r>
              <a:rPr sz="2000" spc="-45" dirty="0">
                <a:latin typeface="Arial"/>
                <a:cs typeface="Arial"/>
              </a:rPr>
              <a:t> </a:t>
            </a:r>
            <a:r>
              <a:rPr sz="2000" spc="-25" dirty="0">
                <a:latin typeface="Arial"/>
                <a:cs typeface="Arial"/>
              </a:rPr>
              <a:t>and</a:t>
            </a:r>
            <a:endParaRPr sz="2000">
              <a:latin typeface="Arial"/>
              <a:cs typeface="Arial"/>
            </a:endParaRPr>
          </a:p>
          <a:p>
            <a:pPr marR="587375" algn="ctr">
              <a:lnSpc>
                <a:spcPct val="100000"/>
              </a:lnSpc>
            </a:pPr>
            <a:r>
              <a:rPr sz="2000" dirty="0">
                <a:latin typeface="Arial"/>
                <a:cs typeface="Arial"/>
              </a:rPr>
              <a:t>prevent</a:t>
            </a:r>
            <a:r>
              <a:rPr sz="2000" spc="-40" dirty="0">
                <a:latin typeface="Arial"/>
                <a:cs typeface="Arial"/>
              </a:rPr>
              <a:t> </a:t>
            </a:r>
            <a:r>
              <a:rPr sz="2000" dirty="0">
                <a:latin typeface="Arial"/>
                <a:cs typeface="Arial"/>
              </a:rPr>
              <a:t>access</a:t>
            </a:r>
            <a:r>
              <a:rPr sz="2000" spc="-40" dirty="0">
                <a:latin typeface="Arial"/>
                <a:cs typeface="Arial"/>
              </a:rPr>
              <a:t> </a:t>
            </a:r>
            <a:r>
              <a:rPr sz="2000" dirty="0">
                <a:latin typeface="Arial"/>
                <a:cs typeface="Arial"/>
              </a:rPr>
              <a:t>to</a:t>
            </a:r>
            <a:r>
              <a:rPr sz="2000" spc="-25" dirty="0">
                <a:latin typeface="Arial"/>
                <a:cs typeface="Arial"/>
              </a:rPr>
              <a:t> </a:t>
            </a:r>
            <a:r>
              <a:rPr sz="2000" dirty="0">
                <a:latin typeface="Arial"/>
                <a:cs typeface="Arial"/>
              </a:rPr>
              <a:t>a</a:t>
            </a:r>
            <a:r>
              <a:rPr sz="2000" spc="-5" dirty="0">
                <a:latin typeface="Arial"/>
                <a:cs typeface="Arial"/>
              </a:rPr>
              <a:t> </a:t>
            </a:r>
            <a:r>
              <a:rPr sz="2000" dirty="0">
                <a:latin typeface="Arial"/>
                <a:cs typeface="Arial"/>
              </a:rPr>
              <a:t>cloud</a:t>
            </a:r>
            <a:r>
              <a:rPr sz="2000" spc="-25" dirty="0">
                <a:latin typeface="Arial"/>
                <a:cs typeface="Arial"/>
              </a:rPr>
              <a:t> </a:t>
            </a:r>
            <a:r>
              <a:rPr sz="2000" dirty="0">
                <a:latin typeface="Arial"/>
                <a:cs typeface="Arial"/>
              </a:rPr>
              <a:t>or</a:t>
            </a:r>
            <a:r>
              <a:rPr sz="2000" spc="-20" dirty="0">
                <a:latin typeface="Arial"/>
                <a:cs typeface="Arial"/>
              </a:rPr>
              <a:t> </a:t>
            </a:r>
            <a:r>
              <a:rPr sz="2000" dirty="0">
                <a:latin typeface="Arial"/>
                <a:cs typeface="Arial"/>
              </a:rPr>
              <a:t>can</a:t>
            </a:r>
            <a:r>
              <a:rPr sz="2000" spc="-20" dirty="0">
                <a:latin typeface="Arial"/>
                <a:cs typeface="Arial"/>
              </a:rPr>
              <a:t> </a:t>
            </a:r>
            <a:r>
              <a:rPr sz="2000" dirty="0">
                <a:latin typeface="Arial"/>
                <a:cs typeface="Arial"/>
              </a:rPr>
              <a:t>directly</a:t>
            </a:r>
            <a:r>
              <a:rPr sz="2000" spc="-30" dirty="0">
                <a:latin typeface="Arial"/>
                <a:cs typeface="Arial"/>
              </a:rPr>
              <a:t> </a:t>
            </a:r>
            <a:r>
              <a:rPr sz="2000" dirty="0">
                <a:latin typeface="Arial"/>
                <a:cs typeface="Arial"/>
              </a:rPr>
              <a:t>affect</a:t>
            </a:r>
            <a:r>
              <a:rPr sz="2000" spc="-40" dirty="0">
                <a:latin typeface="Arial"/>
                <a:cs typeface="Arial"/>
              </a:rPr>
              <a:t> </a:t>
            </a:r>
            <a:r>
              <a:rPr sz="2000" dirty="0">
                <a:latin typeface="Arial"/>
                <a:cs typeface="Arial"/>
              </a:rPr>
              <a:t>the</a:t>
            </a:r>
            <a:r>
              <a:rPr sz="2000" spc="5" dirty="0">
                <a:latin typeface="Arial"/>
                <a:cs typeface="Arial"/>
              </a:rPr>
              <a:t> </a:t>
            </a:r>
            <a:r>
              <a:rPr sz="2000" spc="-10" dirty="0">
                <a:latin typeface="Arial"/>
                <a:cs typeface="Arial"/>
              </a:rPr>
              <a:t>clouds:</a:t>
            </a:r>
            <a:endParaRPr sz="2000">
              <a:latin typeface="Arial"/>
              <a:cs typeface="Arial"/>
            </a:endParaRPr>
          </a:p>
          <a:p>
            <a:pPr marL="1155700" marR="5080" lvl="1" indent="-228600">
              <a:lnSpc>
                <a:spcPct val="100000"/>
              </a:lnSpc>
              <a:spcBef>
                <a:spcPts val="440"/>
              </a:spcBef>
              <a:buClr>
                <a:srgbClr val="00007C"/>
              </a:buClr>
              <a:buSzPct val="63888"/>
              <a:buFont typeface="Wingdings"/>
              <a:buChar char=""/>
              <a:tabLst>
                <a:tab pos="1155700" algn="l"/>
              </a:tabLst>
            </a:pPr>
            <a:r>
              <a:rPr sz="1800" dirty="0">
                <a:latin typeface="Arial"/>
                <a:cs typeface="Arial"/>
              </a:rPr>
              <a:t>in</a:t>
            </a:r>
            <a:r>
              <a:rPr sz="1800" spc="-20" dirty="0">
                <a:latin typeface="Arial"/>
                <a:cs typeface="Arial"/>
              </a:rPr>
              <a:t> </a:t>
            </a:r>
            <a:r>
              <a:rPr sz="1800" dirty="0">
                <a:latin typeface="Arial"/>
                <a:cs typeface="Arial"/>
              </a:rPr>
              <a:t>2004</a:t>
            </a:r>
            <a:r>
              <a:rPr sz="1800" spc="-10" dirty="0">
                <a:latin typeface="Arial"/>
                <a:cs typeface="Arial"/>
              </a:rPr>
              <a:t> </a:t>
            </a:r>
            <a:r>
              <a:rPr sz="1800" dirty="0">
                <a:latin typeface="Arial"/>
                <a:cs typeface="Arial"/>
              </a:rPr>
              <a:t>an</a:t>
            </a:r>
            <a:r>
              <a:rPr sz="1800" spc="-15" dirty="0">
                <a:latin typeface="Arial"/>
                <a:cs typeface="Arial"/>
              </a:rPr>
              <a:t> </a:t>
            </a:r>
            <a:r>
              <a:rPr sz="1800" dirty="0">
                <a:latin typeface="Arial"/>
                <a:cs typeface="Arial"/>
              </a:rPr>
              <a:t>attack</a:t>
            </a:r>
            <a:r>
              <a:rPr sz="1800" spc="-30" dirty="0">
                <a:latin typeface="Arial"/>
                <a:cs typeface="Arial"/>
              </a:rPr>
              <a:t> </a:t>
            </a:r>
            <a:r>
              <a:rPr sz="1800" dirty="0">
                <a:latin typeface="Arial"/>
                <a:cs typeface="Arial"/>
              </a:rPr>
              <a:t>at</a:t>
            </a:r>
            <a:r>
              <a:rPr sz="1800" spc="-15" dirty="0">
                <a:latin typeface="Arial"/>
                <a:cs typeface="Arial"/>
              </a:rPr>
              <a:t> </a:t>
            </a:r>
            <a:r>
              <a:rPr sz="1800" dirty="0">
                <a:latin typeface="Arial"/>
                <a:cs typeface="Arial"/>
              </a:rPr>
              <a:t>Akamai</a:t>
            </a:r>
            <a:r>
              <a:rPr sz="1800" spc="-5" dirty="0">
                <a:latin typeface="Arial"/>
                <a:cs typeface="Arial"/>
              </a:rPr>
              <a:t> </a:t>
            </a:r>
            <a:r>
              <a:rPr sz="1800" dirty="0">
                <a:latin typeface="Arial"/>
                <a:cs typeface="Arial"/>
              </a:rPr>
              <a:t>caused</a:t>
            </a:r>
            <a:r>
              <a:rPr sz="1800" spc="-10" dirty="0">
                <a:latin typeface="Arial"/>
                <a:cs typeface="Arial"/>
              </a:rPr>
              <a:t> </a:t>
            </a:r>
            <a:r>
              <a:rPr sz="1800" dirty="0">
                <a:latin typeface="Arial"/>
                <a:cs typeface="Arial"/>
              </a:rPr>
              <a:t>a</a:t>
            </a:r>
            <a:r>
              <a:rPr sz="1800" spc="-20" dirty="0">
                <a:latin typeface="Arial"/>
                <a:cs typeface="Arial"/>
              </a:rPr>
              <a:t> </a:t>
            </a:r>
            <a:r>
              <a:rPr sz="1800" dirty="0">
                <a:latin typeface="Arial"/>
                <a:cs typeface="Arial"/>
              </a:rPr>
              <a:t>domain</a:t>
            </a:r>
            <a:r>
              <a:rPr sz="1800" spc="-10" dirty="0">
                <a:latin typeface="Arial"/>
                <a:cs typeface="Arial"/>
              </a:rPr>
              <a:t> </a:t>
            </a:r>
            <a:r>
              <a:rPr sz="1800" dirty="0">
                <a:latin typeface="Arial"/>
                <a:cs typeface="Arial"/>
              </a:rPr>
              <a:t>name</a:t>
            </a:r>
            <a:r>
              <a:rPr sz="1800" spc="-10" dirty="0">
                <a:latin typeface="Arial"/>
                <a:cs typeface="Arial"/>
              </a:rPr>
              <a:t> </a:t>
            </a:r>
            <a:r>
              <a:rPr sz="1800" dirty="0">
                <a:latin typeface="Arial"/>
                <a:cs typeface="Arial"/>
              </a:rPr>
              <a:t>outage</a:t>
            </a:r>
            <a:r>
              <a:rPr sz="1800" spc="-15" dirty="0">
                <a:latin typeface="Arial"/>
                <a:cs typeface="Arial"/>
              </a:rPr>
              <a:t> </a:t>
            </a:r>
            <a:r>
              <a:rPr sz="1800" dirty="0">
                <a:latin typeface="Arial"/>
                <a:cs typeface="Arial"/>
              </a:rPr>
              <a:t>and</a:t>
            </a:r>
            <a:r>
              <a:rPr sz="1800" spc="-15" dirty="0">
                <a:latin typeface="Arial"/>
                <a:cs typeface="Arial"/>
              </a:rPr>
              <a:t> </a:t>
            </a:r>
            <a:r>
              <a:rPr sz="1800" spc="-50" dirty="0">
                <a:latin typeface="Arial"/>
                <a:cs typeface="Arial"/>
              </a:rPr>
              <a:t>a </a:t>
            </a:r>
            <a:r>
              <a:rPr sz="1800" dirty="0">
                <a:latin typeface="Arial"/>
                <a:cs typeface="Arial"/>
              </a:rPr>
              <a:t>major</a:t>
            </a:r>
            <a:r>
              <a:rPr sz="1800" spc="-35" dirty="0">
                <a:latin typeface="Arial"/>
                <a:cs typeface="Arial"/>
              </a:rPr>
              <a:t> </a:t>
            </a:r>
            <a:r>
              <a:rPr sz="1800" dirty="0">
                <a:latin typeface="Arial"/>
                <a:cs typeface="Arial"/>
              </a:rPr>
              <a:t>blackout</a:t>
            </a:r>
            <a:r>
              <a:rPr sz="1800" spc="-15" dirty="0">
                <a:latin typeface="Arial"/>
                <a:cs typeface="Arial"/>
              </a:rPr>
              <a:t> </a:t>
            </a:r>
            <a:r>
              <a:rPr sz="1800" dirty="0">
                <a:latin typeface="Arial"/>
                <a:cs typeface="Arial"/>
              </a:rPr>
              <a:t>that</a:t>
            </a:r>
            <a:r>
              <a:rPr sz="1800" spc="-30" dirty="0">
                <a:latin typeface="Arial"/>
                <a:cs typeface="Arial"/>
              </a:rPr>
              <a:t> </a:t>
            </a:r>
            <a:r>
              <a:rPr sz="1800" dirty="0">
                <a:latin typeface="Arial"/>
                <a:cs typeface="Arial"/>
              </a:rPr>
              <a:t>affected</a:t>
            </a:r>
            <a:r>
              <a:rPr sz="1800" spc="-25" dirty="0">
                <a:latin typeface="Arial"/>
                <a:cs typeface="Arial"/>
              </a:rPr>
              <a:t> </a:t>
            </a:r>
            <a:r>
              <a:rPr sz="1800" dirty="0">
                <a:latin typeface="Arial"/>
                <a:cs typeface="Arial"/>
              </a:rPr>
              <a:t>Google,</a:t>
            </a:r>
            <a:r>
              <a:rPr sz="1800" spc="-15" dirty="0">
                <a:latin typeface="Arial"/>
                <a:cs typeface="Arial"/>
              </a:rPr>
              <a:t> </a:t>
            </a:r>
            <a:r>
              <a:rPr sz="1800" dirty="0">
                <a:latin typeface="Arial"/>
                <a:cs typeface="Arial"/>
              </a:rPr>
              <a:t>Yahoo,</a:t>
            </a:r>
            <a:r>
              <a:rPr sz="1800" spc="-5" dirty="0">
                <a:latin typeface="Arial"/>
                <a:cs typeface="Arial"/>
              </a:rPr>
              <a:t> </a:t>
            </a:r>
            <a:r>
              <a:rPr sz="1800" dirty="0">
                <a:latin typeface="Arial"/>
                <a:cs typeface="Arial"/>
              </a:rPr>
              <a:t>and</a:t>
            </a:r>
            <a:r>
              <a:rPr sz="1800" spc="-25" dirty="0">
                <a:latin typeface="Arial"/>
                <a:cs typeface="Arial"/>
              </a:rPr>
              <a:t> </a:t>
            </a:r>
            <a:r>
              <a:rPr sz="1800" dirty="0">
                <a:latin typeface="Arial"/>
                <a:cs typeface="Arial"/>
              </a:rPr>
              <a:t>other</a:t>
            </a:r>
            <a:r>
              <a:rPr sz="1800" spc="-20" dirty="0">
                <a:latin typeface="Arial"/>
                <a:cs typeface="Arial"/>
              </a:rPr>
              <a:t> </a:t>
            </a:r>
            <a:r>
              <a:rPr sz="1800" spc="-10" dirty="0">
                <a:latin typeface="Arial"/>
                <a:cs typeface="Arial"/>
              </a:rPr>
              <a:t>sites.</a:t>
            </a:r>
            <a:endParaRPr sz="1800">
              <a:latin typeface="Arial"/>
              <a:cs typeface="Arial"/>
            </a:endParaRPr>
          </a:p>
          <a:p>
            <a:pPr marL="1155700" marR="73025" lvl="1" indent="-228600">
              <a:lnSpc>
                <a:spcPct val="100000"/>
              </a:lnSpc>
              <a:spcBef>
                <a:spcPts val="434"/>
              </a:spcBef>
              <a:buClr>
                <a:srgbClr val="00007C"/>
              </a:buClr>
              <a:buSzPct val="63888"/>
              <a:buFont typeface="Wingdings"/>
              <a:buChar char=""/>
              <a:tabLst>
                <a:tab pos="1155700" algn="l"/>
              </a:tabLst>
            </a:pPr>
            <a:r>
              <a:rPr sz="1800" dirty="0">
                <a:latin typeface="Arial"/>
                <a:cs typeface="Arial"/>
              </a:rPr>
              <a:t>in</a:t>
            </a:r>
            <a:r>
              <a:rPr sz="1800" spc="-20" dirty="0">
                <a:latin typeface="Arial"/>
                <a:cs typeface="Arial"/>
              </a:rPr>
              <a:t> </a:t>
            </a:r>
            <a:r>
              <a:rPr sz="1800" dirty="0">
                <a:latin typeface="Arial"/>
                <a:cs typeface="Arial"/>
              </a:rPr>
              <a:t>2009,</a:t>
            </a:r>
            <a:r>
              <a:rPr sz="1800" spc="-5" dirty="0">
                <a:latin typeface="Arial"/>
                <a:cs typeface="Arial"/>
              </a:rPr>
              <a:t> </a:t>
            </a:r>
            <a:r>
              <a:rPr sz="1800" dirty="0">
                <a:latin typeface="Arial"/>
                <a:cs typeface="Arial"/>
              </a:rPr>
              <a:t>Google</a:t>
            </a:r>
            <a:r>
              <a:rPr sz="1800" spc="-10" dirty="0">
                <a:latin typeface="Arial"/>
                <a:cs typeface="Arial"/>
              </a:rPr>
              <a:t> </a:t>
            </a:r>
            <a:r>
              <a:rPr sz="1800" dirty="0">
                <a:latin typeface="Arial"/>
                <a:cs typeface="Arial"/>
              </a:rPr>
              <a:t>was</a:t>
            </a:r>
            <a:r>
              <a:rPr sz="1800" spc="10"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target</a:t>
            </a:r>
            <a:r>
              <a:rPr sz="1800" spc="-15"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a</a:t>
            </a:r>
            <a:r>
              <a:rPr sz="1800" spc="-5" dirty="0">
                <a:latin typeface="Arial"/>
                <a:cs typeface="Arial"/>
              </a:rPr>
              <a:t> </a:t>
            </a:r>
            <a:r>
              <a:rPr sz="1800" dirty="0">
                <a:latin typeface="Arial"/>
                <a:cs typeface="Arial"/>
              </a:rPr>
              <a:t>denial of</a:t>
            </a:r>
            <a:r>
              <a:rPr sz="1800" spc="-30" dirty="0">
                <a:latin typeface="Arial"/>
                <a:cs typeface="Arial"/>
              </a:rPr>
              <a:t> </a:t>
            </a:r>
            <a:r>
              <a:rPr sz="1800" dirty="0">
                <a:latin typeface="Arial"/>
                <a:cs typeface="Arial"/>
              </a:rPr>
              <a:t>service</a:t>
            </a:r>
            <a:r>
              <a:rPr sz="1800" spc="-10" dirty="0">
                <a:latin typeface="Arial"/>
                <a:cs typeface="Arial"/>
              </a:rPr>
              <a:t> </a:t>
            </a:r>
            <a:r>
              <a:rPr sz="1800" dirty="0">
                <a:latin typeface="Arial"/>
                <a:cs typeface="Arial"/>
              </a:rPr>
              <a:t>attack</a:t>
            </a:r>
            <a:r>
              <a:rPr sz="1800" spc="-15" dirty="0">
                <a:latin typeface="Arial"/>
                <a:cs typeface="Arial"/>
              </a:rPr>
              <a:t> </a:t>
            </a:r>
            <a:r>
              <a:rPr sz="1800" spc="-10" dirty="0">
                <a:latin typeface="Arial"/>
                <a:cs typeface="Arial"/>
              </a:rPr>
              <a:t>which </a:t>
            </a:r>
            <a:r>
              <a:rPr sz="1800" dirty="0">
                <a:latin typeface="Arial"/>
                <a:cs typeface="Arial"/>
              </a:rPr>
              <a:t>took</a:t>
            </a:r>
            <a:r>
              <a:rPr sz="1800" spc="-35" dirty="0">
                <a:latin typeface="Arial"/>
                <a:cs typeface="Arial"/>
              </a:rPr>
              <a:t> </a:t>
            </a:r>
            <a:r>
              <a:rPr sz="1800" dirty="0">
                <a:latin typeface="Arial"/>
                <a:cs typeface="Arial"/>
              </a:rPr>
              <a:t>down</a:t>
            </a:r>
            <a:r>
              <a:rPr sz="1800" spc="5" dirty="0">
                <a:latin typeface="Arial"/>
                <a:cs typeface="Arial"/>
              </a:rPr>
              <a:t> </a:t>
            </a:r>
            <a:r>
              <a:rPr sz="1800" dirty="0">
                <a:latin typeface="Arial"/>
                <a:cs typeface="Arial"/>
              </a:rPr>
              <a:t>Google</a:t>
            </a:r>
            <a:r>
              <a:rPr sz="1800" spc="-25" dirty="0">
                <a:latin typeface="Arial"/>
                <a:cs typeface="Arial"/>
              </a:rPr>
              <a:t> </a:t>
            </a:r>
            <a:r>
              <a:rPr sz="1800" dirty="0">
                <a:latin typeface="Arial"/>
                <a:cs typeface="Arial"/>
              </a:rPr>
              <a:t>News</a:t>
            </a:r>
            <a:r>
              <a:rPr sz="1800" spc="10" dirty="0">
                <a:latin typeface="Arial"/>
                <a:cs typeface="Arial"/>
              </a:rPr>
              <a:t> </a:t>
            </a:r>
            <a:r>
              <a:rPr sz="1800" dirty="0">
                <a:latin typeface="Arial"/>
                <a:cs typeface="Arial"/>
              </a:rPr>
              <a:t>and</a:t>
            </a:r>
            <a:r>
              <a:rPr sz="1800" spc="-35" dirty="0">
                <a:latin typeface="Arial"/>
                <a:cs typeface="Arial"/>
              </a:rPr>
              <a:t> </a:t>
            </a:r>
            <a:r>
              <a:rPr sz="1800" dirty="0">
                <a:latin typeface="Arial"/>
                <a:cs typeface="Arial"/>
              </a:rPr>
              <a:t>Gmail</a:t>
            </a:r>
            <a:r>
              <a:rPr sz="1800" spc="-25" dirty="0">
                <a:latin typeface="Arial"/>
                <a:cs typeface="Arial"/>
              </a:rPr>
              <a:t> </a:t>
            </a:r>
            <a:r>
              <a:rPr sz="1800" dirty="0">
                <a:latin typeface="Arial"/>
                <a:cs typeface="Arial"/>
              </a:rPr>
              <a:t>for</a:t>
            </a:r>
            <a:r>
              <a:rPr sz="1800" spc="-40" dirty="0">
                <a:latin typeface="Arial"/>
                <a:cs typeface="Arial"/>
              </a:rPr>
              <a:t> </a:t>
            </a:r>
            <a:r>
              <a:rPr sz="1800" dirty="0">
                <a:latin typeface="Arial"/>
                <a:cs typeface="Arial"/>
              </a:rPr>
              <a:t>several</a:t>
            </a:r>
            <a:r>
              <a:rPr sz="1800" spc="-20" dirty="0">
                <a:latin typeface="Arial"/>
                <a:cs typeface="Arial"/>
              </a:rPr>
              <a:t> </a:t>
            </a:r>
            <a:r>
              <a:rPr sz="1800" spc="-10" dirty="0">
                <a:latin typeface="Arial"/>
                <a:cs typeface="Arial"/>
              </a:rPr>
              <a:t>days;</a:t>
            </a:r>
            <a:endParaRPr sz="1800">
              <a:latin typeface="Arial"/>
              <a:cs typeface="Arial"/>
            </a:endParaRPr>
          </a:p>
          <a:p>
            <a:pPr marL="1155065" lvl="1" indent="-227965">
              <a:lnSpc>
                <a:spcPct val="100000"/>
              </a:lnSpc>
              <a:spcBef>
                <a:spcPts val="430"/>
              </a:spcBef>
              <a:buClr>
                <a:srgbClr val="00007C"/>
              </a:buClr>
              <a:buSzPct val="63888"/>
              <a:buFont typeface="Wingdings"/>
              <a:buChar char=""/>
              <a:tabLst>
                <a:tab pos="1155065" algn="l"/>
              </a:tabLst>
            </a:pPr>
            <a:r>
              <a:rPr sz="1800" dirty="0">
                <a:latin typeface="Arial"/>
                <a:cs typeface="Arial"/>
              </a:rPr>
              <a:t>in</a:t>
            </a:r>
            <a:r>
              <a:rPr sz="1800" spc="-30" dirty="0">
                <a:latin typeface="Arial"/>
                <a:cs typeface="Arial"/>
              </a:rPr>
              <a:t> </a:t>
            </a:r>
            <a:r>
              <a:rPr sz="1800" dirty="0">
                <a:latin typeface="Arial"/>
                <a:cs typeface="Arial"/>
              </a:rPr>
              <a:t>2012</a:t>
            </a:r>
            <a:r>
              <a:rPr sz="1800" spc="-25" dirty="0">
                <a:latin typeface="Arial"/>
                <a:cs typeface="Arial"/>
              </a:rPr>
              <a:t> </a:t>
            </a:r>
            <a:r>
              <a:rPr sz="1800" dirty="0">
                <a:latin typeface="Arial"/>
                <a:cs typeface="Arial"/>
              </a:rPr>
              <a:t>lightning</a:t>
            </a:r>
            <a:r>
              <a:rPr sz="1800" spc="-5" dirty="0">
                <a:latin typeface="Arial"/>
                <a:cs typeface="Arial"/>
              </a:rPr>
              <a:t> </a:t>
            </a:r>
            <a:r>
              <a:rPr sz="1800" dirty="0">
                <a:latin typeface="Arial"/>
                <a:cs typeface="Arial"/>
              </a:rPr>
              <a:t>caused</a:t>
            </a:r>
            <a:r>
              <a:rPr sz="1800" spc="-25" dirty="0">
                <a:latin typeface="Arial"/>
                <a:cs typeface="Arial"/>
              </a:rPr>
              <a:t> </a:t>
            </a:r>
            <a:r>
              <a:rPr sz="1800" dirty="0">
                <a:latin typeface="Arial"/>
                <a:cs typeface="Arial"/>
              </a:rPr>
              <a:t>a</a:t>
            </a:r>
            <a:r>
              <a:rPr sz="1800" spc="-30" dirty="0">
                <a:latin typeface="Arial"/>
                <a:cs typeface="Arial"/>
              </a:rPr>
              <a:t> </a:t>
            </a:r>
            <a:r>
              <a:rPr sz="1800" dirty="0">
                <a:latin typeface="Arial"/>
                <a:cs typeface="Arial"/>
              </a:rPr>
              <a:t>prolonged down</a:t>
            </a:r>
            <a:r>
              <a:rPr sz="1800" spc="15" dirty="0">
                <a:latin typeface="Arial"/>
                <a:cs typeface="Arial"/>
              </a:rPr>
              <a:t> </a:t>
            </a:r>
            <a:r>
              <a:rPr sz="1800" dirty="0">
                <a:latin typeface="Arial"/>
                <a:cs typeface="Arial"/>
              </a:rPr>
              <a:t>time</a:t>
            </a:r>
            <a:r>
              <a:rPr sz="1800" spc="-30" dirty="0">
                <a:latin typeface="Arial"/>
                <a:cs typeface="Arial"/>
              </a:rPr>
              <a:t> </a:t>
            </a:r>
            <a:r>
              <a:rPr sz="1800" dirty="0">
                <a:latin typeface="Arial"/>
                <a:cs typeface="Arial"/>
              </a:rPr>
              <a:t>at</a:t>
            </a:r>
            <a:r>
              <a:rPr sz="1800" spc="-30" dirty="0">
                <a:latin typeface="Arial"/>
                <a:cs typeface="Arial"/>
              </a:rPr>
              <a:t> </a:t>
            </a:r>
            <a:r>
              <a:rPr sz="1800" spc="-10" dirty="0">
                <a:latin typeface="Arial"/>
                <a:cs typeface="Arial"/>
              </a:rPr>
              <a:t>Amazon.</a:t>
            </a:r>
            <a:endParaRPr sz="180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E483D-1233-1F39-AA65-0FA757FDF3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DE4C03-C509-0338-8482-6C95604C4EAC}"/>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dirty="0"/>
              <a:t>Benefits of Cloud Computing</a:t>
            </a:r>
            <a:endParaRPr spc="-10" dirty="0"/>
          </a:p>
        </p:txBody>
      </p:sp>
      <p:sp>
        <p:nvSpPr>
          <p:cNvPr id="4" name="object 4">
            <a:extLst>
              <a:ext uri="{FF2B5EF4-FFF2-40B4-BE49-F238E27FC236}">
                <a16:creationId xmlns:a16="http://schemas.microsoft.com/office/drawing/2014/main" id="{C232695D-6E45-3619-D320-9F9C8BE5C53F}"/>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54B8F2BC-2072-5A07-DF04-AFF53BD28782}"/>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36</a:t>
            </a:fld>
            <a:endParaRPr spc="-25" dirty="0"/>
          </a:p>
        </p:txBody>
      </p:sp>
      <p:sp>
        <p:nvSpPr>
          <p:cNvPr id="6" name="object 6">
            <a:extLst>
              <a:ext uri="{FF2B5EF4-FFF2-40B4-BE49-F238E27FC236}">
                <a16:creationId xmlns:a16="http://schemas.microsoft.com/office/drawing/2014/main" id="{480244AE-4005-9B7A-CCE1-39A414E6EABF}"/>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a:extLst>
              <a:ext uri="{FF2B5EF4-FFF2-40B4-BE49-F238E27FC236}">
                <a16:creationId xmlns:a16="http://schemas.microsoft.com/office/drawing/2014/main" id="{548338F1-8D54-186B-F12F-379213519AC0}"/>
              </a:ext>
            </a:extLst>
          </p:cNvPr>
          <p:cNvSpPr txBox="1"/>
          <p:nvPr/>
        </p:nvSpPr>
        <p:spPr>
          <a:xfrm>
            <a:off x="535940" y="1749932"/>
            <a:ext cx="7823834" cy="2873222"/>
          </a:xfrm>
          <a:prstGeom prst="rect">
            <a:avLst/>
          </a:prstGeom>
        </p:spPr>
        <p:txBody>
          <a:bodyPr vert="horz" wrap="square" lIns="0" tIns="13335" rIns="0" bIns="0" rtlCol="0">
            <a:spAutoFit/>
          </a:bodyPr>
          <a:lstStyle/>
          <a:p>
            <a:pPr marL="355600" marR="831850" indent="-343535">
              <a:spcBef>
                <a:spcPts val="105"/>
              </a:spcBef>
              <a:buClr>
                <a:srgbClr val="00007C"/>
              </a:buClr>
              <a:buSzPct val="75000"/>
              <a:buFont typeface="Wingdings"/>
              <a:buChar char=""/>
              <a:tabLst>
                <a:tab pos="355600" algn="l"/>
              </a:tabLst>
            </a:pPr>
            <a:r>
              <a:rPr lang="en-IN" dirty="0"/>
              <a:t>On-demand self-service</a:t>
            </a:r>
          </a:p>
          <a:p>
            <a:pPr marL="355600" marR="831850" indent="-343535">
              <a:spcBef>
                <a:spcPts val="105"/>
              </a:spcBef>
              <a:buClr>
                <a:srgbClr val="00007C"/>
              </a:buClr>
              <a:buSzPct val="75000"/>
              <a:buFont typeface="Wingdings"/>
              <a:buChar char=""/>
              <a:tabLst>
                <a:tab pos="355600" algn="l"/>
              </a:tabLst>
            </a:pPr>
            <a:r>
              <a:rPr lang="en-IN" dirty="0"/>
              <a:t>Broad network access</a:t>
            </a:r>
          </a:p>
          <a:p>
            <a:pPr marL="355600" marR="831850" indent="-343535">
              <a:spcBef>
                <a:spcPts val="105"/>
              </a:spcBef>
              <a:buClr>
                <a:srgbClr val="00007C"/>
              </a:buClr>
              <a:buSzPct val="75000"/>
              <a:buFont typeface="Wingdings"/>
              <a:buChar char=""/>
              <a:tabLst>
                <a:tab pos="355600" algn="l"/>
              </a:tabLst>
            </a:pPr>
            <a:r>
              <a:rPr lang="en-IN" dirty="0"/>
              <a:t>Resource pooling</a:t>
            </a:r>
          </a:p>
          <a:p>
            <a:pPr marL="355600" marR="831850" indent="-343535">
              <a:spcBef>
                <a:spcPts val="105"/>
              </a:spcBef>
              <a:buClr>
                <a:srgbClr val="00007C"/>
              </a:buClr>
              <a:buSzPct val="75000"/>
              <a:buFont typeface="Wingdings"/>
              <a:buChar char=""/>
              <a:tabLst>
                <a:tab pos="355600" algn="l"/>
              </a:tabLst>
            </a:pPr>
            <a:r>
              <a:rPr lang="en-IN" dirty="0"/>
              <a:t>Rapid elasticity</a:t>
            </a:r>
          </a:p>
          <a:p>
            <a:pPr marL="355600" marR="831850" indent="-343535">
              <a:spcBef>
                <a:spcPts val="105"/>
              </a:spcBef>
              <a:buClr>
                <a:srgbClr val="00007C"/>
              </a:buClr>
              <a:buSzPct val="75000"/>
              <a:buFont typeface="Wingdings"/>
              <a:buChar char=""/>
              <a:tabLst>
                <a:tab pos="355600" algn="l"/>
              </a:tabLst>
            </a:pPr>
            <a:r>
              <a:rPr lang="en-IN" dirty="0"/>
              <a:t>Measured service</a:t>
            </a:r>
          </a:p>
          <a:p>
            <a:pPr marL="355600" marR="831850" indent="-343535">
              <a:spcBef>
                <a:spcPts val="105"/>
              </a:spcBef>
              <a:buClr>
                <a:srgbClr val="00007C"/>
              </a:buClr>
              <a:buSzPct val="75000"/>
              <a:buFont typeface="Wingdings"/>
              <a:buChar char=""/>
              <a:tabLst>
                <a:tab pos="355600" algn="l"/>
              </a:tabLst>
            </a:pPr>
            <a:endParaRPr lang="en-IN" dirty="0"/>
          </a:p>
          <a:p>
            <a:pPr marL="12065" marR="831850">
              <a:spcBef>
                <a:spcPts val="105"/>
              </a:spcBef>
              <a:buClr>
                <a:srgbClr val="00007C"/>
              </a:buClr>
              <a:buSzPct val="75000"/>
              <a:tabLst>
                <a:tab pos="355600" algn="l"/>
              </a:tabLst>
            </a:pPr>
            <a:endParaRPr lang="en-IN" dirty="0"/>
          </a:p>
          <a:p>
            <a:pPr marL="12065" marR="831850">
              <a:lnSpc>
                <a:spcPct val="100000"/>
              </a:lnSpc>
              <a:spcBef>
                <a:spcPts val="105"/>
              </a:spcBef>
              <a:buClr>
                <a:srgbClr val="00007C"/>
              </a:buClr>
              <a:buSzPct val="75000"/>
              <a:tabLst>
                <a:tab pos="355600" algn="l"/>
              </a:tabLst>
            </a:pPr>
            <a:br>
              <a:rPr lang="en-US" sz="1800" dirty="0">
                <a:latin typeface="Arial"/>
                <a:cs typeface="Arial"/>
              </a:rPr>
            </a:br>
            <a:br>
              <a:rPr lang="en-US" sz="1800" dirty="0">
                <a:latin typeface="Arial"/>
                <a:cs typeface="Arial"/>
              </a:rPr>
            </a:br>
            <a:endParaRPr sz="1800" dirty="0">
              <a:latin typeface="Arial"/>
              <a:cs typeface="Arial"/>
            </a:endParaRPr>
          </a:p>
        </p:txBody>
      </p:sp>
    </p:spTree>
    <p:extLst>
      <p:ext uri="{BB962C8B-B14F-4D97-AF65-F5344CB8AC3E}">
        <p14:creationId xmlns:p14="http://schemas.microsoft.com/office/powerpoint/2010/main" val="2841161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FA72-B54F-15A6-D5B7-8937D22B1E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1AFC8F-5FC9-F818-B41F-BB07C09701B7}"/>
              </a:ext>
            </a:extLst>
          </p:cNvPr>
          <p:cNvSpPr txBox="1">
            <a:spLocks noGrp="1"/>
          </p:cNvSpPr>
          <p:nvPr>
            <p:ph type="title"/>
          </p:nvPr>
        </p:nvSpPr>
        <p:spPr>
          <a:xfrm>
            <a:off x="535940" y="914400"/>
            <a:ext cx="8072119" cy="514350"/>
          </a:xfrm>
          <a:prstGeom prst="rect">
            <a:avLst/>
          </a:prstGeom>
        </p:spPr>
        <p:txBody>
          <a:bodyPr vert="horz" wrap="square" lIns="0" tIns="13335" rIns="0" bIns="0" rtlCol="0">
            <a:spAutoFit/>
          </a:bodyPr>
          <a:lstStyle/>
          <a:p>
            <a:pPr marL="12700">
              <a:lnSpc>
                <a:spcPct val="100000"/>
              </a:lnSpc>
              <a:spcBef>
                <a:spcPts val="105"/>
              </a:spcBef>
            </a:pPr>
            <a:r>
              <a:rPr lang="en-US" dirty="0"/>
              <a:t>Benefits of Cloud Computing</a:t>
            </a:r>
            <a:endParaRPr spc="-10" dirty="0"/>
          </a:p>
        </p:txBody>
      </p:sp>
      <p:sp>
        <p:nvSpPr>
          <p:cNvPr id="4" name="object 4">
            <a:extLst>
              <a:ext uri="{FF2B5EF4-FFF2-40B4-BE49-F238E27FC236}">
                <a16:creationId xmlns:a16="http://schemas.microsoft.com/office/drawing/2014/main" id="{0357B746-B7B4-091E-DF84-713F1A1F3EAC}"/>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5" name="object 5">
            <a:extLst>
              <a:ext uri="{FF2B5EF4-FFF2-40B4-BE49-F238E27FC236}">
                <a16:creationId xmlns:a16="http://schemas.microsoft.com/office/drawing/2014/main" id="{C805C707-CC3D-C97D-33B1-1F95C142A0C5}"/>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37</a:t>
            </a:fld>
            <a:endParaRPr spc="-25" dirty="0"/>
          </a:p>
        </p:txBody>
      </p:sp>
      <p:sp>
        <p:nvSpPr>
          <p:cNvPr id="6" name="object 6">
            <a:extLst>
              <a:ext uri="{FF2B5EF4-FFF2-40B4-BE49-F238E27FC236}">
                <a16:creationId xmlns:a16="http://schemas.microsoft.com/office/drawing/2014/main" id="{94A306EF-9841-A08C-1CD5-B4B2E811ABEE}"/>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3" name="object 3">
            <a:extLst>
              <a:ext uri="{FF2B5EF4-FFF2-40B4-BE49-F238E27FC236}">
                <a16:creationId xmlns:a16="http://schemas.microsoft.com/office/drawing/2014/main" id="{43CD58D0-ADA9-D778-63CF-FE4072A8C305}"/>
              </a:ext>
            </a:extLst>
          </p:cNvPr>
          <p:cNvSpPr txBox="1"/>
          <p:nvPr/>
        </p:nvSpPr>
        <p:spPr>
          <a:xfrm>
            <a:off x="535940" y="1562195"/>
            <a:ext cx="7823834" cy="6422912"/>
          </a:xfrm>
          <a:prstGeom prst="rect">
            <a:avLst/>
          </a:prstGeom>
        </p:spPr>
        <p:txBody>
          <a:bodyPr vert="horz" wrap="square" lIns="0" tIns="13335" rIns="0" bIns="0" rtlCol="0">
            <a:spAutoFit/>
          </a:bodyPr>
          <a:lstStyle/>
          <a:p>
            <a:pPr marL="285750" indent="-285750">
              <a:buFont typeface="Arial" panose="020B0604020202020204" pitchFamily="34" charset="0"/>
              <a:buChar char="•"/>
            </a:pPr>
            <a:r>
              <a:rPr lang="en-IN" dirty="0"/>
              <a:t>Lower costs: Because cloud networks operate at higher efficiencies and with greater utilization, significant cost reductions are often encountered.</a:t>
            </a:r>
            <a:br>
              <a:rPr lang="en-IN" dirty="0"/>
            </a:br>
            <a:endParaRPr lang="en-IN" dirty="0"/>
          </a:p>
          <a:p>
            <a:pPr marL="285750" indent="-285750">
              <a:buFont typeface="Arial" panose="020B0604020202020204" pitchFamily="34" charset="0"/>
              <a:buChar char="•"/>
            </a:pPr>
            <a:r>
              <a:rPr lang="en-IN" dirty="0"/>
              <a:t>Ease of utilization: Depending upon the type of service being offered, you may find that you do not require hardware or software licenses to implement your service.</a:t>
            </a:r>
            <a:br>
              <a:rPr lang="en-IN" dirty="0"/>
            </a:br>
            <a:endParaRPr lang="en-IN" dirty="0"/>
          </a:p>
          <a:p>
            <a:pPr marL="285750" indent="-285750">
              <a:buFont typeface="Arial" panose="020B0604020202020204" pitchFamily="34" charset="0"/>
              <a:buChar char="•"/>
            </a:pPr>
            <a:r>
              <a:rPr lang="en-IN" dirty="0"/>
              <a:t>Quality of Service: The Quality of Service (QoS) is something that you can obtain under contract from your vendor.</a:t>
            </a:r>
          </a:p>
          <a:p>
            <a:endParaRPr lang="en-IN" dirty="0"/>
          </a:p>
          <a:p>
            <a:pPr marL="285750" indent="-285750">
              <a:buFont typeface="Arial" panose="020B0604020202020204" pitchFamily="34" charset="0"/>
              <a:buChar char="•"/>
            </a:pPr>
            <a:r>
              <a:rPr lang="en-IN" dirty="0"/>
              <a:t>Reliability: The scale of cloud computing networks and their ability to provide load balancing and failover makes them highly reliable, often much more reliable than what you can achieve in a single organization.</a:t>
            </a:r>
          </a:p>
          <a:p>
            <a:br>
              <a:rPr lang="en-IN" i="1" dirty="0"/>
            </a:br>
            <a:br>
              <a:rPr lang="en-IN" i="1" dirty="0"/>
            </a:br>
            <a:endParaRPr lang="en-IN" dirty="0"/>
          </a:p>
          <a:p>
            <a:endParaRPr lang="en-IN" dirty="0"/>
          </a:p>
          <a:p>
            <a:endParaRPr lang="en-IN" dirty="0"/>
          </a:p>
          <a:p>
            <a:pPr marL="12065" marR="831850">
              <a:spcBef>
                <a:spcPts val="105"/>
              </a:spcBef>
              <a:buClr>
                <a:srgbClr val="00007C"/>
              </a:buClr>
              <a:buSzPct val="75000"/>
              <a:tabLst>
                <a:tab pos="355600" algn="l"/>
              </a:tabLst>
            </a:pPr>
            <a:endParaRPr lang="en-IN" dirty="0"/>
          </a:p>
          <a:p>
            <a:pPr marL="12065" marR="831850">
              <a:spcBef>
                <a:spcPts val="105"/>
              </a:spcBef>
              <a:buClr>
                <a:srgbClr val="00007C"/>
              </a:buClr>
              <a:buSzPct val="75000"/>
              <a:tabLst>
                <a:tab pos="355600" algn="l"/>
              </a:tabLst>
            </a:pPr>
            <a:endParaRPr lang="en-IN" dirty="0"/>
          </a:p>
          <a:p>
            <a:pPr marL="12065" marR="831850">
              <a:lnSpc>
                <a:spcPct val="100000"/>
              </a:lnSpc>
              <a:spcBef>
                <a:spcPts val="105"/>
              </a:spcBef>
              <a:buClr>
                <a:srgbClr val="00007C"/>
              </a:buClr>
              <a:buSzPct val="75000"/>
              <a:tabLst>
                <a:tab pos="355600" algn="l"/>
              </a:tabLst>
            </a:pPr>
            <a:br>
              <a:rPr lang="en-US" sz="1800" dirty="0">
                <a:latin typeface="Arial"/>
                <a:cs typeface="Arial"/>
              </a:rPr>
            </a:br>
            <a:br>
              <a:rPr lang="en-US" sz="1800" dirty="0">
                <a:latin typeface="Arial"/>
                <a:cs typeface="Arial"/>
              </a:rPr>
            </a:br>
            <a:endParaRPr sz="1800" dirty="0">
              <a:latin typeface="Arial"/>
              <a:cs typeface="Arial"/>
            </a:endParaRPr>
          </a:p>
        </p:txBody>
      </p:sp>
    </p:spTree>
    <p:extLst>
      <p:ext uri="{BB962C8B-B14F-4D97-AF65-F5344CB8AC3E}">
        <p14:creationId xmlns:p14="http://schemas.microsoft.com/office/powerpoint/2010/main" val="33510746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F0FD-F92F-3221-0F06-7335081B30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71A0EC-89F4-7641-8848-A2561C603AE5}"/>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dirty="0"/>
              <a:t>Disadvantages of Cloud Computing</a:t>
            </a:r>
            <a:endParaRPr spc="-10" dirty="0"/>
          </a:p>
        </p:txBody>
      </p:sp>
      <p:sp>
        <p:nvSpPr>
          <p:cNvPr id="8" name="Text Placeholder 7">
            <a:extLst>
              <a:ext uri="{FF2B5EF4-FFF2-40B4-BE49-F238E27FC236}">
                <a16:creationId xmlns:a16="http://schemas.microsoft.com/office/drawing/2014/main" id="{B5F24D54-1D43-1216-73ED-C27A77B2BE5B}"/>
              </a:ext>
            </a:extLst>
          </p:cNvPr>
          <p:cNvSpPr>
            <a:spLocks noGrp="1"/>
          </p:cNvSpPr>
          <p:nvPr>
            <p:ph type="body" idx="1"/>
          </p:nvPr>
        </p:nvSpPr>
        <p:spPr>
          <a:xfrm>
            <a:off x="574040" y="1502156"/>
            <a:ext cx="8055609" cy="4308872"/>
          </a:xfrm>
        </p:spPr>
        <p:txBody>
          <a:bodyPr/>
          <a:lstStyle/>
          <a:p>
            <a:r>
              <a:rPr lang="en-IN" b="1" dirty="0"/>
              <a:t>1. Lack of Customization and Feature Parity</a:t>
            </a:r>
          </a:p>
          <a:p>
            <a:r>
              <a:rPr lang="en-IN" dirty="0"/>
              <a:t>In the cloud, you are often using "Multi-tenant" software. This means you are sharing the same code base with thousands of other companies. Because of this, the provider cannot let you change the underlying engine to suit your specific needs.</a:t>
            </a:r>
            <a:br>
              <a:rPr lang="en-IN" dirty="0"/>
            </a:br>
            <a:br>
              <a:rPr lang="en-IN" dirty="0"/>
            </a:br>
            <a:r>
              <a:rPr lang="en-IN" b="1" dirty="0"/>
              <a:t>2. Latency and "Architectural Disconnect"</a:t>
            </a:r>
          </a:p>
          <a:p>
            <a:r>
              <a:rPr lang="en-IN" dirty="0"/>
              <a:t>Because the internet is </a:t>
            </a:r>
            <a:r>
              <a:rPr lang="en-IN" b="1" dirty="0"/>
              <a:t>stateless</a:t>
            </a:r>
            <a:r>
              <a:rPr lang="en-IN" dirty="0"/>
              <a:t> and </a:t>
            </a:r>
            <a:r>
              <a:rPr lang="en-IN" b="1" dirty="0"/>
              <a:t>unidirectional</a:t>
            </a:r>
            <a:r>
              <a:rPr lang="en-IN" dirty="0"/>
              <a:t>, every interaction is a series of "requests" and "responses" traveling over long distances (WAN). This is inherently slower than a computer talking to a server in the same room (LAN).</a:t>
            </a:r>
          </a:p>
          <a:p>
            <a:br>
              <a:rPr lang="en-IN" dirty="0"/>
            </a:br>
            <a:endParaRPr lang="en-IN" dirty="0"/>
          </a:p>
          <a:p>
            <a:endParaRPr lang="en-US" dirty="0"/>
          </a:p>
        </p:txBody>
      </p:sp>
      <p:sp>
        <p:nvSpPr>
          <p:cNvPr id="4" name="object 4">
            <a:extLst>
              <a:ext uri="{FF2B5EF4-FFF2-40B4-BE49-F238E27FC236}">
                <a16:creationId xmlns:a16="http://schemas.microsoft.com/office/drawing/2014/main" id="{CBF42F95-DEB9-9C3E-3DC1-FB5F1947F95C}"/>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6" name="object 6">
            <a:extLst>
              <a:ext uri="{FF2B5EF4-FFF2-40B4-BE49-F238E27FC236}">
                <a16:creationId xmlns:a16="http://schemas.microsoft.com/office/drawing/2014/main" id="{C0199898-EA54-4C2C-262D-8A3F0D151BE4}"/>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5" name="object 5">
            <a:extLst>
              <a:ext uri="{FF2B5EF4-FFF2-40B4-BE49-F238E27FC236}">
                <a16:creationId xmlns:a16="http://schemas.microsoft.com/office/drawing/2014/main" id="{551AF29A-D13C-80B4-4F12-4C12DA454C4D}"/>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38</a:t>
            </a:fld>
            <a:endParaRPr spc="-25" dirty="0"/>
          </a:p>
        </p:txBody>
      </p:sp>
      <p:sp>
        <p:nvSpPr>
          <p:cNvPr id="3" name="object 3">
            <a:extLst>
              <a:ext uri="{FF2B5EF4-FFF2-40B4-BE49-F238E27FC236}">
                <a16:creationId xmlns:a16="http://schemas.microsoft.com/office/drawing/2014/main" id="{D36928C1-1993-66B4-F97B-92105F61CD08}"/>
              </a:ext>
            </a:extLst>
          </p:cNvPr>
          <p:cNvSpPr txBox="1"/>
          <p:nvPr/>
        </p:nvSpPr>
        <p:spPr>
          <a:xfrm>
            <a:off x="535940" y="1562195"/>
            <a:ext cx="7823834" cy="2821926"/>
          </a:xfrm>
          <a:prstGeom prst="rect">
            <a:avLst/>
          </a:prstGeom>
        </p:spPr>
        <p:txBody>
          <a:bodyPr vert="horz" wrap="square" lIns="0" tIns="13335" rIns="0" bIns="0" rtlCol="0">
            <a:spAutoFit/>
          </a:bodyPr>
          <a:lstStyle/>
          <a:p>
            <a:br>
              <a:rPr lang="en-IN" i="1" dirty="0"/>
            </a:br>
            <a:br>
              <a:rPr lang="en-IN" i="1" dirty="0"/>
            </a:br>
            <a:endParaRPr lang="en-IN" dirty="0"/>
          </a:p>
          <a:p>
            <a:endParaRPr lang="en-IN" dirty="0"/>
          </a:p>
          <a:p>
            <a:endParaRPr lang="en-IN" dirty="0"/>
          </a:p>
          <a:p>
            <a:pPr marL="12065" marR="831850">
              <a:spcBef>
                <a:spcPts val="105"/>
              </a:spcBef>
              <a:buClr>
                <a:srgbClr val="00007C"/>
              </a:buClr>
              <a:buSzPct val="75000"/>
              <a:tabLst>
                <a:tab pos="355600" algn="l"/>
              </a:tabLst>
            </a:pPr>
            <a:endParaRPr lang="en-IN" dirty="0"/>
          </a:p>
          <a:p>
            <a:pPr marL="12065" marR="831850">
              <a:spcBef>
                <a:spcPts val="105"/>
              </a:spcBef>
              <a:buClr>
                <a:srgbClr val="00007C"/>
              </a:buClr>
              <a:buSzPct val="75000"/>
              <a:tabLst>
                <a:tab pos="355600" algn="l"/>
              </a:tabLst>
            </a:pPr>
            <a:endParaRPr lang="en-IN" dirty="0"/>
          </a:p>
          <a:p>
            <a:pPr marL="12065" marR="831850">
              <a:lnSpc>
                <a:spcPct val="100000"/>
              </a:lnSpc>
              <a:spcBef>
                <a:spcPts val="105"/>
              </a:spcBef>
              <a:buClr>
                <a:srgbClr val="00007C"/>
              </a:buClr>
              <a:buSzPct val="75000"/>
              <a:tabLst>
                <a:tab pos="355600" algn="l"/>
              </a:tabLst>
            </a:pPr>
            <a:br>
              <a:rPr lang="en-US" sz="1800" dirty="0">
                <a:latin typeface="Arial"/>
                <a:cs typeface="Arial"/>
              </a:rPr>
            </a:br>
            <a:br>
              <a:rPr lang="en-US" sz="1800" dirty="0">
                <a:latin typeface="Arial"/>
                <a:cs typeface="Arial"/>
              </a:rPr>
            </a:br>
            <a:endParaRPr sz="1800" dirty="0">
              <a:latin typeface="Arial"/>
              <a:cs typeface="Arial"/>
            </a:endParaRPr>
          </a:p>
        </p:txBody>
      </p:sp>
    </p:spTree>
    <p:extLst>
      <p:ext uri="{BB962C8B-B14F-4D97-AF65-F5344CB8AC3E}">
        <p14:creationId xmlns:p14="http://schemas.microsoft.com/office/powerpoint/2010/main" val="1674105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052E-3DB1-D885-0A10-8C1FCEE40EB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481D34-5608-5366-45D6-BA2D2BF4440D}"/>
              </a:ext>
            </a:extLst>
          </p:cNvPr>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lang="en-US" dirty="0"/>
              <a:t>Disadvantages of Cloud Computing</a:t>
            </a:r>
            <a:endParaRPr spc="-10" dirty="0"/>
          </a:p>
        </p:txBody>
      </p:sp>
      <p:sp>
        <p:nvSpPr>
          <p:cNvPr id="8" name="Text Placeholder 7">
            <a:extLst>
              <a:ext uri="{FF2B5EF4-FFF2-40B4-BE49-F238E27FC236}">
                <a16:creationId xmlns:a16="http://schemas.microsoft.com/office/drawing/2014/main" id="{8CF02CC1-A1EE-1CFD-E7CA-1A95E5BD40DF}"/>
              </a:ext>
            </a:extLst>
          </p:cNvPr>
          <p:cNvSpPr>
            <a:spLocks noGrp="1"/>
          </p:cNvSpPr>
          <p:nvPr>
            <p:ph type="body" idx="1"/>
          </p:nvPr>
        </p:nvSpPr>
        <p:spPr>
          <a:xfrm>
            <a:off x="574040" y="1502156"/>
            <a:ext cx="8055609" cy="4924425"/>
          </a:xfrm>
        </p:spPr>
        <p:txBody>
          <a:bodyPr/>
          <a:lstStyle/>
          <a:p>
            <a:r>
              <a:rPr lang="en-IN" b="1" dirty="0"/>
              <a:t>3. The Middleware Performance Hit</a:t>
            </a:r>
          </a:p>
          <a:p>
            <a:r>
              <a:rPr lang="en-IN" dirty="0"/>
              <a:t>To make a "stateless" system act like it has "state" (meaning it remembers who you are and what you just did), developers have to add </a:t>
            </a:r>
            <a:r>
              <a:rPr lang="en-IN" b="1" dirty="0"/>
              <a:t>middleware</a:t>
            </a:r>
            <a:r>
              <a:rPr lang="en-IN" dirty="0"/>
              <a:t> and </a:t>
            </a:r>
            <a:r>
              <a:rPr lang="en-IN" b="1" dirty="0"/>
              <a:t>transaction managers</a:t>
            </a:r>
            <a:r>
              <a:rPr lang="en-IN" dirty="0"/>
              <a:t>. This is extra "paperwork" for the computer to process.</a:t>
            </a:r>
          </a:p>
          <a:p>
            <a:r>
              <a:rPr lang="en-IN" b="1" dirty="0"/>
              <a:t>4. Privacy, Security, and Sovereignty</a:t>
            </a:r>
          </a:p>
          <a:p>
            <a:r>
              <a:rPr lang="en-IN" dirty="0"/>
              <a:t>Once data leaves your physical building, you lose "custody." You are trusting the provider’s employees, their encryption, and their ability to resist government subpoenas.</a:t>
            </a:r>
            <a:br>
              <a:rPr lang="en-IN" dirty="0"/>
            </a:br>
            <a:br>
              <a:rPr lang="en-IN" dirty="0"/>
            </a:br>
            <a:r>
              <a:rPr lang="en-IN" b="1" dirty="0"/>
              <a:t>5. The "Wild West" of Regulatory Compliance</a:t>
            </a:r>
          </a:p>
          <a:p>
            <a:r>
              <a:rPr lang="en-IN" dirty="0"/>
              <a:t>The burden of compliance (HIPAA, GDPR, etc.) almost always falls on </a:t>
            </a:r>
            <a:r>
              <a:rPr lang="en-IN" b="1" dirty="0"/>
              <a:t>you</a:t>
            </a:r>
            <a:r>
              <a:rPr lang="en-IN" dirty="0"/>
              <a:t>, not the cloud provider</a:t>
            </a:r>
            <a:r>
              <a:rPr lang="en-IN"/>
              <a:t>. </a:t>
            </a:r>
            <a:endParaRPr lang="en-IN" dirty="0"/>
          </a:p>
          <a:p>
            <a:br>
              <a:rPr lang="en-IN" dirty="0"/>
            </a:br>
            <a:endParaRPr lang="en-IN" dirty="0"/>
          </a:p>
          <a:p>
            <a:endParaRPr lang="en-US" dirty="0"/>
          </a:p>
        </p:txBody>
      </p:sp>
      <p:sp>
        <p:nvSpPr>
          <p:cNvPr id="4" name="object 4">
            <a:extLst>
              <a:ext uri="{FF2B5EF4-FFF2-40B4-BE49-F238E27FC236}">
                <a16:creationId xmlns:a16="http://schemas.microsoft.com/office/drawing/2014/main" id="{0181B12B-A759-DCD2-D100-9AA755258CFC}"/>
              </a:ext>
            </a:extLst>
          </p:cNvPr>
          <p:cNvSpPr txBox="1">
            <a:spLocks noGrp="1"/>
          </p:cNvSpPr>
          <p:nvPr>
            <p:ph type="ftr" sz="quarter" idx="5"/>
          </p:nvPr>
        </p:nvSpPr>
        <p:spPr>
          <a:prstGeom prst="rect">
            <a:avLst/>
          </a:prstGeom>
        </p:spPr>
        <p:txBody>
          <a:bodyPr vert="horz" wrap="square" lIns="0" tIns="0" rIns="0" bIns="0" rtlCol="0">
            <a:spAutoFit/>
          </a:bodyPr>
          <a:lstStyle/>
          <a:p>
            <a:pPr algn="ctr">
              <a:lnSpc>
                <a:spcPts val="1425"/>
              </a:lnSpc>
            </a:pPr>
            <a:r>
              <a:rPr dirty="0"/>
              <a:t>Cloud</a:t>
            </a:r>
            <a:r>
              <a:rPr spc="-45" dirty="0"/>
              <a:t> </a:t>
            </a:r>
            <a:r>
              <a:rPr dirty="0"/>
              <a:t>Computing:</a:t>
            </a:r>
            <a:r>
              <a:rPr spc="-65" dirty="0"/>
              <a:t> </a:t>
            </a:r>
            <a:r>
              <a:rPr dirty="0"/>
              <a:t>Theory</a:t>
            </a:r>
            <a:r>
              <a:rPr spc="-35" dirty="0"/>
              <a:t> </a:t>
            </a:r>
            <a:r>
              <a:rPr dirty="0"/>
              <a:t>and</a:t>
            </a:r>
            <a:r>
              <a:rPr spc="-30" dirty="0"/>
              <a:t> </a:t>
            </a:r>
            <a:r>
              <a:rPr spc="-10" dirty="0"/>
              <a:t>Practice.</a:t>
            </a:r>
          </a:p>
          <a:p>
            <a:pPr marL="1905" algn="ctr">
              <a:lnSpc>
                <a:spcPct val="100000"/>
              </a:lnSpc>
            </a:pPr>
            <a:r>
              <a:rPr dirty="0"/>
              <a:t>Chapter</a:t>
            </a:r>
            <a:r>
              <a:rPr spc="-50" dirty="0"/>
              <a:t> 1</a:t>
            </a:r>
          </a:p>
        </p:txBody>
      </p:sp>
      <p:sp>
        <p:nvSpPr>
          <p:cNvPr id="6" name="object 6">
            <a:extLst>
              <a:ext uri="{FF2B5EF4-FFF2-40B4-BE49-F238E27FC236}">
                <a16:creationId xmlns:a16="http://schemas.microsoft.com/office/drawing/2014/main" id="{04FBF25F-56C1-C969-B290-919B7A52370A}"/>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Dan</a:t>
            </a:r>
            <a:r>
              <a:rPr spc="-25" dirty="0"/>
              <a:t> </a:t>
            </a:r>
            <a:r>
              <a:rPr dirty="0"/>
              <a:t>C.</a:t>
            </a:r>
            <a:r>
              <a:rPr spc="5" dirty="0"/>
              <a:t> </a:t>
            </a:r>
            <a:r>
              <a:rPr spc="-10" dirty="0"/>
              <a:t>Marinescu</a:t>
            </a:r>
          </a:p>
        </p:txBody>
      </p:sp>
      <p:sp>
        <p:nvSpPr>
          <p:cNvPr id="5" name="object 5">
            <a:extLst>
              <a:ext uri="{FF2B5EF4-FFF2-40B4-BE49-F238E27FC236}">
                <a16:creationId xmlns:a16="http://schemas.microsoft.com/office/drawing/2014/main" id="{32C78EA9-458F-3418-7D46-B8B9EEBD79D5}"/>
              </a:ext>
            </a:extLst>
          </p:cNvPr>
          <p:cNvSpPr txBox="1">
            <a:spLocks noGrp="1"/>
          </p:cNvSpPr>
          <p:nvPr>
            <p:ph type="sldNum" sz="quarter" idx="7"/>
          </p:nvPr>
        </p:nvSpPr>
        <p:spPr>
          <a:prstGeom prst="rect">
            <a:avLst/>
          </a:prstGeom>
        </p:spPr>
        <p:txBody>
          <a:bodyPr vert="horz" wrap="square" lIns="0" tIns="27940" rIns="0" bIns="0" rtlCol="0">
            <a:spAutoFit/>
          </a:bodyPr>
          <a:lstStyle/>
          <a:p>
            <a:pPr marL="12700">
              <a:lnSpc>
                <a:spcPct val="100000"/>
              </a:lnSpc>
              <a:spcBef>
                <a:spcPts val="220"/>
              </a:spcBef>
            </a:pPr>
            <a:fld id="{81D60167-4931-47E6-BA6A-407CBD079E47}" type="slidenum">
              <a:rPr spc="-25" dirty="0"/>
              <a:t>39</a:t>
            </a:fld>
            <a:endParaRPr spc="-25" dirty="0"/>
          </a:p>
        </p:txBody>
      </p:sp>
      <p:sp>
        <p:nvSpPr>
          <p:cNvPr id="3" name="object 3">
            <a:extLst>
              <a:ext uri="{FF2B5EF4-FFF2-40B4-BE49-F238E27FC236}">
                <a16:creationId xmlns:a16="http://schemas.microsoft.com/office/drawing/2014/main" id="{AC806D23-07E2-B618-6763-7AF1986B63AA}"/>
              </a:ext>
            </a:extLst>
          </p:cNvPr>
          <p:cNvSpPr txBox="1"/>
          <p:nvPr/>
        </p:nvSpPr>
        <p:spPr>
          <a:xfrm>
            <a:off x="535940" y="1562195"/>
            <a:ext cx="7823834" cy="2821926"/>
          </a:xfrm>
          <a:prstGeom prst="rect">
            <a:avLst/>
          </a:prstGeom>
        </p:spPr>
        <p:txBody>
          <a:bodyPr vert="horz" wrap="square" lIns="0" tIns="13335" rIns="0" bIns="0" rtlCol="0">
            <a:spAutoFit/>
          </a:bodyPr>
          <a:lstStyle/>
          <a:p>
            <a:br>
              <a:rPr lang="en-IN" i="1" dirty="0"/>
            </a:br>
            <a:br>
              <a:rPr lang="en-IN" i="1" dirty="0"/>
            </a:br>
            <a:endParaRPr lang="en-IN" dirty="0"/>
          </a:p>
          <a:p>
            <a:endParaRPr lang="en-IN" dirty="0"/>
          </a:p>
          <a:p>
            <a:endParaRPr lang="en-IN" dirty="0"/>
          </a:p>
          <a:p>
            <a:pPr marL="12065" marR="831850">
              <a:spcBef>
                <a:spcPts val="105"/>
              </a:spcBef>
              <a:buClr>
                <a:srgbClr val="00007C"/>
              </a:buClr>
              <a:buSzPct val="75000"/>
              <a:tabLst>
                <a:tab pos="355600" algn="l"/>
              </a:tabLst>
            </a:pPr>
            <a:endParaRPr lang="en-IN" dirty="0"/>
          </a:p>
          <a:p>
            <a:pPr marL="12065" marR="831850">
              <a:spcBef>
                <a:spcPts val="105"/>
              </a:spcBef>
              <a:buClr>
                <a:srgbClr val="00007C"/>
              </a:buClr>
              <a:buSzPct val="75000"/>
              <a:tabLst>
                <a:tab pos="355600" algn="l"/>
              </a:tabLst>
            </a:pPr>
            <a:r>
              <a:rPr lang="en-IN" dirty="0"/>
              <a:t> </a:t>
            </a:r>
          </a:p>
          <a:p>
            <a:pPr marL="12065" marR="831850">
              <a:lnSpc>
                <a:spcPct val="100000"/>
              </a:lnSpc>
              <a:spcBef>
                <a:spcPts val="105"/>
              </a:spcBef>
              <a:buClr>
                <a:srgbClr val="00007C"/>
              </a:buClr>
              <a:buSzPct val="75000"/>
              <a:tabLst>
                <a:tab pos="355600" algn="l"/>
              </a:tabLst>
            </a:pPr>
            <a:br>
              <a:rPr lang="en-US" sz="1800" dirty="0">
                <a:latin typeface="Arial"/>
                <a:cs typeface="Arial"/>
              </a:rPr>
            </a:br>
            <a:br>
              <a:rPr lang="en-US" sz="1800" dirty="0">
                <a:latin typeface="Arial"/>
                <a:cs typeface="Arial"/>
              </a:rPr>
            </a:br>
            <a:endParaRPr sz="1800" dirty="0">
              <a:latin typeface="Arial"/>
              <a:cs typeface="Arial"/>
            </a:endParaRPr>
          </a:p>
        </p:txBody>
      </p:sp>
    </p:spTree>
    <p:extLst>
      <p:ext uri="{BB962C8B-B14F-4D97-AF65-F5344CB8AC3E}">
        <p14:creationId xmlns:p14="http://schemas.microsoft.com/office/powerpoint/2010/main" val="1916591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1E39F-749D-E8AE-3C04-4F5D3171524C}"/>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6737D126-8EAF-A1B0-2935-24A0F8C05E24}"/>
              </a:ext>
            </a:extLst>
          </p:cNvPr>
          <p:cNvSpPr>
            <a:spLocks noGrp="1"/>
          </p:cNvSpPr>
          <p:nvPr>
            <p:ph type="body" idx="1"/>
          </p:nvPr>
        </p:nvSpPr>
        <p:spPr>
          <a:xfrm>
            <a:off x="574040" y="1502156"/>
            <a:ext cx="8055609" cy="4770537"/>
          </a:xfrm>
        </p:spPr>
        <p:txBody>
          <a:bodyPr/>
          <a:lstStyle/>
          <a:p>
            <a:r>
              <a:rPr lang="en-IN" b="1" dirty="0"/>
              <a:t>Q1. According to Marinescu, what does 'Elastic Computing' allow a system to do?</a:t>
            </a:r>
            <a:br>
              <a:rPr lang="en-IN" b="1" dirty="0"/>
            </a:br>
            <a:endParaRPr lang="en-IN" dirty="0"/>
          </a:p>
          <a:p>
            <a:pPr marL="800100" lvl="1" indent="-342900">
              <a:buFont typeface="Arial" panose="020B0604020202020204" pitchFamily="34" charset="0"/>
              <a:buChar char="•"/>
            </a:pPr>
            <a:r>
              <a:rPr lang="en-IN" dirty="0"/>
              <a:t>Use multiple programming languages simultaneously.</a:t>
            </a:r>
          </a:p>
          <a:p>
            <a:pPr marL="800100" lvl="1" indent="-342900">
              <a:buFont typeface="Arial" panose="020B0604020202020204" pitchFamily="34" charset="0"/>
              <a:buChar char="•"/>
            </a:pPr>
            <a:r>
              <a:rPr lang="en-IN" dirty="0"/>
              <a:t>Dynamically acquire and release computing resources in response to variable demand.</a:t>
            </a:r>
          </a:p>
          <a:p>
            <a:pPr marL="800100" lvl="1" indent="-342900">
              <a:buFont typeface="Arial" panose="020B0604020202020204" pitchFamily="34" charset="0"/>
              <a:buChar char="•"/>
            </a:pPr>
            <a:r>
              <a:rPr lang="en-IN" dirty="0"/>
              <a:t>Physically bend hardware components to fit in smaller racks.</a:t>
            </a:r>
          </a:p>
          <a:p>
            <a:pPr marL="800100" lvl="1" indent="-342900">
              <a:buFont typeface="Arial" panose="020B0604020202020204" pitchFamily="34" charset="0"/>
              <a:buChar char="•"/>
            </a:pPr>
            <a:r>
              <a:rPr lang="en-IN" dirty="0"/>
              <a:t>Pay a fixed monthly fee regardless of actual resource usage.</a:t>
            </a:r>
          </a:p>
          <a:p>
            <a:endParaRPr lang="en-US" dirty="0"/>
          </a:p>
          <a:p>
            <a:r>
              <a:rPr lang="en-IN" b="1" dirty="0"/>
              <a:t>Q2. Which delivery model provides the most control, allowing users to deploy arbitrary software and operating systems?</a:t>
            </a:r>
            <a:endParaRPr lang="en-IN" dirty="0"/>
          </a:p>
          <a:p>
            <a:pPr marL="800100" lvl="1" indent="-342900">
              <a:buFont typeface="Arial" panose="020B0604020202020204" pitchFamily="34" charset="0"/>
              <a:buChar char="•"/>
            </a:pPr>
            <a:r>
              <a:rPr lang="en-IN" dirty="0"/>
              <a:t>Software as a Service (SaaS)</a:t>
            </a:r>
          </a:p>
          <a:p>
            <a:pPr marL="800100" lvl="1" indent="-342900">
              <a:buFont typeface="Arial" panose="020B0604020202020204" pitchFamily="34" charset="0"/>
              <a:buChar char="•"/>
            </a:pPr>
            <a:r>
              <a:rPr lang="en-IN" dirty="0"/>
              <a:t>Platform as a Service (PaaS)</a:t>
            </a:r>
          </a:p>
          <a:p>
            <a:pPr marL="800100" lvl="1" indent="-342900">
              <a:buFont typeface="Arial" panose="020B0604020202020204" pitchFamily="34" charset="0"/>
              <a:buChar char="•"/>
            </a:pPr>
            <a:r>
              <a:rPr lang="en-IN" dirty="0"/>
              <a:t>Infrastructure as a Service (IaaS)</a:t>
            </a:r>
          </a:p>
          <a:p>
            <a:pPr marL="800100" lvl="1" indent="-342900">
              <a:buFont typeface="Arial" panose="020B0604020202020204" pitchFamily="34" charset="0"/>
              <a:buChar char="•"/>
            </a:pPr>
            <a:r>
              <a:rPr lang="en-IN" dirty="0"/>
              <a:t>Communication as a Service (CaaS)</a:t>
            </a:r>
          </a:p>
          <a:p>
            <a:endParaRPr lang="en-US" dirty="0"/>
          </a:p>
        </p:txBody>
      </p:sp>
    </p:spTree>
    <p:extLst>
      <p:ext uri="{BB962C8B-B14F-4D97-AF65-F5344CB8AC3E}">
        <p14:creationId xmlns:p14="http://schemas.microsoft.com/office/powerpoint/2010/main" val="2158719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F784E-EE23-7B9C-EDC6-4B5CE305A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906FD-8BAB-E544-50B2-5144B51A2C14}"/>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9C725995-BADA-43B9-E3AB-C72C91B7AD24}"/>
              </a:ext>
            </a:extLst>
          </p:cNvPr>
          <p:cNvSpPr>
            <a:spLocks noGrp="1"/>
          </p:cNvSpPr>
          <p:nvPr>
            <p:ph type="body" idx="1"/>
          </p:nvPr>
        </p:nvSpPr>
        <p:spPr>
          <a:xfrm>
            <a:off x="574040" y="1502156"/>
            <a:ext cx="8055609" cy="4339650"/>
          </a:xfrm>
        </p:spPr>
        <p:txBody>
          <a:bodyPr/>
          <a:lstStyle/>
          <a:p>
            <a:r>
              <a:rPr lang="en-IN" b="1" dirty="0"/>
              <a:t>Q3. In the Cloud Cube Model, what does the 'Physical Location' dimension define?</a:t>
            </a:r>
            <a:endParaRPr lang="en-IN" dirty="0"/>
          </a:p>
          <a:p>
            <a:pPr marL="800100" lvl="1" indent="-342900">
              <a:buFont typeface="Arial" panose="020B0604020202020204" pitchFamily="34" charset="0"/>
              <a:buChar char="•"/>
            </a:pPr>
            <a:r>
              <a:rPr lang="en-IN" dirty="0"/>
              <a:t>Whether the user is an internal employee or an external contractor.</a:t>
            </a:r>
          </a:p>
          <a:p>
            <a:pPr marL="800100" lvl="1" indent="-342900">
              <a:buFont typeface="Arial" panose="020B0604020202020204" pitchFamily="34" charset="0"/>
              <a:buChar char="•"/>
            </a:pPr>
            <a:r>
              <a:rPr lang="en-IN" dirty="0"/>
              <a:t>Whether data is located within the organization’s boundary (Internal) or outside (External).</a:t>
            </a:r>
          </a:p>
          <a:p>
            <a:pPr marL="800100" lvl="1" indent="-342900">
              <a:buFont typeface="Arial" panose="020B0604020202020204" pitchFamily="34" charset="0"/>
              <a:buChar char="•"/>
            </a:pPr>
            <a:r>
              <a:rPr lang="en-IN" dirty="0"/>
              <a:t>Whether the code is open-source or proprietary.</a:t>
            </a:r>
          </a:p>
          <a:p>
            <a:pPr marL="800100" lvl="1" indent="-342900">
              <a:buFont typeface="Arial" panose="020B0604020202020204" pitchFamily="34" charset="0"/>
              <a:buChar char="•"/>
            </a:pPr>
            <a:r>
              <a:rPr lang="en-IN" dirty="0"/>
              <a:t>Whether the service is public or private.</a:t>
            </a:r>
          </a:p>
          <a:p>
            <a:endParaRPr lang="en-US" dirty="0"/>
          </a:p>
          <a:p>
            <a:r>
              <a:rPr lang="en-IN" b="1" dirty="0"/>
              <a:t>Q4. What is the primary 'Economic Shift' described in the presentation?</a:t>
            </a:r>
            <a:endParaRPr lang="en-IN" dirty="0"/>
          </a:p>
          <a:p>
            <a:pPr marL="800100" lvl="1" indent="-342900">
              <a:buFont typeface="Arial" panose="020B0604020202020204" pitchFamily="34" charset="0"/>
              <a:buChar char="•"/>
            </a:pPr>
            <a:r>
              <a:rPr lang="en-IN" dirty="0"/>
              <a:t>Shifting from Operating Expenses (</a:t>
            </a:r>
            <a:r>
              <a:rPr lang="en-IN" dirty="0" err="1"/>
              <a:t>OpEx</a:t>
            </a:r>
            <a:r>
              <a:rPr lang="en-IN" dirty="0"/>
              <a:t>) to Capital Expenses (</a:t>
            </a:r>
            <a:r>
              <a:rPr lang="en-IN" dirty="0" err="1"/>
              <a:t>CapEx</a:t>
            </a:r>
            <a:r>
              <a:rPr lang="en-IN" dirty="0"/>
              <a:t>).</a:t>
            </a:r>
          </a:p>
          <a:p>
            <a:pPr marL="800100" lvl="1" indent="-342900">
              <a:buFont typeface="Arial" panose="020B0604020202020204" pitchFamily="34" charset="0"/>
              <a:buChar char="•"/>
            </a:pPr>
            <a:r>
              <a:rPr lang="en-IN" dirty="0"/>
              <a:t>Reducing the total number of IT employees in a company.</a:t>
            </a:r>
          </a:p>
          <a:p>
            <a:pPr marL="800100" lvl="1" indent="-342900">
              <a:buFont typeface="Arial" panose="020B0604020202020204" pitchFamily="34" charset="0"/>
              <a:buChar char="•"/>
            </a:pPr>
            <a:r>
              <a:rPr lang="en-IN" dirty="0"/>
              <a:t>Shifting from Capital Expenses (</a:t>
            </a:r>
            <a:r>
              <a:rPr lang="en-IN" dirty="0" err="1"/>
              <a:t>CapEx</a:t>
            </a:r>
            <a:r>
              <a:rPr lang="en-IN" dirty="0"/>
              <a:t>) to Operating Expenses (</a:t>
            </a:r>
            <a:r>
              <a:rPr lang="en-IN" dirty="0" err="1"/>
              <a:t>OpEx</a:t>
            </a:r>
            <a:r>
              <a:rPr lang="en-IN" dirty="0"/>
              <a:t>).</a:t>
            </a:r>
          </a:p>
          <a:p>
            <a:pPr marL="800100" lvl="1" indent="-342900">
              <a:buFont typeface="Arial" panose="020B0604020202020204" pitchFamily="34" charset="0"/>
              <a:buChar char="•"/>
            </a:pPr>
            <a:r>
              <a:rPr lang="en-IN" dirty="0"/>
              <a:t>Moving all IT budget to marketing.</a:t>
            </a:r>
          </a:p>
          <a:p>
            <a:endParaRPr lang="en-US" dirty="0"/>
          </a:p>
        </p:txBody>
      </p:sp>
    </p:spTree>
    <p:extLst>
      <p:ext uri="{BB962C8B-B14F-4D97-AF65-F5344CB8AC3E}">
        <p14:creationId xmlns:p14="http://schemas.microsoft.com/office/powerpoint/2010/main" val="3882973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318B7-31FB-F51D-D364-931A0AB0E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604C7-07A2-9037-D315-5D8CB286EB20}"/>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7738575B-18A9-B960-0AAF-BBB4222829D1}"/>
              </a:ext>
            </a:extLst>
          </p:cNvPr>
          <p:cNvSpPr>
            <a:spLocks noGrp="1"/>
          </p:cNvSpPr>
          <p:nvPr>
            <p:ph type="body" idx="1"/>
          </p:nvPr>
        </p:nvSpPr>
        <p:spPr>
          <a:xfrm>
            <a:off x="574040" y="1502156"/>
            <a:ext cx="8055609" cy="4185761"/>
          </a:xfrm>
        </p:spPr>
        <p:txBody>
          <a:bodyPr/>
          <a:lstStyle/>
          <a:p>
            <a:r>
              <a:rPr lang="en-IN" b="1" dirty="0"/>
              <a:t>Q5. Why is 'Lack of Customization' a disadvantage of Multi-tenant software?</a:t>
            </a:r>
            <a:endParaRPr lang="en-IN" dirty="0"/>
          </a:p>
          <a:p>
            <a:pPr marL="800100" lvl="1" indent="-342900">
              <a:buFont typeface="Arial" panose="020B0604020202020204" pitchFamily="34" charset="0"/>
              <a:buChar char="•"/>
            </a:pPr>
            <a:r>
              <a:rPr lang="en-IN" dirty="0"/>
              <a:t>Because providers charge more for customized versions.</a:t>
            </a:r>
          </a:p>
          <a:p>
            <a:pPr marL="800100" lvl="1" indent="-342900">
              <a:buFont typeface="Arial" panose="020B0604020202020204" pitchFamily="34" charset="0"/>
              <a:buChar char="•"/>
            </a:pPr>
            <a:r>
              <a:rPr lang="en-IN" dirty="0"/>
              <a:t>Because thousands of companies share the same underlying code base.</a:t>
            </a:r>
          </a:p>
          <a:p>
            <a:pPr marL="800100" lvl="1" indent="-342900">
              <a:buFont typeface="Arial" panose="020B0604020202020204" pitchFamily="34" charset="0"/>
              <a:buChar char="•"/>
            </a:pPr>
            <a:r>
              <a:rPr lang="en-IN" dirty="0"/>
              <a:t>Because the Internet is too slow to support custom code.</a:t>
            </a:r>
          </a:p>
          <a:p>
            <a:pPr marL="800100" lvl="1" indent="-342900">
              <a:buFont typeface="Arial" panose="020B0604020202020204" pitchFamily="34" charset="0"/>
              <a:buChar char="•"/>
            </a:pPr>
            <a:r>
              <a:rPr lang="en-IN" dirty="0"/>
              <a:t>Because browsers do not support custom plugins anymore.</a:t>
            </a:r>
          </a:p>
          <a:p>
            <a:endParaRPr lang="en-US" dirty="0"/>
          </a:p>
          <a:p>
            <a:r>
              <a:rPr lang="en-IN" b="1" dirty="0"/>
              <a:t>Q6. The 'Future Internet' is expected to transform from network-centric to what?</a:t>
            </a:r>
            <a:endParaRPr lang="en-IN" dirty="0"/>
          </a:p>
          <a:p>
            <a:pPr marL="800100" lvl="1" indent="-342900">
              <a:buFont typeface="Arial" panose="020B0604020202020204" pitchFamily="34" charset="0"/>
              <a:buChar char="•"/>
            </a:pPr>
            <a:r>
              <a:rPr lang="en-IN" dirty="0"/>
              <a:t>Hardware-centric</a:t>
            </a:r>
          </a:p>
          <a:p>
            <a:pPr marL="800100" lvl="1" indent="-342900">
              <a:buFont typeface="Arial" panose="020B0604020202020204" pitchFamily="34" charset="0"/>
              <a:buChar char="•"/>
            </a:pPr>
            <a:r>
              <a:rPr lang="en-IN" dirty="0"/>
              <a:t>Content-centric</a:t>
            </a:r>
          </a:p>
          <a:p>
            <a:pPr marL="800100" lvl="1" indent="-342900">
              <a:buFont typeface="Arial" panose="020B0604020202020204" pitchFamily="34" charset="0"/>
              <a:buChar char="•"/>
            </a:pPr>
            <a:r>
              <a:rPr lang="en-IN" dirty="0"/>
              <a:t>Security-centric</a:t>
            </a:r>
          </a:p>
          <a:p>
            <a:pPr marL="800100" lvl="1" indent="-342900">
              <a:buFont typeface="Arial" panose="020B0604020202020204" pitchFamily="34" charset="0"/>
              <a:buChar char="•"/>
            </a:pPr>
            <a:r>
              <a:rPr lang="en-IN" dirty="0"/>
              <a:t>Storage-centric</a:t>
            </a:r>
          </a:p>
          <a:p>
            <a:endParaRPr lang="en-US" dirty="0"/>
          </a:p>
        </p:txBody>
      </p:sp>
    </p:spTree>
    <p:extLst>
      <p:ext uri="{BB962C8B-B14F-4D97-AF65-F5344CB8AC3E}">
        <p14:creationId xmlns:p14="http://schemas.microsoft.com/office/powerpoint/2010/main" val="7280671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0D30-E49C-6371-3A6F-BF368F5A7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FB2BF-54CF-DB74-FBCB-109C5F8F9938}"/>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F8470BEA-A5AF-95B7-0013-2280B493DB72}"/>
              </a:ext>
            </a:extLst>
          </p:cNvPr>
          <p:cNvSpPr>
            <a:spLocks noGrp="1"/>
          </p:cNvSpPr>
          <p:nvPr>
            <p:ph type="body" idx="1"/>
          </p:nvPr>
        </p:nvSpPr>
        <p:spPr>
          <a:xfrm>
            <a:off x="574040" y="1502156"/>
            <a:ext cx="8055609" cy="4185761"/>
          </a:xfrm>
        </p:spPr>
        <p:txBody>
          <a:bodyPr/>
          <a:lstStyle/>
          <a:p>
            <a:r>
              <a:rPr lang="en-IN" b="1" dirty="0"/>
              <a:t>Q7. What does 'De-</a:t>
            </a:r>
            <a:r>
              <a:rPr lang="en-IN" b="1" dirty="0" err="1"/>
              <a:t>perimeterised</a:t>
            </a:r>
            <a:r>
              <a:rPr lang="en-IN" b="1" dirty="0"/>
              <a:t>' mean in the context of cloud security?</a:t>
            </a:r>
            <a:endParaRPr lang="en-IN" dirty="0"/>
          </a:p>
          <a:p>
            <a:pPr marL="800100" lvl="1" indent="-342900">
              <a:buFont typeface="Arial" panose="020B0604020202020204" pitchFamily="34" charset="0"/>
              <a:buChar char="•"/>
            </a:pPr>
            <a:r>
              <a:rPr lang="en-IN" dirty="0"/>
              <a:t>The system is protected by a single, strong physical firewall.</a:t>
            </a:r>
          </a:p>
          <a:p>
            <a:pPr marL="800100" lvl="1" indent="-342900">
              <a:buFont typeface="Arial" panose="020B0604020202020204" pitchFamily="34" charset="0"/>
              <a:buChar char="•"/>
            </a:pPr>
            <a:r>
              <a:rPr lang="en-IN" dirty="0"/>
              <a:t>Data is outside the organization’s traditional network boundary.</a:t>
            </a:r>
          </a:p>
          <a:p>
            <a:pPr marL="800100" lvl="1" indent="-342900">
              <a:buFont typeface="Arial" panose="020B0604020202020204" pitchFamily="34" charset="0"/>
              <a:buChar char="•"/>
            </a:pPr>
            <a:r>
              <a:rPr lang="en-IN" dirty="0"/>
              <a:t>The system is only accessible from within the organization.</a:t>
            </a:r>
          </a:p>
          <a:p>
            <a:pPr marL="800100" lvl="1" indent="-342900">
              <a:buFont typeface="Arial" panose="020B0604020202020204" pitchFamily="34" charset="0"/>
              <a:buChar char="•"/>
            </a:pPr>
            <a:r>
              <a:rPr lang="en-IN" dirty="0"/>
              <a:t>The system has no security measures at all.</a:t>
            </a:r>
          </a:p>
          <a:p>
            <a:endParaRPr lang="en-US" dirty="0"/>
          </a:p>
          <a:p>
            <a:r>
              <a:rPr lang="en-IN" b="1" dirty="0"/>
              <a:t>Q8. Which deployment model is operated solely for a single organization?</a:t>
            </a:r>
            <a:endParaRPr lang="en-IN" dirty="0"/>
          </a:p>
          <a:p>
            <a:pPr marL="800100" lvl="1" indent="-342900">
              <a:buFont typeface="Arial" panose="020B0604020202020204" pitchFamily="34" charset="0"/>
              <a:buChar char="•"/>
            </a:pPr>
            <a:r>
              <a:rPr lang="en-IN" dirty="0"/>
              <a:t>Public Cloud</a:t>
            </a:r>
          </a:p>
          <a:p>
            <a:pPr marL="800100" lvl="1" indent="-342900">
              <a:buFont typeface="Arial" panose="020B0604020202020204" pitchFamily="34" charset="0"/>
              <a:buChar char="•"/>
            </a:pPr>
            <a:r>
              <a:rPr lang="en-IN" dirty="0"/>
              <a:t>Hybrid Cloud</a:t>
            </a:r>
          </a:p>
          <a:p>
            <a:pPr marL="800100" lvl="1" indent="-342900">
              <a:buFont typeface="Arial" panose="020B0604020202020204" pitchFamily="34" charset="0"/>
              <a:buChar char="•"/>
            </a:pPr>
            <a:r>
              <a:rPr lang="en-IN" dirty="0"/>
              <a:t>Private Cloud</a:t>
            </a:r>
          </a:p>
          <a:p>
            <a:pPr marL="800100" lvl="1" indent="-342900">
              <a:buFont typeface="Arial" panose="020B0604020202020204" pitchFamily="34" charset="0"/>
              <a:buChar char="•"/>
            </a:pPr>
            <a:r>
              <a:rPr lang="en-IN" dirty="0"/>
              <a:t>Community Cloud</a:t>
            </a:r>
          </a:p>
          <a:p>
            <a:endParaRPr lang="en-US" dirty="0"/>
          </a:p>
        </p:txBody>
      </p:sp>
    </p:spTree>
    <p:extLst>
      <p:ext uri="{BB962C8B-B14F-4D97-AF65-F5344CB8AC3E}">
        <p14:creationId xmlns:p14="http://schemas.microsoft.com/office/powerpoint/2010/main" val="21217494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E7FAC-0A1B-A90A-A4E3-61F47D814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04CEF-60FD-F021-965F-AABD3B2EE9F6}"/>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4C240DDE-8D09-048E-42BA-39FEF1D09F85}"/>
              </a:ext>
            </a:extLst>
          </p:cNvPr>
          <p:cNvSpPr>
            <a:spLocks noGrp="1"/>
          </p:cNvSpPr>
          <p:nvPr>
            <p:ph type="body" idx="1"/>
          </p:nvPr>
        </p:nvSpPr>
        <p:spPr>
          <a:xfrm>
            <a:off x="574040" y="1502156"/>
            <a:ext cx="8055609" cy="4185761"/>
          </a:xfrm>
        </p:spPr>
        <p:txBody>
          <a:bodyPr/>
          <a:lstStyle/>
          <a:p>
            <a:r>
              <a:rPr lang="en-IN" b="1" dirty="0"/>
              <a:t>Q9. How does 'Data Sovereignty' affect privacy in the cloud?</a:t>
            </a:r>
            <a:endParaRPr lang="en-IN" dirty="0"/>
          </a:p>
          <a:p>
            <a:pPr marL="800100" lvl="1" indent="-342900">
              <a:buFont typeface="Arial" panose="020B0604020202020204" pitchFamily="34" charset="0"/>
              <a:buChar char="•"/>
            </a:pPr>
            <a:r>
              <a:rPr lang="en-IN" dirty="0"/>
              <a:t>It ensures the user always owns the data.</a:t>
            </a:r>
          </a:p>
          <a:p>
            <a:pPr marL="800100" lvl="1" indent="-342900">
              <a:buFont typeface="Arial" panose="020B0604020202020204" pitchFamily="34" charset="0"/>
              <a:buChar char="•"/>
            </a:pPr>
            <a:r>
              <a:rPr lang="en-IN" dirty="0"/>
              <a:t>Data is subject to the laws of the country where the server is physically located.</a:t>
            </a:r>
          </a:p>
          <a:p>
            <a:pPr marL="800100" lvl="1" indent="-342900">
              <a:buFont typeface="Arial" panose="020B0604020202020204" pitchFamily="34" charset="0"/>
              <a:buChar char="•"/>
            </a:pPr>
            <a:r>
              <a:rPr lang="en-IN" dirty="0"/>
              <a:t>It forces all data to be encrypted by the user's government.</a:t>
            </a:r>
          </a:p>
          <a:p>
            <a:pPr marL="800100" lvl="1" indent="-342900">
              <a:buFont typeface="Arial" panose="020B0604020202020204" pitchFamily="34" charset="0"/>
              <a:buChar char="•"/>
            </a:pPr>
            <a:r>
              <a:rPr lang="en-IN" dirty="0"/>
              <a:t>It prevents any government from accessing user data.</a:t>
            </a:r>
          </a:p>
          <a:p>
            <a:endParaRPr lang="en-US" dirty="0"/>
          </a:p>
          <a:p>
            <a:r>
              <a:rPr lang="en-IN" b="1" dirty="0"/>
              <a:t>Q10. What challenge arises from 'Resource Sharing' (Multi-tenancy)?</a:t>
            </a:r>
            <a:endParaRPr lang="en-IN" dirty="0"/>
          </a:p>
          <a:p>
            <a:pPr marL="800100" lvl="1" indent="-342900">
              <a:buFont typeface="Arial" panose="020B0604020202020204" pitchFamily="34" charset="0"/>
              <a:buChar char="•"/>
            </a:pPr>
            <a:r>
              <a:rPr lang="en-IN" dirty="0"/>
              <a:t>Lower utility costs for the provider.</a:t>
            </a:r>
          </a:p>
          <a:p>
            <a:pPr marL="800100" lvl="1" indent="-342900">
              <a:buFont typeface="Arial" panose="020B0604020202020204" pitchFamily="34" charset="0"/>
              <a:buChar char="•"/>
            </a:pPr>
            <a:r>
              <a:rPr lang="en-IN" dirty="0"/>
              <a:t>Increased hardware lifespan.</a:t>
            </a:r>
          </a:p>
          <a:p>
            <a:pPr marL="800100" lvl="1" indent="-342900">
              <a:buFont typeface="Arial" panose="020B0604020202020204" pitchFamily="34" charset="0"/>
              <a:buChar char="•"/>
            </a:pPr>
            <a:r>
              <a:rPr lang="en-IN" dirty="0"/>
              <a:t>Performance unpredictability (The 'Noisy </a:t>
            </a:r>
            <a:r>
              <a:rPr lang="en-IN" dirty="0" err="1"/>
              <a:t>Neighbor</a:t>
            </a:r>
            <a:r>
              <a:rPr lang="en-IN" dirty="0"/>
              <a:t>' effect).</a:t>
            </a:r>
          </a:p>
          <a:p>
            <a:pPr marL="800100" lvl="1" indent="-342900">
              <a:buFont typeface="Arial" panose="020B0604020202020204" pitchFamily="34" charset="0"/>
              <a:buChar char="•"/>
            </a:pPr>
            <a:r>
              <a:rPr lang="en-IN" dirty="0"/>
              <a:t>Simplified legal compliance.</a:t>
            </a:r>
          </a:p>
          <a:p>
            <a:endParaRPr lang="en-US" dirty="0"/>
          </a:p>
        </p:txBody>
      </p:sp>
    </p:spTree>
    <p:extLst>
      <p:ext uri="{BB962C8B-B14F-4D97-AF65-F5344CB8AC3E}">
        <p14:creationId xmlns:p14="http://schemas.microsoft.com/office/powerpoint/2010/main" val="4156622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0FD9-4487-8EF3-403E-5BECF85A4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47D66-6C17-104B-EF6F-31C8FB061846}"/>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5BD5F12D-8F48-007E-EC71-12AECC9ED198}"/>
              </a:ext>
            </a:extLst>
          </p:cNvPr>
          <p:cNvSpPr>
            <a:spLocks noGrp="1"/>
          </p:cNvSpPr>
          <p:nvPr>
            <p:ph type="body" idx="1"/>
          </p:nvPr>
        </p:nvSpPr>
        <p:spPr>
          <a:xfrm>
            <a:off x="574040" y="1502156"/>
            <a:ext cx="8055609" cy="3877985"/>
          </a:xfrm>
        </p:spPr>
        <p:txBody>
          <a:bodyPr/>
          <a:lstStyle/>
          <a:p>
            <a:r>
              <a:rPr lang="en-IN" b="1" dirty="0"/>
              <a:t>Q11. Grid Computing (1990s) was primarily targeted at what field?</a:t>
            </a:r>
            <a:endParaRPr lang="en-IN" dirty="0"/>
          </a:p>
          <a:p>
            <a:pPr marL="800100" lvl="1" indent="-342900">
              <a:buFont typeface="Arial" panose="020B0604020202020204" pitchFamily="34" charset="0"/>
              <a:buChar char="•"/>
            </a:pPr>
            <a:r>
              <a:rPr lang="en-IN" dirty="0"/>
              <a:t>Enterprise business computing.</a:t>
            </a:r>
          </a:p>
          <a:p>
            <a:pPr marL="800100" lvl="1" indent="-342900">
              <a:buFont typeface="Arial" panose="020B0604020202020204" pitchFamily="34" charset="0"/>
              <a:buChar char="•"/>
            </a:pPr>
            <a:r>
              <a:rPr lang="en-IN" dirty="0"/>
              <a:t>Scientific computing.</a:t>
            </a:r>
          </a:p>
          <a:p>
            <a:pPr marL="800100" lvl="1" indent="-342900">
              <a:buFont typeface="Arial" panose="020B0604020202020204" pitchFamily="34" charset="0"/>
              <a:buChar char="•"/>
            </a:pPr>
            <a:r>
              <a:rPr lang="en-IN" dirty="0"/>
              <a:t>Social media and entertainment.</a:t>
            </a:r>
          </a:p>
          <a:p>
            <a:pPr marL="800100" lvl="1" indent="-342900">
              <a:buFont typeface="Arial" panose="020B0604020202020204" pitchFamily="34" charset="0"/>
              <a:buChar char="•"/>
            </a:pPr>
            <a:r>
              <a:rPr lang="en-IN" dirty="0"/>
              <a:t>Global banking systems.</a:t>
            </a:r>
          </a:p>
          <a:p>
            <a:endParaRPr lang="en-US" dirty="0"/>
          </a:p>
          <a:p>
            <a:r>
              <a:rPr lang="en-IN" b="1" dirty="0"/>
              <a:t>Q12. What does the 'Proprietary' (P) dimension of the Cloud Cube Model dictate?</a:t>
            </a:r>
            <a:endParaRPr lang="en-IN" dirty="0"/>
          </a:p>
          <a:p>
            <a:pPr marL="800100" lvl="1" indent="-342900">
              <a:buFont typeface="Arial" panose="020B0604020202020204" pitchFamily="34" charset="0"/>
              <a:buChar char="•"/>
            </a:pPr>
            <a:r>
              <a:rPr lang="en-IN" dirty="0"/>
              <a:t>The physical weight of the servers.</a:t>
            </a:r>
          </a:p>
          <a:p>
            <a:pPr marL="800100" lvl="1" indent="-342900">
              <a:buFont typeface="Arial" panose="020B0604020202020204" pitchFamily="34" charset="0"/>
              <a:buChar char="•"/>
            </a:pPr>
            <a:r>
              <a:rPr lang="en-IN" dirty="0"/>
              <a:t>The degree of vendor lock-in and ease of data migration.</a:t>
            </a:r>
          </a:p>
          <a:p>
            <a:pPr marL="800100" lvl="1" indent="-342900">
              <a:buFont typeface="Arial" panose="020B0604020202020204" pitchFamily="34" charset="0"/>
              <a:buChar char="•"/>
            </a:pPr>
            <a:r>
              <a:rPr lang="en-IN" dirty="0"/>
              <a:t>The </a:t>
            </a:r>
            <a:r>
              <a:rPr lang="en-IN" dirty="0" err="1"/>
              <a:t>color</a:t>
            </a:r>
            <a:r>
              <a:rPr lang="en-IN" dirty="0"/>
              <a:t> and design of the user interface.</a:t>
            </a:r>
          </a:p>
          <a:p>
            <a:pPr marL="800100" lvl="1" indent="-342900">
              <a:buFont typeface="Arial" panose="020B0604020202020204" pitchFamily="34" charset="0"/>
              <a:buChar char="•"/>
            </a:pPr>
            <a:r>
              <a:rPr lang="en-IN" dirty="0"/>
              <a:t>The physical location of the data </a:t>
            </a:r>
            <a:r>
              <a:rPr lang="en-IN" dirty="0" err="1"/>
              <a:t>center</a:t>
            </a:r>
            <a:r>
              <a:rPr lang="en-IN" dirty="0"/>
              <a:t>.</a:t>
            </a:r>
          </a:p>
          <a:p>
            <a:endParaRPr lang="en-US" dirty="0"/>
          </a:p>
        </p:txBody>
      </p:sp>
    </p:spTree>
    <p:extLst>
      <p:ext uri="{BB962C8B-B14F-4D97-AF65-F5344CB8AC3E}">
        <p14:creationId xmlns:p14="http://schemas.microsoft.com/office/powerpoint/2010/main" val="25781480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A4F2-34EF-5FF0-FC94-BB6849149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50BEB-8414-099E-D5AE-31F204AB5685}"/>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BA2EAAE0-783F-8D26-AE19-8DBC4299EC0F}"/>
              </a:ext>
            </a:extLst>
          </p:cNvPr>
          <p:cNvSpPr>
            <a:spLocks noGrp="1"/>
          </p:cNvSpPr>
          <p:nvPr>
            <p:ph type="body" idx="1"/>
          </p:nvPr>
        </p:nvSpPr>
        <p:spPr>
          <a:xfrm>
            <a:off x="574040" y="1502156"/>
            <a:ext cx="8055609" cy="3754874"/>
          </a:xfrm>
        </p:spPr>
        <p:txBody>
          <a:bodyPr/>
          <a:lstStyle/>
          <a:p>
            <a:r>
              <a:rPr lang="en-IN" b="1" dirty="0"/>
              <a:t>Q13. Network-centric content requires the Future Internet to support increased quality in what areas?</a:t>
            </a:r>
            <a:endParaRPr lang="en-IN" dirty="0"/>
          </a:p>
          <a:p>
            <a:pPr marL="800100" lvl="1" indent="-342900">
              <a:buFont typeface="Arial" panose="020B0604020202020204" pitchFamily="34" charset="0"/>
              <a:buChar char="•"/>
            </a:pPr>
            <a:r>
              <a:rPr lang="en-IN" dirty="0"/>
              <a:t>Resolution, frame rate, and stereoscopic information.</a:t>
            </a:r>
          </a:p>
          <a:p>
            <a:pPr marL="800100" lvl="1" indent="-342900">
              <a:buFont typeface="Arial" panose="020B0604020202020204" pitchFamily="34" charset="0"/>
              <a:buChar char="•"/>
            </a:pPr>
            <a:r>
              <a:rPr lang="en-IN" dirty="0"/>
              <a:t>Text processing speed and email delivery.</a:t>
            </a:r>
          </a:p>
          <a:p>
            <a:pPr marL="800100" lvl="1" indent="-342900">
              <a:buFont typeface="Arial" panose="020B0604020202020204" pitchFamily="34" charset="0"/>
              <a:buChar char="•"/>
            </a:pPr>
            <a:r>
              <a:rPr lang="en-IN" dirty="0"/>
              <a:t>Physical hardware durability and battery life.</a:t>
            </a:r>
          </a:p>
          <a:p>
            <a:pPr marL="800100" lvl="1" indent="-342900">
              <a:buFont typeface="Arial" panose="020B0604020202020204" pitchFamily="34" charset="0"/>
              <a:buChar char="•"/>
            </a:pPr>
            <a:r>
              <a:rPr lang="en-IN" dirty="0"/>
              <a:t>The number of users who can use a single keyboard.</a:t>
            </a:r>
          </a:p>
          <a:p>
            <a:endParaRPr lang="en-US" dirty="0"/>
          </a:p>
          <a:p>
            <a:r>
              <a:rPr lang="en-IN" b="1" dirty="0"/>
              <a:t>Q14. What is the ethical risk of 'Indirect Surveillance' in the cloud?</a:t>
            </a:r>
            <a:endParaRPr lang="en-IN" dirty="0"/>
          </a:p>
          <a:p>
            <a:pPr marL="800100" lvl="1" indent="-342900">
              <a:buFont typeface="Arial" panose="020B0604020202020204" pitchFamily="34" charset="0"/>
              <a:buChar char="•"/>
            </a:pPr>
            <a:r>
              <a:rPr lang="en-IN" dirty="0"/>
              <a:t>Users can watch the provider's employees through webcams.</a:t>
            </a:r>
          </a:p>
          <a:p>
            <a:pPr marL="800100" lvl="1" indent="-342900">
              <a:buFont typeface="Arial" panose="020B0604020202020204" pitchFamily="34" charset="0"/>
              <a:buChar char="•"/>
            </a:pPr>
            <a:r>
              <a:rPr lang="en-IN" dirty="0"/>
              <a:t>Providers can monitor user activity without physical access to their building.</a:t>
            </a:r>
          </a:p>
          <a:p>
            <a:pPr marL="800100" lvl="1" indent="-342900">
              <a:buFont typeface="Arial" panose="020B0604020202020204" pitchFamily="34" charset="0"/>
              <a:buChar char="•"/>
            </a:pPr>
            <a:r>
              <a:rPr lang="en-IN" dirty="0"/>
              <a:t>It requires the user to install cameras in their office.</a:t>
            </a:r>
          </a:p>
          <a:p>
            <a:pPr marL="800100" lvl="1" indent="-342900">
              <a:buFont typeface="Arial" panose="020B0604020202020204" pitchFamily="34" charset="0"/>
              <a:buChar char="•"/>
            </a:pPr>
            <a:r>
              <a:rPr lang="en-IN" dirty="0"/>
              <a:t>It is only a risk if the user is using a public computer.</a:t>
            </a:r>
          </a:p>
          <a:p>
            <a:endParaRPr lang="en-US" dirty="0"/>
          </a:p>
        </p:txBody>
      </p:sp>
    </p:spTree>
    <p:extLst>
      <p:ext uri="{BB962C8B-B14F-4D97-AF65-F5344CB8AC3E}">
        <p14:creationId xmlns:p14="http://schemas.microsoft.com/office/powerpoint/2010/main" val="33445114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A2B03-1230-5E36-441C-F83D8CBC5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25B81-3495-C82B-500F-AFF8193300BB}"/>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E1A46D33-2044-5BAE-5F8A-5C8878A51FD0}"/>
              </a:ext>
            </a:extLst>
          </p:cNvPr>
          <p:cNvSpPr>
            <a:spLocks noGrp="1"/>
          </p:cNvSpPr>
          <p:nvPr>
            <p:ph type="body" idx="1"/>
          </p:nvPr>
        </p:nvSpPr>
        <p:spPr>
          <a:xfrm>
            <a:off x="574040" y="1502156"/>
            <a:ext cx="8055609" cy="3754874"/>
          </a:xfrm>
        </p:spPr>
        <p:txBody>
          <a:bodyPr/>
          <a:lstStyle/>
          <a:p>
            <a:r>
              <a:rPr lang="en-IN" b="1" dirty="0"/>
              <a:t>Q13. Network-centric content requires the Future Internet to support increased quality in what areas?</a:t>
            </a:r>
            <a:endParaRPr lang="en-IN" dirty="0"/>
          </a:p>
          <a:p>
            <a:pPr marL="800100" lvl="1" indent="-342900">
              <a:buFont typeface="Arial" panose="020B0604020202020204" pitchFamily="34" charset="0"/>
              <a:buChar char="•"/>
            </a:pPr>
            <a:r>
              <a:rPr lang="en-IN" dirty="0"/>
              <a:t>Resolution, frame rate, and stereoscopic information.</a:t>
            </a:r>
          </a:p>
          <a:p>
            <a:pPr marL="800100" lvl="1" indent="-342900">
              <a:buFont typeface="Arial" panose="020B0604020202020204" pitchFamily="34" charset="0"/>
              <a:buChar char="•"/>
            </a:pPr>
            <a:r>
              <a:rPr lang="en-IN" dirty="0"/>
              <a:t>Text processing speed and email delivery.</a:t>
            </a:r>
          </a:p>
          <a:p>
            <a:pPr marL="800100" lvl="1" indent="-342900">
              <a:buFont typeface="Arial" panose="020B0604020202020204" pitchFamily="34" charset="0"/>
              <a:buChar char="•"/>
            </a:pPr>
            <a:r>
              <a:rPr lang="en-IN" dirty="0"/>
              <a:t>Physical hardware durability and battery life.</a:t>
            </a:r>
          </a:p>
          <a:p>
            <a:pPr marL="800100" lvl="1" indent="-342900">
              <a:buFont typeface="Arial" panose="020B0604020202020204" pitchFamily="34" charset="0"/>
              <a:buChar char="•"/>
            </a:pPr>
            <a:r>
              <a:rPr lang="en-IN" dirty="0"/>
              <a:t>The number of users who can use a single keyboard.</a:t>
            </a:r>
          </a:p>
          <a:p>
            <a:endParaRPr lang="en-US" dirty="0"/>
          </a:p>
          <a:p>
            <a:r>
              <a:rPr lang="en-IN" b="1" dirty="0"/>
              <a:t>Q14. What is the ethical risk of 'Indirect Surveillance' in the cloud?</a:t>
            </a:r>
            <a:endParaRPr lang="en-IN" dirty="0"/>
          </a:p>
          <a:p>
            <a:pPr marL="800100" lvl="1" indent="-342900">
              <a:buFont typeface="Arial" panose="020B0604020202020204" pitchFamily="34" charset="0"/>
              <a:buChar char="•"/>
            </a:pPr>
            <a:r>
              <a:rPr lang="en-IN" dirty="0"/>
              <a:t>Users can watch the provider's employees through webcams.</a:t>
            </a:r>
          </a:p>
          <a:p>
            <a:pPr marL="800100" lvl="1" indent="-342900">
              <a:buFont typeface="Arial" panose="020B0604020202020204" pitchFamily="34" charset="0"/>
              <a:buChar char="•"/>
            </a:pPr>
            <a:r>
              <a:rPr lang="en-IN" dirty="0"/>
              <a:t>Providers can monitor user activity without physical access to their building.</a:t>
            </a:r>
          </a:p>
          <a:p>
            <a:pPr marL="800100" lvl="1" indent="-342900">
              <a:buFont typeface="Arial" panose="020B0604020202020204" pitchFamily="34" charset="0"/>
              <a:buChar char="•"/>
            </a:pPr>
            <a:r>
              <a:rPr lang="en-IN" dirty="0"/>
              <a:t>It requires the user to install cameras in their office.</a:t>
            </a:r>
          </a:p>
          <a:p>
            <a:pPr marL="800100" lvl="1" indent="-342900">
              <a:buFont typeface="Arial" panose="020B0604020202020204" pitchFamily="34" charset="0"/>
              <a:buChar char="•"/>
            </a:pPr>
            <a:r>
              <a:rPr lang="en-IN" dirty="0"/>
              <a:t>It is only a risk if the user is using a public computer.</a:t>
            </a:r>
          </a:p>
          <a:p>
            <a:endParaRPr lang="en-US" dirty="0"/>
          </a:p>
        </p:txBody>
      </p:sp>
    </p:spTree>
    <p:extLst>
      <p:ext uri="{BB962C8B-B14F-4D97-AF65-F5344CB8AC3E}">
        <p14:creationId xmlns:p14="http://schemas.microsoft.com/office/powerpoint/2010/main" val="21204428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549D3-95F9-C690-73CF-7B1071A80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4CE6A-70CF-4F51-1352-84B9AFF7AEF6}"/>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465E987E-3F0C-4E54-2A13-2EE77D34F70D}"/>
              </a:ext>
            </a:extLst>
          </p:cNvPr>
          <p:cNvSpPr>
            <a:spLocks noGrp="1"/>
          </p:cNvSpPr>
          <p:nvPr>
            <p:ph type="body" idx="1"/>
          </p:nvPr>
        </p:nvSpPr>
        <p:spPr>
          <a:xfrm>
            <a:off x="574040" y="1502156"/>
            <a:ext cx="8055609" cy="3754874"/>
          </a:xfrm>
        </p:spPr>
        <p:txBody>
          <a:bodyPr/>
          <a:lstStyle/>
          <a:p>
            <a:r>
              <a:rPr lang="en-IN" b="1" dirty="0"/>
              <a:t>Q13. Network-centric content requires the Future Internet to support increased quality in what areas?</a:t>
            </a:r>
            <a:endParaRPr lang="en-IN" dirty="0"/>
          </a:p>
          <a:p>
            <a:pPr marL="800100" lvl="1" indent="-342900">
              <a:buFont typeface="Arial" panose="020B0604020202020204" pitchFamily="34" charset="0"/>
              <a:buChar char="•"/>
            </a:pPr>
            <a:r>
              <a:rPr lang="en-IN" dirty="0"/>
              <a:t>Resolution, frame rate, and stereoscopic information.</a:t>
            </a:r>
          </a:p>
          <a:p>
            <a:pPr marL="800100" lvl="1" indent="-342900">
              <a:buFont typeface="Arial" panose="020B0604020202020204" pitchFamily="34" charset="0"/>
              <a:buChar char="•"/>
            </a:pPr>
            <a:r>
              <a:rPr lang="en-IN" dirty="0"/>
              <a:t>Text processing speed and email delivery.</a:t>
            </a:r>
          </a:p>
          <a:p>
            <a:pPr marL="800100" lvl="1" indent="-342900">
              <a:buFont typeface="Arial" panose="020B0604020202020204" pitchFamily="34" charset="0"/>
              <a:buChar char="•"/>
            </a:pPr>
            <a:r>
              <a:rPr lang="en-IN" dirty="0"/>
              <a:t>Physical hardware durability and battery life.</a:t>
            </a:r>
          </a:p>
          <a:p>
            <a:pPr marL="800100" lvl="1" indent="-342900">
              <a:buFont typeface="Arial" panose="020B0604020202020204" pitchFamily="34" charset="0"/>
              <a:buChar char="•"/>
            </a:pPr>
            <a:r>
              <a:rPr lang="en-IN" dirty="0"/>
              <a:t>The number of users who can use a single keyboard.</a:t>
            </a:r>
          </a:p>
          <a:p>
            <a:endParaRPr lang="en-US" dirty="0"/>
          </a:p>
          <a:p>
            <a:r>
              <a:rPr lang="en-IN" b="1" dirty="0"/>
              <a:t>Q14. What is the ethical risk of 'Indirect Surveillance' in the cloud?</a:t>
            </a:r>
            <a:endParaRPr lang="en-IN" dirty="0"/>
          </a:p>
          <a:p>
            <a:pPr marL="800100" lvl="1" indent="-342900">
              <a:buFont typeface="Arial" panose="020B0604020202020204" pitchFamily="34" charset="0"/>
              <a:buChar char="•"/>
            </a:pPr>
            <a:r>
              <a:rPr lang="en-IN" dirty="0"/>
              <a:t>Users can watch the provider's employees through webcams.</a:t>
            </a:r>
          </a:p>
          <a:p>
            <a:pPr marL="800100" lvl="1" indent="-342900">
              <a:buFont typeface="Arial" panose="020B0604020202020204" pitchFamily="34" charset="0"/>
              <a:buChar char="•"/>
            </a:pPr>
            <a:r>
              <a:rPr lang="en-IN" dirty="0"/>
              <a:t>Providers can monitor user activity without physical access to their building.</a:t>
            </a:r>
          </a:p>
          <a:p>
            <a:pPr marL="800100" lvl="1" indent="-342900">
              <a:buFont typeface="Arial" panose="020B0604020202020204" pitchFamily="34" charset="0"/>
              <a:buChar char="•"/>
            </a:pPr>
            <a:r>
              <a:rPr lang="en-IN" dirty="0"/>
              <a:t>It requires the user to install cameras in their office.</a:t>
            </a:r>
          </a:p>
          <a:p>
            <a:pPr marL="800100" lvl="1" indent="-342900">
              <a:buFont typeface="Arial" panose="020B0604020202020204" pitchFamily="34" charset="0"/>
              <a:buChar char="•"/>
            </a:pPr>
            <a:r>
              <a:rPr lang="en-IN" dirty="0"/>
              <a:t>It is only a risk if the user is using a public computer.</a:t>
            </a:r>
          </a:p>
          <a:p>
            <a:endParaRPr lang="en-US" dirty="0"/>
          </a:p>
        </p:txBody>
      </p:sp>
    </p:spTree>
    <p:extLst>
      <p:ext uri="{BB962C8B-B14F-4D97-AF65-F5344CB8AC3E}">
        <p14:creationId xmlns:p14="http://schemas.microsoft.com/office/powerpoint/2010/main" val="1226359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38C4-B4CB-1643-D06E-43C8E54DC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CF2FB-BB8D-BEF7-FB10-9C09EE645835}"/>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1B9E13F4-EE4C-C4E7-8C7A-E843F7C6B72A}"/>
              </a:ext>
            </a:extLst>
          </p:cNvPr>
          <p:cNvSpPr>
            <a:spLocks noGrp="1"/>
          </p:cNvSpPr>
          <p:nvPr>
            <p:ph type="body" idx="1"/>
          </p:nvPr>
        </p:nvSpPr>
        <p:spPr>
          <a:xfrm>
            <a:off x="574040" y="1502156"/>
            <a:ext cx="8055609" cy="3570208"/>
          </a:xfrm>
        </p:spPr>
        <p:txBody>
          <a:bodyPr/>
          <a:lstStyle/>
          <a:p>
            <a:r>
              <a:rPr lang="en-IN" b="1" dirty="0"/>
              <a:t>Q15. What is the main cause of the 'Noisy </a:t>
            </a:r>
            <a:r>
              <a:rPr lang="en-IN" b="1" dirty="0" err="1"/>
              <a:t>Neighbor</a:t>
            </a:r>
            <a:r>
              <a:rPr lang="en-IN" b="1" dirty="0"/>
              <a:t>' effect?</a:t>
            </a:r>
            <a:endParaRPr lang="en-IN" dirty="0"/>
          </a:p>
          <a:p>
            <a:pPr marL="800100" lvl="1" indent="-342900">
              <a:buFont typeface="Arial" panose="020B0604020202020204" pitchFamily="34" charset="0"/>
              <a:buChar char="•"/>
            </a:pPr>
            <a:r>
              <a:rPr lang="en-IN" dirty="0"/>
              <a:t>Physical noise from cooling fans in the server room.</a:t>
            </a:r>
          </a:p>
          <a:p>
            <a:pPr marL="800100" lvl="1" indent="-342900">
              <a:buFont typeface="Arial" panose="020B0604020202020204" pitchFamily="34" charset="0"/>
              <a:buChar char="•"/>
            </a:pPr>
            <a:r>
              <a:rPr lang="en-IN" dirty="0"/>
              <a:t>Resource contention in a multi-tenant environment.</a:t>
            </a:r>
          </a:p>
          <a:p>
            <a:pPr marL="800100" lvl="1" indent="-342900">
              <a:buFont typeface="Arial" panose="020B0604020202020204" pitchFamily="34" charset="0"/>
              <a:buChar char="•"/>
            </a:pPr>
            <a:r>
              <a:rPr lang="en-IN" dirty="0"/>
              <a:t>Loud employees working in a shared office space.</a:t>
            </a:r>
          </a:p>
          <a:p>
            <a:pPr marL="800100" lvl="1" indent="-342900">
              <a:buFont typeface="Arial" panose="020B0604020202020204" pitchFamily="34" charset="0"/>
              <a:buChar char="•"/>
            </a:pPr>
            <a:r>
              <a:rPr lang="en-IN" dirty="0"/>
              <a:t>Interference from radio waves outside the data </a:t>
            </a:r>
            <a:r>
              <a:rPr lang="en-IN" dirty="0" err="1"/>
              <a:t>center</a:t>
            </a:r>
            <a:r>
              <a:rPr lang="en-IN" dirty="0"/>
              <a:t>.</a:t>
            </a:r>
          </a:p>
          <a:p>
            <a:endParaRPr lang="en-US" dirty="0"/>
          </a:p>
          <a:p>
            <a:r>
              <a:rPr lang="en-IN" b="1" dirty="0"/>
              <a:t>Q16. According to the text, what do Cloud SLAs generally limit?</a:t>
            </a:r>
            <a:endParaRPr lang="en-IN" dirty="0"/>
          </a:p>
          <a:p>
            <a:pPr marL="800100" lvl="1" indent="-342900">
              <a:buFont typeface="Arial" panose="020B0604020202020204" pitchFamily="34" charset="0"/>
              <a:buChar char="•"/>
            </a:pPr>
            <a:r>
              <a:rPr lang="en-IN" dirty="0"/>
              <a:t>The number of users who can log in.</a:t>
            </a:r>
          </a:p>
          <a:p>
            <a:pPr marL="800100" lvl="1" indent="-342900">
              <a:buFont typeface="Arial" panose="020B0604020202020204" pitchFamily="34" charset="0"/>
              <a:buChar char="•"/>
            </a:pPr>
            <a:r>
              <a:rPr lang="en-IN" dirty="0"/>
              <a:t>The provider's financial liability in case of service failure.</a:t>
            </a:r>
          </a:p>
          <a:p>
            <a:pPr marL="800100" lvl="1" indent="-342900">
              <a:buFont typeface="Arial" panose="020B0604020202020204" pitchFamily="34" charset="0"/>
              <a:buChar char="•"/>
            </a:pPr>
            <a:r>
              <a:rPr lang="en-IN" dirty="0"/>
              <a:t>The type of data a user can store.</a:t>
            </a:r>
          </a:p>
          <a:p>
            <a:pPr marL="800100" lvl="1" indent="-342900">
              <a:buFont typeface="Arial" panose="020B0604020202020204" pitchFamily="34" charset="0"/>
              <a:buChar char="•"/>
            </a:pPr>
            <a:r>
              <a:rPr lang="en-IN" dirty="0"/>
              <a:t>The speed of the user's local internet connection.</a:t>
            </a:r>
          </a:p>
          <a:p>
            <a:endParaRPr lang="en-US" dirty="0"/>
          </a:p>
        </p:txBody>
      </p:sp>
    </p:spTree>
    <p:extLst>
      <p:ext uri="{BB962C8B-B14F-4D97-AF65-F5344CB8AC3E}">
        <p14:creationId xmlns:p14="http://schemas.microsoft.com/office/powerpoint/2010/main" val="11166999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B536-08E8-C0FC-233F-1DC48F210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91943-AAFD-56A1-02FF-AEF40D253BDE}"/>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C9D3137B-1DEA-CF34-432A-3199FB44568F}"/>
              </a:ext>
            </a:extLst>
          </p:cNvPr>
          <p:cNvSpPr>
            <a:spLocks noGrp="1"/>
          </p:cNvSpPr>
          <p:nvPr>
            <p:ph type="body" idx="1"/>
          </p:nvPr>
        </p:nvSpPr>
        <p:spPr>
          <a:xfrm>
            <a:off x="574040" y="1502156"/>
            <a:ext cx="8055609" cy="3877985"/>
          </a:xfrm>
        </p:spPr>
        <p:txBody>
          <a:bodyPr/>
          <a:lstStyle/>
          <a:p>
            <a:r>
              <a:rPr lang="en-IN" b="1" dirty="0"/>
              <a:t>Q17. What does 'Internal/Proprietary' (I/P) mean in the Cloud Cube Model?</a:t>
            </a:r>
            <a:endParaRPr lang="en-IN" dirty="0"/>
          </a:p>
          <a:p>
            <a:pPr marL="800100" lvl="1" indent="-342900">
              <a:buFont typeface="Arial" panose="020B0604020202020204" pitchFamily="34" charset="0"/>
              <a:buChar char="•"/>
            </a:pPr>
            <a:r>
              <a:rPr lang="en-IN" dirty="0"/>
              <a:t>Data is external and uses open-source software.</a:t>
            </a:r>
          </a:p>
          <a:p>
            <a:pPr marL="800100" lvl="1" indent="-342900">
              <a:buFont typeface="Arial" panose="020B0604020202020204" pitchFamily="34" charset="0"/>
              <a:buChar char="•"/>
            </a:pPr>
            <a:r>
              <a:rPr lang="en-IN" dirty="0"/>
              <a:t>Data is inside the organization and uses a unique, non-standard stack.</a:t>
            </a:r>
          </a:p>
          <a:p>
            <a:pPr marL="800100" lvl="1" indent="-342900">
              <a:buFont typeface="Arial" panose="020B0604020202020204" pitchFamily="34" charset="0"/>
              <a:buChar char="•"/>
            </a:pPr>
            <a:r>
              <a:rPr lang="en-IN" dirty="0"/>
              <a:t>Data is public and accessible by everyone.</a:t>
            </a:r>
          </a:p>
          <a:p>
            <a:pPr marL="800100" lvl="1" indent="-342900">
              <a:buFont typeface="Arial" panose="020B0604020202020204" pitchFamily="34" charset="0"/>
              <a:buChar char="•"/>
            </a:pPr>
            <a:r>
              <a:rPr lang="en-IN" dirty="0"/>
              <a:t>Data is stored on a mobile device only.</a:t>
            </a:r>
          </a:p>
          <a:p>
            <a:endParaRPr lang="en-US" dirty="0"/>
          </a:p>
          <a:p>
            <a:r>
              <a:rPr lang="en-IN" b="1" dirty="0"/>
              <a:t>Q18. Utility Computing focuses primarily on what?</a:t>
            </a:r>
            <a:endParaRPr lang="en-IN" dirty="0"/>
          </a:p>
          <a:p>
            <a:pPr marL="800100" lvl="1" indent="-342900">
              <a:buFont typeface="Arial" panose="020B0604020202020204" pitchFamily="34" charset="0"/>
              <a:buChar char="•"/>
            </a:pPr>
            <a:r>
              <a:rPr lang="en-IN" dirty="0"/>
              <a:t>Improving CPU clock speeds.</a:t>
            </a:r>
          </a:p>
          <a:p>
            <a:pPr marL="800100" lvl="1" indent="-342900">
              <a:buFont typeface="Arial" panose="020B0604020202020204" pitchFamily="34" charset="0"/>
              <a:buChar char="•"/>
            </a:pPr>
            <a:r>
              <a:rPr lang="en-IN" dirty="0"/>
              <a:t>The business model for providing computing services.</a:t>
            </a:r>
          </a:p>
          <a:p>
            <a:pPr marL="800100" lvl="1" indent="-342900">
              <a:buFont typeface="Arial" panose="020B0604020202020204" pitchFamily="34" charset="0"/>
              <a:buChar char="•"/>
            </a:pPr>
            <a:r>
              <a:rPr lang="en-IN" dirty="0"/>
              <a:t>Creating better graphics for video games.</a:t>
            </a:r>
          </a:p>
          <a:p>
            <a:pPr marL="800100" lvl="1" indent="-342900">
              <a:buFont typeface="Arial" panose="020B0604020202020204" pitchFamily="34" charset="0"/>
              <a:buChar char="•"/>
            </a:pPr>
            <a:r>
              <a:rPr lang="en-IN" dirty="0"/>
              <a:t>Building private </a:t>
            </a:r>
            <a:r>
              <a:rPr lang="en-IN" dirty="0" err="1"/>
              <a:t>fiber</a:t>
            </a:r>
            <a:r>
              <a:rPr lang="en-IN" dirty="0"/>
              <a:t>-optic networks for schools.</a:t>
            </a:r>
          </a:p>
          <a:p>
            <a:endParaRPr lang="en-US" dirty="0"/>
          </a:p>
        </p:txBody>
      </p:sp>
    </p:spTree>
    <p:extLst>
      <p:ext uri="{BB962C8B-B14F-4D97-AF65-F5344CB8AC3E}">
        <p14:creationId xmlns:p14="http://schemas.microsoft.com/office/powerpoint/2010/main" val="3023571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78F35-164B-F0C6-0659-8611545A3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DD6CA-CEEF-5958-118D-5938FDF5A584}"/>
              </a:ext>
            </a:extLst>
          </p:cNvPr>
          <p:cNvSpPr>
            <a:spLocks noGrp="1"/>
          </p:cNvSpPr>
          <p:nvPr>
            <p:ph type="title"/>
          </p:nvPr>
        </p:nvSpPr>
        <p:spPr>
          <a:xfrm>
            <a:off x="535940" y="621868"/>
            <a:ext cx="8072119" cy="492443"/>
          </a:xfrm>
        </p:spPr>
        <p:txBody>
          <a:bodyPr/>
          <a:lstStyle/>
          <a:p>
            <a:r>
              <a:rPr lang="en-US" dirty="0"/>
              <a:t>quiz</a:t>
            </a:r>
          </a:p>
        </p:txBody>
      </p:sp>
      <p:sp>
        <p:nvSpPr>
          <p:cNvPr id="3" name="Text Placeholder 2">
            <a:extLst>
              <a:ext uri="{FF2B5EF4-FFF2-40B4-BE49-F238E27FC236}">
                <a16:creationId xmlns:a16="http://schemas.microsoft.com/office/drawing/2014/main" id="{0A6F5FF8-5BDD-494D-827B-54F90CBD7A70}"/>
              </a:ext>
            </a:extLst>
          </p:cNvPr>
          <p:cNvSpPr>
            <a:spLocks noGrp="1"/>
          </p:cNvSpPr>
          <p:nvPr>
            <p:ph type="body" idx="1"/>
          </p:nvPr>
        </p:nvSpPr>
        <p:spPr>
          <a:xfrm>
            <a:off x="574040" y="1502156"/>
            <a:ext cx="8055609" cy="3447098"/>
          </a:xfrm>
        </p:spPr>
        <p:txBody>
          <a:bodyPr/>
          <a:lstStyle/>
          <a:p>
            <a:r>
              <a:rPr lang="en-IN" b="1" dirty="0"/>
              <a:t>Q19. What is the risk of an 'External' (E) physical location?</a:t>
            </a:r>
            <a:endParaRPr lang="en-IN" dirty="0"/>
          </a:p>
          <a:p>
            <a:pPr marL="800100" lvl="1" indent="-342900">
              <a:buFont typeface="Arial" panose="020B0604020202020204" pitchFamily="34" charset="0"/>
              <a:buChar char="•"/>
            </a:pPr>
            <a:r>
              <a:rPr lang="en-IN" dirty="0"/>
              <a:t>The user loses physical 'custody' of the data.</a:t>
            </a:r>
          </a:p>
          <a:p>
            <a:pPr marL="800100" lvl="1" indent="-342900">
              <a:buFont typeface="Arial" panose="020B0604020202020204" pitchFamily="34" charset="0"/>
              <a:buChar char="•"/>
            </a:pPr>
            <a:r>
              <a:rPr lang="en-IN" dirty="0"/>
              <a:t>The data becomes 100% unencrypted.</a:t>
            </a:r>
          </a:p>
          <a:p>
            <a:pPr marL="800100" lvl="1" indent="-342900">
              <a:buFont typeface="Arial" panose="020B0604020202020204" pitchFamily="34" charset="0"/>
              <a:buChar char="•"/>
            </a:pPr>
            <a:r>
              <a:rPr lang="en-IN" dirty="0"/>
              <a:t>The data cannot be accessed from a mobile phone.</a:t>
            </a:r>
          </a:p>
          <a:p>
            <a:pPr marL="800100" lvl="1" indent="-342900">
              <a:buFont typeface="Arial" panose="020B0604020202020204" pitchFamily="34" charset="0"/>
              <a:buChar char="•"/>
            </a:pPr>
            <a:r>
              <a:rPr lang="en-IN" dirty="0"/>
              <a:t>The servers are more likely to be stolen by employees.</a:t>
            </a:r>
          </a:p>
          <a:p>
            <a:endParaRPr lang="en-US" dirty="0"/>
          </a:p>
          <a:p>
            <a:r>
              <a:rPr lang="en-IN" b="1" dirty="0"/>
              <a:t>Q20. What is the ethical risk of 'Indirect Surveillance' in the cloud?</a:t>
            </a:r>
            <a:endParaRPr lang="en-IN" dirty="0"/>
          </a:p>
          <a:p>
            <a:pPr marL="800100" lvl="1" indent="-342900">
              <a:buFont typeface="Arial" panose="020B0604020202020204" pitchFamily="34" charset="0"/>
              <a:buChar char="•"/>
            </a:pPr>
            <a:r>
              <a:rPr lang="en-IN" dirty="0"/>
              <a:t>Users can watch the provider's employees through webcams.</a:t>
            </a:r>
          </a:p>
          <a:p>
            <a:pPr marL="800100" lvl="1" indent="-342900">
              <a:buFont typeface="Arial" panose="020B0604020202020204" pitchFamily="34" charset="0"/>
              <a:buChar char="•"/>
            </a:pPr>
            <a:r>
              <a:rPr lang="en-IN" dirty="0"/>
              <a:t>Providers can monitor user activity without physical access to their building.</a:t>
            </a:r>
          </a:p>
          <a:p>
            <a:pPr marL="800100" lvl="1" indent="-342900">
              <a:buFont typeface="Arial" panose="020B0604020202020204" pitchFamily="34" charset="0"/>
              <a:buChar char="•"/>
            </a:pPr>
            <a:r>
              <a:rPr lang="en-IN" dirty="0"/>
              <a:t>It requires the user to install cameras in their office.</a:t>
            </a:r>
          </a:p>
          <a:p>
            <a:pPr marL="800100" lvl="1" indent="-342900">
              <a:buFont typeface="Arial" panose="020B0604020202020204" pitchFamily="34" charset="0"/>
              <a:buChar char="•"/>
            </a:pPr>
            <a:r>
              <a:rPr lang="en-IN" dirty="0"/>
              <a:t>It is only a risk if the user is using a public computer.</a:t>
            </a:r>
          </a:p>
          <a:p>
            <a:endParaRPr lang="en-US" dirty="0"/>
          </a:p>
        </p:txBody>
      </p:sp>
    </p:spTree>
    <p:extLst>
      <p:ext uri="{BB962C8B-B14F-4D97-AF65-F5344CB8AC3E}">
        <p14:creationId xmlns:p14="http://schemas.microsoft.com/office/powerpoint/2010/main" val="1392409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emplate/>
  <TotalTime>1805</TotalTime>
  <Words>4209</Words>
  <Application>Microsoft Macintosh PowerPoint</Application>
  <PresentationFormat>On-screen Show (4:3)</PresentationFormat>
  <Paragraphs>548</Paragraphs>
  <Slides>51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Aptos</vt:lpstr>
      <vt:lpstr>Arial</vt:lpstr>
      <vt:lpstr>Arial Black</vt:lpstr>
      <vt:lpstr>Calibri</vt:lpstr>
      <vt:lpstr>Times New Roman</vt:lpstr>
      <vt:lpstr>Wingdings</vt:lpstr>
      <vt:lpstr>Office Theme</vt:lpstr>
      <vt:lpstr>Chapter 1 – Introduction</vt:lpstr>
      <vt:lpstr>Contents</vt:lpstr>
      <vt:lpstr>Network-centric computing</vt:lpstr>
      <vt:lpstr>Network-centric content</vt:lpstr>
      <vt:lpstr>Network-centric computing and content</vt:lpstr>
      <vt:lpstr>Evolution of concepts and technologies</vt:lpstr>
      <vt:lpstr>Cloud computing</vt:lpstr>
      <vt:lpstr>Cloud computing (cont’d)</vt:lpstr>
      <vt:lpstr>Types of clouds</vt:lpstr>
      <vt:lpstr>Types of clouds</vt:lpstr>
      <vt:lpstr>Types of clouds</vt:lpstr>
      <vt:lpstr>Types of clouds</vt:lpstr>
      <vt:lpstr>Types of clouds</vt:lpstr>
      <vt:lpstr>The “good” about cloud computing</vt:lpstr>
      <vt:lpstr>More “good” about cloud computing</vt:lpstr>
      <vt:lpstr>Challenges for cloud computing</vt:lpstr>
      <vt:lpstr>More challenges</vt:lpstr>
      <vt:lpstr>PowerPoint Presentation</vt:lpstr>
      <vt:lpstr>Cloud delivery models</vt:lpstr>
      <vt:lpstr>Software-as-a-Service (SaaS)</vt:lpstr>
      <vt:lpstr>Platform-as-a-Service (PaaS)</vt:lpstr>
      <vt:lpstr>Infrastructure-as-a-Service (IaaS)</vt:lpstr>
      <vt:lpstr>PowerPoint Presentation</vt:lpstr>
      <vt:lpstr>PowerPoint Presentation</vt:lpstr>
      <vt:lpstr>NIST cloud reference model</vt:lpstr>
      <vt:lpstr>The Cloud Cube Model</vt:lpstr>
      <vt:lpstr>The Cloud Cube Model</vt:lpstr>
      <vt:lpstr>The Cloud Cube Model</vt:lpstr>
      <vt:lpstr>The Cloud Cube Model</vt:lpstr>
      <vt:lpstr>The Cloud Cube Model</vt:lpstr>
      <vt:lpstr>The Cloud Cube Model</vt:lpstr>
      <vt:lpstr>Ethical issues</vt:lpstr>
      <vt:lpstr>Privacy issues</vt:lpstr>
      <vt:lpstr>Privacy issues</vt:lpstr>
      <vt:lpstr>Cloud vulnerabilities</vt:lpstr>
      <vt:lpstr>Benefits of Cloud Computing</vt:lpstr>
      <vt:lpstr>Benefits of Cloud Computing</vt:lpstr>
      <vt:lpstr>Disadvantages of Cloud Computing</vt:lpstr>
      <vt:lpstr>Disadvantages of Cloud Computing</vt:lpstr>
      <vt:lpstr>quiz</vt:lpstr>
      <vt:lpstr>quiz</vt:lpstr>
      <vt:lpstr>quiz</vt:lpstr>
      <vt:lpstr>quiz</vt:lpstr>
      <vt:lpstr>quiz</vt:lpstr>
      <vt:lpstr>quiz</vt:lpstr>
      <vt:lpstr>quiz</vt:lpstr>
      <vt:lpstr>quiz</vt:lpstr>
      <vt:lpstr>quiz</vt:lpstr>
      <vt:lpstr>quiz</vt:lpstr>
      <vt:lpstr>quiz</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dc:title>
  <dc:creator>Lucent End User</dc:creator>
  <cp:lastModifiedBy>Chethan Krishna (chethakr)</cp:lastModifiedBy>
  <cp:revision>6</cp:revision>
  <dcterms:created xsi:type="dcterms:W3CDTF">2026-02-19T11:36:58Z</dcterms:created>
  <dcterms:modified xsi:type="dcterms:W3CDTF">2026-03-12T01:00:38Z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2013-04-18T00:00:00Z</vt:filetime>
  </property>
  <property fmtid="{D5CDD505-2E9C-101B-9397-08002B2CF9AE}" pid="3" name="Creator">
    <vt:lpwstr>Microsoft® PowerPoint® 2010</vt:lpwstr>
  </property>
  <property fmtid="{D5CDD505-2E9C-101B-9397-08002B2CF9AE}" pid="4" name="LastSaved">
    <vt:filetime>2026-02-19T00:00:00Z</vt:filetime>
  </property>
  <property fmtid="{D5CDD505-2E9C-101B-9397-08002B2CF9AE}" pid="5" name="Producer">
    <vt:lpwstr>3-Heights(TM) PDF Security Shell 4.8.25.2 (http://www.pdf-tools.com)</vt:lpwstr>
  </property>
  <property fmtid="{D5CDD505-2E9C-101B-9397-08002B2CF9AE}" pid="6" name="ClassificationContentMarkingFooterLocations">
    <vt:lpwstr>Office Theme:8</vt:lpwstr>
  </property>
  <property fmtid="{D5CDD505-2E9C-101B-9397-08002B2CF9AE}" pid="7" name="ClassificationContentMarkingFooterText">
    <vt:lpwstr>Cisco Confidential</vt:lpwstr>
  </property>
</Properties>
</file>